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822960"/>
            <a:ext cx="9966960" cy="521208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/>
          <a:lstStyle/>
          <a:p>
            <a:pPr algn="ctr">
              <a:defRPr sz="1300" b="1">
                <a:solidFill>
                  <a:srgbClr val="22D3EE"/>
                </a:solidFill>
              </a:defRPr>
            </a:pPr>
            <a:r>
              <a:t>SMART INDIA HACKATHON 2026 — OFFICIAL NOMINATION</a:t>
            </a:r>
          </a:p>
          <a:p>
            <a:pPr>
              <a:spcAft>
                <a:spcPts val="600"/>
              </a:spcAft>
              <a:defRPr sz="3800" b="1">
                <a:solidFill>
                  <a:srgbClr val="F1F5F9"/>
                </a:solidFill>
              </a:defRPr>
            </a:pPr>
            <a:r>
              <a:t>AURA SENTINEL</a:t>
            </a:r>
          </a:p>
          <a:p>
            <a:pPr>
              <a:spcAft>
                <a:spcPts val="1400"/>
              </a:spcAft>
              <a:defRPr sz="1600" b="1">
                <a:solidFill>
                  <a:srgbClr val="34D399"/>
                </a:solidFill>
              </a:defRPr>
            </a:pPr>
            <a:r>
              <a:t>AI-Powered Continuous Cyber Risk Quantification &amp; Investment Optimization Platform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Team Name &amp; ID: </a:t>
            </a:r>
            <a:r>
              <a:rPr b="0">
                <a:solidFill>
                  <a:srgbClr val="F1F5F9"/>
                </a:solidFill>
              </a:rPr>
              <a:t>ByteForce_1 (Official SIH Team ID: 180219)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College / Institute: </a:t>
            </a:r>
            <a:r>
              <a:rPr b="0">
                <a:solidFill>
                  <a:srgbClr val="F1F5F9"/>
                </a:solidFill>
              </a:rPr>
              <a:t>Skyline Institute of Engineering and Technology, Greater Noida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Team Members: </a:t>
            </a:r>
            <a:r>
              <a:rPr b="0">
                <a:solidFill>
                  <a:srgbClr val="F1F5F9"/>
                </a:solidFill>
              </a:rPr>
              <a:t>Aryan Baghel (Lead), Kirti, Hitesh Chauhan, Avinav Jha, Sharim Khan, Aman Sekh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Problem Statement ID: </a:t>
            </a:r>
            <a:r>
              <a:rPr b="0">
                <a:solidFill>
                  <a:srgbClr val="F1F5F9"/>
                </a:solidFill>
              </a:rPr>
              <a:t>SIH26105 | Ministry of Education Innovation Cell (MIC) &amp; AICTE Cyber Security Cell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Theme &amp; Category: </a:t>
            </a:r>
            <a:r>
              <a:rPr b="0">
                <a:solidFill>
                  <a:srgbClr val="F1F5F9"/>
                </a:solidFill>
              </a:rPr>
              <a:t>Blockchain &amp; Cybersecurity (Software Solution)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Core Mission: </a:t>
            </a:r>
            <a:r>
              <a:rPr b="0">
                <a:solidFill>
                  <a:srgbClr val="F1F5F9"/>
                </a:solidFill>
              </a:rPr>
              <a:t>Correlating technical security telemetry with business asset value to provide continuous financial exposure estimates and budget-constrained defense optimization.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02 | The Problem: The Disconnect in Cyber Risk Communication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F87171"/>
                </a:solidFill>
              </a:defRPr>
            </a:pPr>
            <a:r>
              <a:t>CURRENT INDUSTRY LIMITATIONS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❌ Qualitative Risk Ratings: </a:t>
            </a:r>
            <a:r>
              <a:rPr b="0">
                <a:solidFill>
                  <a:srgbClr val="94A3B8"/>
                </a:solidFill>
              </a:rPr>
              <a:t>Vulnerability scanners produce labels like 'High', 'Medium', 'Low' which fail to convey actual monetary liability to leadership.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❌ Stale Risk Registers: </a:t>
            </a:r>
            <a:r>
              <a:rPr b="0">
                <a:solidFill>
                  <a:srgbClr val="94A3B8"/>
                </a:solidFill>
              </a:rPr>
              <a:t>Traditional compliance relies on annual or quarterly manual audits, missing dynamic threat evolution and emerging vulnerabilities.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❌ Suboptimal Budget Allocation: </a:t>
            </a:r>
            <a:r>
              <a:rPr b="0">
                <a:solidFill>
                  <a:srgbClr val="94A3B8"/>
                </a:solidFill>
              </a:rPr>
              <a:t>Organizations invest in security controls without quantifiable Return on Security Investment (ROSI) metrics.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❌ Log Vulnerability: </a:t>
            </a:r>
            <a:r>
              <a:rPr b="0">
                <a:solidFill>
                  <a:srgbClr val="94A3B8"/>
                </a:solidFill>
              </a:rPr>
              <a:t>Centralized audit logs in traditional databases remain susceptible to internal modification during a breach investigation.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34D399"/>
                </a:solidFill>
              </a:defRPr>
            </a:pPr>
            <a:r>
              <a:t>THE AURA SENTINEL APPROACH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Monetary Cyber Risk Translation: </a:t>
            </a:r>
            <a:r>
              <a:rPr b="0">
                <a:solidFill>
                  <a:srgbClr val="94A3B8"/>
                </a:solidFill>
              </a:rPr>
              <a:t>Translates real-time socket exposures, process states, and compute telemetry into prototype Expected Annual Loss (EAL) in ₹ INR.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Continuous Telemetry Correlation: </a:t>
            </a:r>
            <a:r>
              <a:rPr b="0">
                <a:solidFill>
                  <a:srgbClr val="94A3B8"/>
                </a:solidFill>
              </a:rPr>
              <a:t>Continuously ingests local host metrics and open attack surfaces rather than relying on static questionnaires.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Budget-Constrained Optimization: </a:t>
            </a:r>
            <a:r>
              <a:rPr b="0">
                <a:solidFill>
                  <a:srgbClr val="94A3B8"/>
                </a:solidFill>
              </a:rPr>
              <a:t>Evaluates candidate defense controls under an explicit institutional budget to maximize risk reduction.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Tamper-Evident Audit Ledger: </a:t>
            </a:r>
            <a:r>
              <a:rPr b="0">
                <a:solidFill>
                  <a:srgbClr val="94A3B8"/>
                </a:solidFill>
              </a:rPr>
              <a:t>Anchors risk evaluations and mitigation actions in a SHA-256 Merkle blockchain to provide cryptographic audit verification.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03 | Core System Workflow: Technical Signals to Executive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22D3EE"/>
                </a:solidFill>
              </a:defRPr>
            </a:pPr>
            <a:r>
              <a:t>1. Technical Telemetry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Host metrics, listening sockets, CPU/RAM stress, and sensitive file exposures.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6304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22D3EE"/>
                </a:solidFill>
              </a:defRPr>
            </a:pPr>
            <a:r>
              <a:t>2. Continuous Analysis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Correlates exposure counts with system vulnerability factors and threat indicators.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46304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34D399"/>
                </a:solidFill>
              </a:defRPr>
            </a:pPr>
            <a:r>
              <a:t>3. Prototype Exposure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Computes hourly operational downtime costs and prototype Expected Annual Loss (₹).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34D399"/>
                </a:solidFill>
              </a:defRPr>
            </a:pPr>
            <a:r>
              <a:t>4. What-If Scenarios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Simulates threat scenarios and hypothetical control parameter tuning.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93192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FBBF24"/>
                </a:solidFill>
              </a:defRPr>
            </a:pPr>
            <a:r>
              <a:t>5. Knapsack Optimizer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Selects optimal defense packages under explicit budget constraints to maximize ROSI.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93192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FBBF24"/>
                </a:solidFill>
              </a:defRPr>
            </a:pPr>
            <a:r>
              <a:t>6. Cryptographic Audit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Records assessments and mitigations into a tamper-evident SHA-256 Merkle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04 | Technical Architecture &amp; Implementation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22D3EE"/>
                </a:solidFill>
              </a:defRPr>
            </a:pPr>
            <a:r>
              <a:t>LAYER 1: PRESENTATION &amp; SOC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React 19 + Vite SOC Dashboard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Live Threat Telemetry &amp; Port Monitor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Global Command Palette (Ctrl+K)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Executive Audit Report Generator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Client Biometric Face Verification</a:t>
            </a:r>
            <a:br/>
            <a:r>
              <a:rPr sz="900">
                <a:solidFill>
                  <a:srgbClr val="FBBF24"/>
                </a:solidFill>
              </a:rPr>
              <a:t>Status: ◐ PROTOTYPE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Procedural Cyber Audio Cues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34D399"/>
                </a:solidFill>
              </a:defRPr>
            </a:pPr>
            <a:r>
              <a:t>LAYER 2: COMPUTATIONAL CORE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FastAPI Async Kernel (Uvicorn)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Attack Surface Port Inspector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Sensitive Credential Scanner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File Isolation Quarantine Vault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Prototype Financial Exposure (EAL)</a:t>
            </a:r>
            <a:br/>
            <a:r>
              <a:rPr sz="900">
                <a:solidFill>
                  <a:srgbClr val="FBBF24"/>
                </a:solidFill>
              </a:rPr>
              <a:t>Status: ◐ PROTOTYPE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Knapsack Investment Optimizer</a:t>
            </a:r>
            <a:br/>
            <a:r>
              <a:rPr sz="900">
                <a:solidFill>
                  <a:srgbClr val="FBBF24"/>
                </a:solidFill>
              </a:rPr>
              <a:t>Status: ◐ PROTOTYPE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What-If Scenario Simulation Engine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FBBF24"/>
                </a:solidFill>
              </a:defRPr>
            </a:pPr>
            <a:r>
              <a:t>LAYER 3: TRUST &amp; INTERACTION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SHA-256 Merkle Risk Ledger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Proof-of-Work Mining Engine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Tamper Detection &amp; Verification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SQLite 3 WAL Mode Storage Hub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YOLOv8 Operator Presence Lock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MediaPipe Touchless Gesture Control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Value at Risk (Monte Carlo VaR)</a:t>
            </a:r>
            <a:br/>
            <a:r>
              <a:rPr sz="900">
                <a:solidFill>
                  <a:srgbClr val="22D3EE"/>
                </a:solidFill>
              </a:rPr>
              <a:t>Status: ○ FUTURE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05 | Attack Surface Telemetry &amp; Risk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HOST TELEMETRY INGESTION (IMPLEMENTED)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Active Socket Inspection: </a:t>
            </a:r>
            <a:r>
              <a:rPr b="0">
                <a:solidFill>
                  <a:srgbClr val="94A3B8"/>
                </a:solidFill>
              </a:rPr>
              <a:t>Queries network socket table via psutil, isolating listening ports and tracking bound IP interfaces.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Port Threat Categorization: </a:t>
            </a:r>
            <a:r>
              <a:rPr b="0">
                <a:solidFill>
                  <a:srgbClr val="94A3B8"/>
                </a:solidFill>
              </a:rPr>
              <a:t>Heuristically maps sensitive ports (e.g. 22 SSH, 3389 RDP, 445 SMB) vs standard application ports.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Resource Stress Telemetry: </a:t>
            </a:r>
            <a:r>
              <a:rPr b="0">
                <a:solidFill>
                  <a:srgbClr val="94A3B8"/>
                </a:solidFill>
              </a:rPr>
              <a:t>Monitors CPU percent, virtual memory usage, and disk saturation as stability and availability factors.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Active Port Remediation: </a:t>
            </a:r>
            <a:r>
              <a:rPr b="0">
                <a:solidFill>
                  <a:srgbClr val="94A3B8"/>
                </a:solidFill>
              </a:rPr>
              <a:t>Includes prototype capability to terminate rogue listening processes or suppress non-critical noise.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WEIGHTED RISK SCORING MODEL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Technical Risk Score = f(Open Ports, CPU, RAM, Disk)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Port Exposure Factor: </a:t>
            </a:r>
            <a:r>
              <a:rPr b="0">
                <a:solidFill>
                  <a:srgbClr val="94A3B8"/>
                </a:solidFill>
              </a:rPr>
              <a:t>Up to 30 points based on listening socket count (&gt;15 ports = +30, &gt;8 ports = +20, &gt;3 ports = +10).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Compute Stress Factor: </a:t>
            </a:r>
            <a:r>
              <a:rPr b="0">
                <a:solidFill>
                  <a:srgbClr val="94A3B8"/>
                </a:solidFill>
              </a:rPr>
              <a:t>Up to 25 points for sustained CPU utilization (&gt;90% = +25, &gt;75% = +15).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Memory Exhaustion Factor: </a:t>
            </a:r>
            <a:r>
              <a:rPr b="0">
                <a:solidFill>
                  <a:srgbClr val="94A3B8"/>
                </a:solidFill>
              </a:rPr>
              <a:t>Up to 25 points for virtual memory saturation (&gt;90% = +25, &gt;80% = +15).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Storage Saturation Factor: </a:t>
            </a:r>
            <a:r>
              <a:rPr b="0">
                <a:solidFill>
                  <a:srgbClr val="94A3B8"/>
                </a:solidFill>
              </a:rPr>
              <a:t>Up to 20 points for critical disk capacity (&gt;95% = +20, &gt;85% = +12).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Threshold Normalization: </a:t>
            </a:r>
            <a:r>
              <a:rPr b="0">
                <a:solidFill>
                  <a:srgbClr val="94A3B8"/>
                </a:solidFill>
              </a:rPr>
              <a:t>Clamped to 0–100 scale, categorizing system state into LOW, MODERATE, or HIGH risk.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06 | Prototype Financial Risk &amp; Exposure Modeling (FAIR Grounded)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PROTOTYPE FORMULATION IN ₹ INR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Base Operational Loss Rate: </a:t>
            </a:r>
            <a:r>
              <a:rPr b="0">
                <a:solidFill>
                  <a:srgbClr val="94A3B8"/>
                </a:solidFill>
              </a:rPr>
              <a:t>Calibrated at ₹15,000/hr as an illustrative enterprise baseline rate.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Risk-Adjusted Hourly Loss: </a:t>
            </a:r>
            <a:r>
              <a:rPr b="0">
                <a:solidFill>
                  <a:srgbClr val="94A3B8"/>
                </a:solidFill>
              </a:rPr>
              <a:t>Hourly Loss = ₹15,000 × (1.0 + Technical_Risk_Score / 100).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Estimated Downtime Duration: </a:t>
            </a:r>
            <a:r>
              <a:rPr b="0">
                <a:solidFill>
                  <a:srgbClr val="94A3B8"/>
                </a:solidFill>
              </a:rPr>
              <a:t>Dynamic mapping based on severity: HIGH = 8 hrs, MODERATE = 4 hrs, LOW = 1 hr.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Incident Direct Cost: </a:t>
            </a:r>
            <a:r>
              <a:rPr b="0">
                <a:solidFill>
                  <a:srgbClr val="94A3B8"/>
                </a:solidFill>
              </a:rPr>
              <a:t>Direct Cost = Risk-Adjusted Hourly Loss × Downtime Hours.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Recovery Overhead: </a:t>
            </a:r>
            <a:r>
              <a:rPr b="0">
                <a:solidFill>
                  <a:srgbClr val="94A3B8"/>
                </a:solidFill>
              </a:rPr>
              <a:t>Recovery Cost = Direct Cost × 0.35 (forensics &amp; incident cleanup).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Total Estimated Exposure: </a:t>
            </a:r>
            <a:r>
              <a:rPr b="0">
                <a:solidFill>
                  <a:srgbClr val="94A3B8"/>
                </a:solidFill>
              </a:rPr>
              <a:t>Total = Direct Incident Cost + Recovery Overhead + Asset Impact Factor.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FAIR ALIGNMENT &amp; FUTURE MODELING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Factor Analysis of Information Risk (FAIR):</a:t>
            </a:r>
            <a:br/>
            <a:r>
              <a:rPr b="0">
                <a:solidFill>
                  <a:srgbClr val="94A3B8"/>
                </a:solidFill>
              </a:rPr>
              <a:t>The Open FAIR framework standardizes decomposing risk into Threat Event Frequency (TEF) and Loss Magnitude (LM).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Prototype Implementation Status:</a:t>
            </a:r>
            <a:br/>
            <a:r>
              <a:rPr b="0">
                <a:solidFill>
                  <a:srgbClr val="94A3B8"/>
                </a:solidFill>
              </a:rPr>
              <a:t>◐ PROTOTYPE — Uses deterministic actuarial equations based on live host signals and user-supplied asset valuations.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Value at Risk (VaR) Distinction:</a:t>
            </a:r>
            <a:br/>
            <a:r>
              <a:rPr b="0">
                <a:solidFill>
                  <a:srgbClr val="94A3B8"/>
                </a:solidFill>
              </a:rPr>
              <a:t>○ FUTURE ENHANCEMENT — Monte Carlo probabilistic VaR distribution (e.g. 95% annual confidence) is scoped for future cloud telemetry integration.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Defensible Evaluator Positioning:</a:t>
            </a:r>
            <a:br/>
            <a:r>
              <a:rPr b="0">
                <a:solidFill>
                  <a:srgbClr val="94A3B8"/>
                </a:solidFill>
              </a:rPr>
              <a:t>Figures represent illustrative calculated risk exposure under current host conditions, not guaranteed financial forecasts.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07 | Decision Support: What-If Scenario Simulation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HYPOTHETICAL TUNING (IMPLEMENTED)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Interactive Parameter Sliders: </a:t>
            </a:r>
            <a:r>
              <a:rPr b="0">
                <a:solidFill>
                  <a:srgbClr val="94A3B8"/>
                </a:solidFill>
              </a:rPr>
              <a:t>Allows security operators to model varying CPU, memory, disk, and exposed port counts.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Live Exposure Re-calculation: </a:t>
            </a:r>
            <a:r>
              <a:rPr b="0">
                <a:solidFill>
                  <a:srgbClr val="94A3B8"/>
                </a:solidFill>
              </a:rPr>
              <a:t>Instantly computes simulated risk score and projected monetary exposure as parameters shift.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Remediation Impact Assessment: </a:t>
            </a:r>
            <a:r>
              <a:rPr b="0">
                <a:solidFill>
                  <a:srgbClr val="94A3B8"/>
                </a:solidFill>
              </a:rPr>
              <a:t>Demonstrates how reducing exposed ports from 18 to 2 reduces simulated business exposure.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Single-Click Live Sync: </a:t>
            </a:r>
            <a:r>
              <a:rPr b="0">
                <a:solidFill>
                  <a:srgbClr val="94A3B8"/>
                </a:solidFill>
              </a:rPr>
              <a:t>Features button to pull actual live host metrics into the simulator as a baseline reference.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87171"/>
                </a:solidFill>
              </a:defRPr>
            </a:pPr>
            <a:r>
              <a:t>MITRE ATT&amp;CK WARGAME SCENARIOS</a:t>
            </a:r>
          </a:p>
          <a:p>
            <a:pPr>
              <a:spcAft>
                <a:spcPts val="800"/>
              </a:spcAft>
              <a:defRPr sz="1000" b="1">
                <a:solidFill>
                  <a:srgbClr val="F1F5F9"/>
                </a:solidFill>
              </a:defRPr>
            </a:pPr>
            <a:r>
              <a:t>⚔ SSH / RDP Brute Force Storm (T1110): </a:t>
            </a:r>
            <a:r>
              <a:rPr b="0">
                <a:solidFill>
                  <a:srgbClr val="94A3B8"/>
                </a:solidFill>
              </a:rPr>
              <a:t>Simulates credential-stuffing pressure against remote daemons, generating live security alert logs.</a:t>
            </a:r>
          </a:p>
          <a:p>
            <a:pPr>
              <a:spcAft>
                <a:spcPts val="800"/>
              </a:spcAft>
              <a:defRPr sz="1000" b="1">
                <a:solidFill>
                  <a:srgbClr val="F1F5F9"/>
                </a:solidFill>
              </a:defRPr>
            </a:pPr>
            <a:r>
              <a:t>⚔ Distributed SYN Flood DDoS (T1499): </a:t>
            </a:r>
            <a:r>
              <a:rPr b="0">
                <a:solidFill>
                  <a:srgbClr val="94A3B8"/>
                </a:solidFill>
              </a:rPr>
              <a:t>Models volumetric connection exhaustion and elevated risk scoring.</a:t>
            </a:r>
          </a:p>
          <a:p>
            <a:pPr>
              <a:spcAft>
                <a:spcPts val="800"/>
              </a:spcAft>
              <a:defRPr sz="1000" b="1">
                <a:solidFill>
                  <a:srgbClr val="F1F5F9"/>
                </a:solidFill>
              </a:defRPr>
            </a:pPr>
            <a:r>
              <a:t>⚔ Aggressive Reconnaissance Scan (T1046): </a:t>
            </a:r>
            <a:r>
              <a:rPr b="0">
                <a:solidFill>
                  <a:srgbClr val="94A3B8"/>
                </a:solidFill>
              </a:rPr>
              <a:t>Simulates full-range port sweeps attempting to fingerprint local services.</a:t>
            </a:r>
          </a:p>
          <a:p>
            <a:pPr>
              <a:spcAft>
                <a:spcPts val="800"/>
              </a:spcAft>
              <a:defRPr sz="1000" b="1">
                <a:solidFill>
                  <a:srgbClr val="F1F5F9"/>
                </a:solidFill>
              </a:defRPr>
            </a:pPr>
            <a:r>
              <a:t>⚔ Interactive Defense Trigger: </a:t>
            </a:r>
            <a:r>
              <a:rPr b="0">
                <a:solidFill>
                  <a:srgbClr val="94A3B8"/>
                </a:solidFill>
              </a:rPr>
              <a:t>Operator triggers simulated mitigation, logging the defensive event into the persistent SQLite database.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08 | Budget-Constrained Security Investment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KNAPSACK OPTIMIZATION LOGIC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1. Input Parameters:</a:t>
            </a:r>
            <a:br/>
            <a:r>
              <a:rPr b="0">
                <a:solidFill>
                  <a:srgbClr val="94A3B8"/>
                </a:solidFill>
              </a:rPr>
              <a:t>Monthly Budget (e.g. ₹50,000 – ₹1,00,000), Managed System Count, and Critical Data Value (₹).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2. Candidate Defense Packages:</a:t>
            </a:r>
            <a:br/>
            <a:r>
              <a:rPr b="0">
                <a:solidFill>
                  <a:srgbClr val="94A3B8"/>
                </a:solidFill>
              </a:rPr>
              <a:t>Evaluates defined control tiers:
- Essential (₹25,000/mo, ~15% Risk Reduction)
- Professional (₹75,000/mo, ~35% Risk Reduction)
- Enterprise (₹1,50,000/mo, ~60% Risk Reduction).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3. Budget Feasibility Filter:</a:t>
            </a:r>
            <a:br/>
            <a:r>
              <a:rPr b="0">
                <a:solidFill>
                  <a:srgbClr val="94A3B8"/>
                </a:solidFill>
              </a:rPr>
              <a:t>Constraint: Package_Cost ≤ Stated_Monthly_Budget.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4. Return on Security Investment (ROSI):</a:t>
            </a:r>
            <a:br/>
            <a:r>
              <a:rPr b="0">
                <a:solidFill>
                  <a:srgbClr val="94A3B8"/>
                </a:solidFill>
              </a:rPr>
              <a:t>ROSI (%) = [ (Potential Savings - Package Cost) / Package Cost ] × 100.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DECISION SUPPORT OUTPUT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Ranked Recommendation Score:</a:t>
            </a:r>
            <a:br/>
            <a:r>
              <a:rPr b="0">
                <a:solidFill>
                  <a:srgbClr val="94A3B8"/>
                </a:solidFill>
              </a:rPr>
              <a:t>Calculates composite score based on affordability (+40), positive net benefit (+30), and scaled ROI (+30).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Automated Plan Selection:</a:t>
            </a:r>
            <a:br/>
            <a:r>
              <a:rPr b="0">
                <a:solidFill>
                  <a:srgbClr val="94A3B8"/>
                </a:solidFill>
              </a:rPr>
              <a:t>Recommends the affordable tier delivering highest net financial savings within budget.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Tailored Security Actions:</a:t>
            </a:r>
            <a:br/>
            <a:r>
              <a:rPr b="0">
                <a:solidFill>
                  <a:srgbClr val="94A3B8"/>
                </a:solidFill>
              </a:rPr>
              <a:t>Generates prioritized recommendations (e.g. MFA enforcement, offline backup verification, port closure).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Prototype Status Disclosure:</a:t>
            </a:r>
            <a:br/>
            <a:r>
              <a:rPr b="0">
                <a:solidFill>
                  <a:srgbClr val="94A3B8"/>
                </a:solidFill>
              </a:rPr>
              <a:t>◐ PROTOTYPE — Illustrates algorithmic budget allocation; real enterprise deployment would ingest specific vendor RFP quotes.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09 | Trust Layer: Tamper-Evident SHA-256 Merkle Audit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CRYPTOGRAPHIC LEDGER MECHANISM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Security Event Trigger: </a:t>
            </a:r>
            <a:r>
              <a:rPr b="0">
                <a:solidFill>
                  <a:srgbClr val="94A3B8"/>
                </a:solidFill>
              </a:rPr>
              <a:t>Risk assessments, threat quarantines, and budget changes emit structured payloads.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Merkle Root Calculation: </a:t>
            </a:r>
            <a:r>
              <a:rPr b="0">
                <a:solidFill>
                  <a:srgbClr val="94A3B8"/>
                </a:solidFill>
              </a:rPr>
              <a:t>Pairwise SHA-256 hashing condenses arbitrary payload keys into a single cryptographic Merkle root.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Proof-of-Work Mining: </a:t>
            </a:r>
            <a:r>
              <a:rPr b="0">
                <a:solidFill>
                  <a:srgbClr val="94A3B8"/>
                </a:solidFill>
              </a:rPr>
              <a:t>Calculates candidate header hash with dynamic nonce until satisfying target difficulty prefix.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Chained Block Header: </a:t>
            </a:r>
            <a:r>
              <a:rPr b="0">
                <a:solidFill>
                  <a:srgbClr val="94A3B8"/>
                </a:solidFill>
              </a:rPr>
              <a:t>Block Hash = SHA256(Index + Timestamp + Event + MerkleRoot + PrevHash + Nonce).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Defensible Terminology: </a:t>
            </a:r>
            <a:r>
              <a:rPr b="0">
                <a:solidFill>
                  <a:srgbClr val="94A3B8"/>
                </a:solidFill>
              </a:rPr>
              <a:t>Described as a 'Tamper-Evident Audit Ledger' — unauthorized modifications break cryptographic chain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VERIFICATION &amp; TAMPER DEMO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Full Chain Validation (verify_integrity):</a:t>
            </a:r>
            <a:br/>
            <a:r>
              <a:rPr b="0">
                <a:solidFill>
                  <a:srgbClr val="94A3B8"/>
                </a:solidFill>
              </a:rPr>
              <a:t>Traverses chain from Genesis (Block 0) to tip, verifying previous_hash links, recomputed Merkle roots, and block hashes.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Simulate Tamper Attack (DEMO):</a:t>
            </a:r>
            <a:br/>
            <a:r>
              <a:rPr b="0">
                <a:solidFill>
                  <a:srgbClr val="94A3B8"/>
                </a:solidFill>
              </a:rPr>
              <a:t>Modifies stored data payload of Block #1 in JSON storage to simulate rogue log alteration.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Instant Cryptographic Detection:</a:t>
            </a:r>
            <a:br/>
            <a:r>
              <a:rPr b="0">
                <a:solidFill>
                  <a:srgbClr val="94A3B8"/>
                </a:solidFill>
              </a:rPr>
              <a:t>Next integrity audit immediately detects Merkle root mismatch and broken hash chain, flagging the exact invalid block.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Consensus State Restoration:</a:t>
            </a:r>
            <a:br/>
            <a:r>
              <a:rPr b="0">
                <a:solidFill>
                  <a:srgbClr val="94A3B8"/>
                </a:solidFill>
              </a:rPr>
              <a:t>Restores verified snapshot from backup memory pool, returning ledger to verified state.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10 | Supporting Endpoint Capabilities: Physical Presence &amp; Interaction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ZERO-TRUST PHYSICAL AUTO-LOCK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Problem Addressed: </a:t>
            </a:r>
            <a:r>
              <a:rPr b="0">
                <a:solidFill>
                  <a:srgbClr val="94A3B8"/>
                </a:solidFill>
              </a:rPr>
              <a:t>Physical workstation access remains a frequent insider threat vector if an operator walks away leaving a console unlocked.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YOLOv8 Operator Tracking: </a:t>
            </a:r>
            <a:r>
              <a:rPr b="0">
                <a:solidFill>
                  <a:srgbClr val="94A3B8"/>
                </a:solidFill>
              </a:rPr>
              <a:t>Ultralytics YOLOv8-nano monitors operator presence in local webcam feed.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Configurable Grace Period: </a:t>
            </a:r>
            <a:r>
              <a:rPr b="0">
                <a:solidFill>
                  <a:srgbClr val="94A3B8"/>
                </a:solidFill>
              </a:rPr>
              <a:t>If operator departs, a countdown banner alerts the user before executing OS-level LockWorkStation call.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Supporting Role in SIH: </a:t>
            </a:r>
            <a:r>
              <a:rPr b="0">
                <a:solidFill>
                  <a:srgbClr val="94A3B8"/>
                </a:solidFill>
              </a:rPr>
              <a:t>Presented accurately as an endpoint hardening feature, secondary to the core financial risk quantification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TOUCHLESS NEURAL GESTURE CONTROL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MediaPipe Hand Landmarks:</a:t>
            </a:r>
            <a:br/>
            <a:r>
              <a:rPr b="0">
                <a:solidFill>
                  <a:srgbClr val="94A3B8"/>
                </a:solidFill>
              </a:rPr>
              <a:t>Tracks 21 3D hand coordinates locally using Google MediaPipe Hand Landmarker.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Deterministic Vector Logic:</a:t>
            </a:r>
            <a:br/>
            <a:r>
              <a:rPr b="0">
                <a:solidFill>
                  <a:srgbClr val="94A3B8"/>
                </a:solidFill>
              </a:rPr>
              <a:t>Crossed fingers (Index over Middle) detected via coordinate inversion vector (mcp_diff × tip_diff &lt; 0).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Gesture Capabilities:</a:t>
            </a:r>
            <a:br/>
            <a:r>
              <a:rPr b="0">
                <a:solidFill>
                  <a:srgbClr val="94A3B8"/>
                </a:solidFill>
              </a:rPr>
              <a:t>- ☝️ Index Point: New Folder hotkey
- 🤞 Crossed Fingers: File delete action
- 🤏 Pinch &amp; Slide: System volume control
- ✌️ Peace Sign: Application window switch.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Architecture Positioning:</a:t>
            </a:r>
            <a:br/>
            <a:r>
              <a:rPr b="0">
                <a:solidFill>
                  <a:srgbClr val="94A3B8"/>
                </a:solidFill>
              </a:rPr>
              <a:t>Designed to run locally on CPU hardware without requiring external cloud GPU servers.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11 | Regulatory Framework Alignment &amp; Control Mapping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INDIAN REGULATORY CONTEXT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📜 CERT-In Cyber Security Directions (April 2022):</a:t>
            </a:r>
            <a:br/>
            <a:r>
              <a:rPr b="0">
                <a:solidFill>
                  <a:srgbClr val="94A3B8"/>
                </a:solidFill>
              </a:rPr>
              <a:t>Mandates 180-day preservation of cybersecurity incident logs. AURA's blockchain ledger provides cryptographic evidence of non-alteration.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📜 RBI Cyber Security Framework:</a:t>
            </a:r>
            <a:br/>
            <a:r>
              <a:rPr b="0">
                <a:solidFill>
                  <a:srgbClr val="94A3B8"/>
                </a:solidFill>
              </a:rPr>
              <a:t>Supports risk threshold monitoring, sensitive port alerting, and cyber resilience disclosures for institutional banking environments.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📜 SEBI Cybersecurity Resilience Framework:</a:t>
            </a:r>
            <a:br/>
            <a:r>
              <a:rPr b="0">
                <a:solidFill>
                  <a:srgbClr val="94A3B8"/>
                </a:solidFill>
              </a:rPr>
              <a:t>Addresses board-level risk metrics, technical asset inventory tracking, and systematic risk governance.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📜 DPDP Act 2023 Compliance Support:</a:t>
            </a:r>
            <a:br/>
            <a:r>
              <a:rPr b="0">
                <a:solidFill>
                  <a:srgbClr val="94A3B8"/>
                </a:solidFill>
              </a:rPr>
              <a:t>Regex credential scanner flags unmasked Aadhaar, PAN numbers, and private keys in scanned directories.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GLOBAL FRAMEWORK MAPPING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🌐 NIST Cybersecurity Framework 2.0:</a:t>
            </a:r>
            <a:br/>
            <a:r>
              <a:rPr b="0">
                <a:solidFill>
                  <a:srgbClr val="94A3B8"/>
                </a:solidFill>
              </a:rPr>
              <a:t>Structured mapping across core functions:
- Identify: Asset &amp; port inventory
- Protect: Defense knapsack optimizer
- Detect: Socket &amp; compute telemetry
- Respond / Recover: Quarantine vault &amp; audit.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🌐 ISO/IEC 27001 (A.12 Operations Security):</a:t>
            </a:r>
            <a:br/>
            <a:r>
              <a:rPr b="0">
                <a:solidFill>
                  <a:srgbClr val="94A3B8"/>
                </a:solidFill>
              </a:rPr>
              <a:t>Aligns with technical control logging and vulnerability management clauses.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🌐 CIS Controls v8:</a:t>
            </a:r>
            <a:br/>
            <a:r>
              <a:rPr b="0">
                <a:solidFill>
                  <a:srgbClr val="94A3B8"/>
                </a:solidFill>
              </a:rPr>
              <a:t>Supports Control 1 (Enterprise Assets), Control 4 (Secure Configuration), and Control 8 (Audit Log Management).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🌐 Defensible Claim Note:</a:t>
            </a:r>
            <a:br/>
            <a:r>
              <a:rPr b="0">
                <a:solidFill>
                  <a:srgbClr val="94A3B8"/>
                </a:solidFill>
              </a:rPr>
              <a:t>Framed accurately as 'control alignment and compliance-supporting capabilities', not official government certifications.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12 | Proposed Architecture: Future Multi-Institution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BBF24"/>
                </a:solidFill>
              </a:defRPr>
            </a:pPr>
            <a:r>
              <a:t>PROPOSED ARCHITECTURE FOR FUTURE MULTI-INSTITUTION DEPLOYMENT (CONCEPTUAL SCALING)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400"/>
              </a:spcAft>
              <a:defRPr sz="1200" b="1">
                <a:solidFill>
                  <a:srgbClr val="22D3EE"/>
                </a:solidFill>
              </a:defRPr>
            </a:pPr>
            <a:r>
              <a:t>NODE 01: CENTRAL GOVERNANCE NODE</a:t>
            </a:r>
          </a:p>
          <a:p>
            <a:pPr>
              <a:spcAft>
                <a:spcPts val="1000"/>
              </a:spcAft>
              <a:defRPr sz="900" i="1">
                <a:solidFill>
                  <a:srgbClr val="94A3B8"/>
                </a:solidFill>
              </a:defRPr>
            </a:pPr>
            <a:r>
              <a:t>Proposed Central Authority (e.g. Consortium Master)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Aggregates anonymized risk exposure indexes across institutions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Sets baseline risk evaluation standards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Distributes global threat intelligence advisories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Acts as primary consensus coordinator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400"/>
              </a:spcAft>
              <a:defRPr sz="1200" b="1">
                <a:solidFill>
                  <a:srgbClr val="34D399"/>
                </a:solidFill>
              </a:defRPr>
            </a:pPr>
            <a:r>
              <a:t>NODE 02: REGIONAL VALIDATOR NODE</a:t>
            </a:r>
          </a:p>
          <a:p>
            <a:pPr>
              <a:spcAft>
                <a:spcPts val="1000"/>
              </a:spcAft>
              <a:defRPr sz="900" i="1">
                <a:solidFill>
                  <a:srgbClr val="94A3B8"/>
                </a:solidFill>
              </a:defRPr>
            </a:pPr>
            <a:r>
              <a:t>Proposed Regional Validator (e.g. Lead Technical Campus)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Validates consensus blocks via independent Merkle checks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Executes regional peer risk verification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Distributes computational load for consortium mining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Maintains verifiable mirror of consortium ledger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400"/>
              </a:spcAft>
              <a:defRPr sz="1200" b="1">
                <a:solidFill>
                  <a:srgbClr val="FBBF24"/>
                </a:solidFill>
              </a:defRPr>
            </a:pPr>
            <a:r>
              <a:t>NODE 03: INSTITUTIONAL AUDITOR NODE</a:t>
            </a:r>
          </a:p>
          <a:p>
            <a:pPr>
              <a:spcAft>
                <a:spcPts val="1000"/>
              </a:spcAft>
              <a:defRPr sz="900" i="1">
                <a:solidFill>
                  <a:srgbClr val="94A3B8"/>
                </a:solidFill>
              </a:defRPr>
            </a:pPr>
            <a:r>
              <a:t>Proposed Campus Auditor (e.g. Individual College Node)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Operates local-first agent monitoring campus endpoints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Emits tamper-evident risk assessments to the ledger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Validates compliance posture against regulatory requirements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Prevents local insider repudiation of breach incidents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13 | Implementation Status Matrix &amp; Development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RUNNABLE IN CURRENT MVP (TODAY)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Host Telemetry &amp; Port Inspector: </a:t>
            </a:r>
            <a:r>
              <a:rPr b="0">
                <a:solidFill>
                  <a:srgbClr val="94A3B8"/>
                </a:solidFill>
              </a:rPr>
              <a:t>Live extraction of open sockets, CPU/RAM utilization, and process states (psutil).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Prototype Financial Exposure (EAL): </a:t>
            </a:r>
            <a:r>
              <a:rPr b="0">
                <a:solidFill>
                  <a:srgbClr val="94A3B8"/>
                </a:solidFill>
              </a:rPr>
              <a:t>Live computation of hourly downtime loss and estimated incident cost in ₹ INR.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What-If Simulation Engine: </a:t>
            </a:r>
            <a:r>
              <a:rPr b="0">
                <a:solidFill>
                  <a:srgbClr val="94A3B8"/>
                </a:solidFill>
              </a:rPr>
              <a:t>Interactive parameter tuning and MITRE attack vector wargaming.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Budget Investment Optimizer: </a:t>
            </a:r>
            <a:r>
              <a:rPr b="0">
                <a:solidFill>
                  <a:srgbClr val="94A3B8"/>
                </a:solidFill>
              </a:rPr>
              <a:t>Knapsack evaluation of defense packages, ROSI %, and tailored action list.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Blockchain Ledger &amp; Tamper Demo: </a:t>
            </a:r>
            <a:r>
              <a:rPr b="0">
                <a:solidFill>
                  <a:srgbClr val="94A3B8"/>
                </a:solidFill>
              </a:rPr>
              <a:t>SHA-256 blocks with Merkle roots, Proof-of-Work mining, and live tamper simulation.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Physical Security &amp; Gestures: </a:t>
            </a:r>
            <a:r>
              <a:rPr b="0">
                <a:solidFill>
                  <a:srgbClr val="94A3B8"/>
                </a:solidFill>
              </a:rPr>
              <a:t>YOLOv8 operator auto-lock + MediaPipe touchless OS mouse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FUTURE PRODUCTION ROADMAP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Enterprise Ingestion Connectors (Q1):</a:t>
            </a:r>
            <a:br/>
            <a:r>
              <a:rPr b="0">
                <a:solidFill>
                  <a:srgbClr val="94A3B8"/>
                </a:solidFill>
              </a:rPr>
              <a:t>Native log forwarders for Wazuh, Splunk, CrowdStrike EDR, and AWS/Azure CSPM.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Monte Carlo Probabilistic VaR (Q2):</a:t>
            </a:r>
            <a:br/>
            <a:r>
              <a:rPr b="0">
                <a:solidFill>
                  <a:srgbClr val="94A3B8"/>
                </a:solidFill>
              </a:rPr>
              <a:t>Statistical probability density distributions estimating Value at Risk at 95% confidence intervals.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Multi-Campus Consortium Network (Q2):</a:t>
            </a:r>
            <a:br/>
            <a:r>
              <a:rPr b="0">
                <a:solidFill>
                  <a:srgbClr val="94A3B8"/>
                </a:solidFill>
              </a:rPr>
              <a:t>Deploying real peer-to-peer validator nodes across participating universities.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Automated Dynamic Control Discovery (Q3):</a:t>
            </a:r>
            <a:br/>
            <a:r>
              <a:rPr b="0">
                <a:solidFill>
                  <a:srgbClr val="94A3B8"/>
                </a:solidFill>
              </a:rPr>
              <a:t>Direct API integration with IT procurement systems for dynamic security solution pricing.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Full DPDP Audit Automation (Q3):</a:t>
            </a:r>
            <a:br/>
            <a:r>
              <a:rPr b="0">
                <a:solidFill>
                  <a:srgbClr val="94A3B8"/>
                </a:solidFill>
              </a:rPr>
              <a:t>Automated compliance reports formatted for direct submission to Indian regulatory authorities.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14 | Evaluator-Grounded 5-Minute Live Demonstration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49377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STEP-BY-STEP LIVE DEMO FLOW (100% DEMONSTRABLE ON CURRENT BUILD)</a:t>
            </a:r>
          </a:p>
          <a:p>
            <a:pPr>
              <a:spcAft>
                <a:spcPts val="500"/>
              </a:spcAft>
              <a:defRPr sz="1100" b="1">
                <a:solidFill>
                  <a:srgbClr val="22D3EE"/>
                </a:solidFill>
              </a:defRPr>
            </a:pPr>
            <a:r>
              <a:t>⏱ 0:00 – 0:45 | Dashboard &amp; Host Status: </a:t>
            </a:r>
            <a:r>
              <a:rPr b="0">
                <a:solidFill>
                  <a:srgbClr val="F1F5F9"/>
                </a:solidFill>
              </a:rPr>
              <a:t>Launch AURA SOC Dashboard (Module 01). Show live compute telemetry, listening socket counts, and normalized technical risk score.</a:t>
            </a:r>
          </a:p>
          <a:p>
            <a:pPr>
              <a:spcAft>
                <a:spcPts val="500"/>
              </a:spcAft>
              <a:defRPr sz="1100" b="1">
                <a:solidFill>
                  <a:srgbClr val="22D3EE"/>
                </a:solidFill>
              </a:defRPr>
            </a:pPr>
            <a:r>
              <a:t>⏱ 0:45 – 1:30 | Attack Surface Detection: </a:t>
            </a:r>
            <a:r>
              <a:rPr b="0">
                <a:solidFill>
                  <a:srgbClr val="F1F5F9"/>
                </a:solidFill>
              </a:rPr>
              <a:t>Navigate to Attack Surface (Module 02). Highlight active listening ports, danger classifications, and process IDs.</a:t>
            </a:r>
          </a:p>
          <a:p>
            <a:pPr>
              <a:spcAft>
                <a:spcPts val="500"/>
              </a:spcAft>
              <a:defRPr sz="1100" b="1">
                <a:solidFill>
                  <a:srgbClr val="34D399"/>
                </a:solidFill>
              </a:defRPr>
            </a:pPr>
            <a:r>
              <a:t>⏱ 1:30 – 2:15 | Prototype Financial Risk (EAL): </a:t>
            </a:r>
            <a:r>
              <a:rPr b="0">
                <a:solidFill>
                  <a:srgbClr val="F1F5F9"/>
                </a:solidFill>
              </a:rPr>
              <a:t>Open Financial Risk (Module 04). Demonstrate live translation of socket stress into hourly downtime rate and estimated exposure in ₹ INR.</a:t>
            </a:r>
          </a:p>
          <a:p>
            <a:pPr>
              <a:spcAft>
                <a:spcPts val="500"/>
              </a:spcAft>
              <a:defRPr sz="1100" b="1">
                <a:solidFill>
                  <a:srgbClr val="34D399"/>
                </a:solidFill>
              </a:defRPr>
            </a:pPr>
            <a:r>
              <a:t>⏱ 2:15 – 3:15 | What-If Scenario Simulation: </a:t>
            </a:r>
            <a:r>
              <a:rPr b="0">
                <a:solidFill>
                  <a:srgbClr val="F1F5F9"/>
                </a:solidFill>
              </a:rPr>
              <a:t>Open What-If Engine (Module 05). Adjust sliders to demonstrate exposure reduction; trigger MITRE wargame scenario and log mitigation.</a:t>
            </a:r>
          </a:p>
          <a:p>
            <a:pPr>
              <a:spcAft>
                <a:spcPts val="500"/>
              </a:spcAft>
              <a:defRPr sz="1100" b="1">
                <a:solidFill>
                  <a:srgbClr val="FBBF24"/>
                </a:solidFill>
              </a:defRPr>
            </a:pPr>
            <a:r>
              <a:t>⏱ 3:15 – 4:15 | Budget Investment Optimizer: </a:t>
            </a:r>
            <a:r>
              <a:rPr b="0">
                <a:solidFill>
                  <a:srgbClr val="F1F5F9"/>
                </a:solidFill>
              </a:rPr>
              <a:t>Open Investment Optimizer (Module 06). Input ₹1,00,000 budget; execute Knapsack optimizer to display recommended tier and ROSI %.</a:t>
            </a:r>
          </a:p>
          <a:p>
            <a:pPr>
              <a:spcAft>
                <a:spcPts val="500"/>
              </a:spcAft>
              <a:defRPr sz="1100" b="1">
                <a:solidFill>
                  <a:srgbClr val="F87171"/>
                </a:solidFill>
              </a:defRPr>
            </a:pPr>
            <a:r>
              <a:t>⏱ 4:15 – 4:45 | Blockchain Tamper Showdown: </a:t>
            </a:r>
            <a:r>
              <a:rPr b="0">
                <a:solidFill>
                  <a:srgbClr val="F1F5F9"/>
                </a:solidFill>
              </a:rPr>
              <a:t>Open Blockchain Ledger (Module 10). Run integrity audit (100% valid) ➔ Trigger tamper simulation ➔ Show instant red alert ➔ Restore consensus.</a:t>
            </a:r>
          </a:p>
          <a:p>
            <a:pPr>
              <a:spcAft>
                <a:spcPts val="500"/>
              </a:spcAft>
              <a:defRPr sz="1100" b="1">
                <a:solidFill>
                  <a:srgbClr val="F1F5F9"/>
                </a:solidFill>
              </a:defRPr>
            </a:pPr>
            <a:r>
              <a:t>⏱ 4:45 – 5:00 | Executive Audit Report Wrap-up: </a:t>
            </a:r>
            <a:r>
              <a:rPr b="0">
                <a:solidFill>
                  <a:srgbClr val="F1F5F9"/>
                </a:solidFill>
              </a:rPr>
              <a:t>Click 'Audit Report' button in navbar. Present printable executive report summarizing compliance alignment and actuarial exposure.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