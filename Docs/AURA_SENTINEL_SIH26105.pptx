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66960" cy="50292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457200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SMART INDIA HACKATHON 2026</a:t>
            </a:r>
          </a:p>
          <a:p>
            <a:pPr>
              <a:spcAft>
                <a:spcPts val="800"/>
              </a:spcAft>
              <a:defRPr sz="4000" b="1">
                <a:solidFill>
                  <a:srgbClr val="F1F5F9"/>
                </a:solidFill>
              </a:defRPr>
            </a:pPr>
            <a:r>
              <a:t>AURA SENTINEL</a:t>
            </a:r>
          </a:p>
          <a:p>
            <a:pPr>
              <a:spcAft>
                <a:spcPts val="1600"/>
              </a:spcAft>
              <a:defRPr sz="1800" b="1">
                <a:solidFill>
                  <a:srgbClr val="34D399"/>
                </a:solidFill>
              </a:defRPr>
            </a:pPr>
            <a:r>
              <a:t>AI-Powered Continuous Cyber Risk Quantification &amp; Investment Optimization Platform</a:t>
            </a:r>
          </a:p>
          <a:p>
            <a:pPr>
              <a:defRPr sz="1200" b="1">
                <a:solidFill>
                  <a:srgbClr val="FBBF24"/>
                </a:solidFill>
              </a:defRPr>
            </a:pPr>
            <a:r>
              <a:t>• Team Name &amp; ID: </a:t>
            </a:r>
            <a:r>
              <a:rPr b="0">
                <a:solidFill>
                  <a:srgbClr val="F1F5F9"/>
                </a:solidFill>
              </a:rPr>
              <a:t>ByteForce_1 (Official SIH Team ID: 180219)</a:t>
            </a:r>
          </a:p>
          <a:p>
            <a:pPr>
              <a:defRPr sz="1200" b="1">
                <a:solidFill>
                  <a:srgbClr val="FBBF24"/>
                </a:solidFill>
              </a:defRPr>
            </a:pPr>
            <a:r>
              <a:t>• College / Institute: </a:t>
            </a:r>
            <a:r>
              <a:rPr b="0">
                <a:solidFill>
                  <a:srgbClr val="F1F5F9"/>
                </a:solidFill>
              </a:rPr>
              <a:t>Skyline Institute of Engineering and Technology, Greater Noida</a:t>
            </a:r>
          </a:p>
          <a:p>
            <a:pPr>
              <a:defRPr sz="1200" b="1">
                <a:solidFill>
                  <a:srgbClr val="FBBF24"/>
                </a:solidFill>
              </a:defRPr>
            </a:pPr>
            <a:r>
              <a:t>• Team Leader &amp; Members: </a:t>
            </a:r>
            <a:r>
              <a:rPr b="0">
                <a:solidFill>
                  <a:srgbClr val="F1F5F9"/>
                </a:solidFill>
              </a:rPr>
              <a:t>Aryan Baghel (Lead), Kirti, Hitesh Chauhan, Avinav Jha, Sharim Khan, Aman Sekh</a:t>
            </a:r>
          </a:p>
          <a:p>
            <a:pPr>
              <a:defRPr sz="1200" b="1">
                <a:solidFill>
                  <a:srgbClr val="FBBF24"/>
                </a:solidFill>
              </a:defRPr>
            </a:pPr>
            <a:r>
              <a:t>• Problem Statement ID: </a:t>
            </a:r>
            <a:r>
              <a:rPr b="0">
                <a:solidFill>
                  <a:srgbClr val="F1F5F9"/>
                </a:solidFill>
              </a:rPr>
              <a:t>SIH26105 (AICTE Cyber Security Cell)</a:t>
            </a:r>
          </a:p>
          <a:p>
            <a:pPr>
              <a:defRPr sz="1200" b="1">
                <a:solidFill>
                  <a:srgbClr val="FBBF24"/>
                </a:solidFill>
              </a:defRPr>
            </a:pPr>
            <a:r>
              <a:t>• Theme &amp; Category: </a:t>
            </a:r>
            <a:r>
              <a:rPr b="0">
                <a:solidFill>
                  <a:srgbClr val="F1F5F9"/>
                </a:solidFill>
              </a:rPr>
              <a:t>Blockchain &amp; Cybersecurity (Software - Enterprise Defense)</a:t>
            </a:r>
          </a:p>
          <a:p>
            <a:pPr>
              <a:defRPr sz="1200" b="1">
                <a:solidFill>
                  <a:srgbClr val="FBBF24"/>
                </a:solidFill>
              </a:defRPr>
            </a:pPr>
            <a:r>
              <a:t>• Core Tagline: </a:t>
            </a:r>
            <a:r>
              <a:rPr b="0">
                <a:solidFill>
                  <a:srgbClr val="F1F5F9"/>
                </a:solidFill>
              </a:rPr>
              <a:t>"From Abstract Vulnerabilities to Actuarial Rupee Losses — Sealed in Cryptographic Proof."</a:t>
            </a:r>
          </a:p>
          <a:p>
            <a:pPr>
              <a:defRPr sz="1200" b="1">
                <a:solidFill>
                  <a:srgbClr val="FBBF24"/>
                </a:solidFill>
              </a:defRPr>
            </a:pPr>
            <a:r>
              <a:t>• Unified Stack: </a:t>
            </a:r>
            <a:r>
              <a:rPr b="0">
                <a:solidFill>
                  <a:srgbClr val="F1F5F9"/>
                </a:solidFill>
              </a:rPr>
              <a:t>FastAPI Micro-Kernel + React 19 SOC + MediaPipe Touchless + YOLOv8 + SHA-256 Merkle Ledger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SMART INDIA HACKATHON 2026 | PS ID: SIH26105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01. The Problem vs. AURA Sentinel Breakthrough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800" b="1">
                <a:solidFill>
                  <a:srgbClr val="F87171"/>
                </a:solidFill>
              </a:defRPr>
            </a:pPr>
            <a:r>
              <a:t>⚠️ THE INDUSTRY SHORTCOMING</a:t>
            </a:r>
          </a:p>
          <a:p>
            <a:pPr>
              <a:spcAft>
                <a:spcPts val="800"/>
              </a:spcAft>
              <a:defRPr sz="1200" b="1">
                <a:solidFill>
                  <a:srgbClr val="F1F5F9"/>
                </a:solidFill>
              </a:defRPr>
            </a:pPr>
            <a:r>
              <a:t>• Qualitative Guesswork: </a:t>
            </a:r>
            <a:r>
              <a:rPr b="0">
                <a:solidFill>
                  <a:srgbClr val="94A3B8"/>
                </a:solidFill>
              </a:rPr>
              <a:t>Scanners spit out 'High/Med/Low' labels. A Vice-Chancellor or CFO cannot comprehend abstract CVE scores.</a:t>
            </a:r>
          </a:p>
          <a:p>
            <a:pPr>
              <a:spcAft>
                <a:spcPts val="800"/>
              </a:spcAft>
              <a:defRPr sz="1200" b="1">
                <a:solidFill>
                  <a:srgbClr val="F1F5F9"/>
                </a:solidFill>
              </a:defRPr>
            </a:pPr>
            <a:r>
              <a:t>• No Budget Correlation: </a:t>
            </a:r>
            <a:r>
              <a:rPr b="0">
                <a:solidFill>
                  <a:srgbClr val="94A3B8"/>
                </a:solidFill>
              </a:rPr>
              <a:t>Security teams buy expensive tools randomly with zero mathematically justifiable ROI/ROSI.</a:t>
            </a:r>
          </a:p>
          <a:p>
            <a:pPr>
              <a:spcAft>
                <a:spcPts val="800"/>
              </a:spcAft>
              <a:defRPr sz="1200" b="1">
                <a:solidFill>
                  <a:srgbClr val="F1F5F9"/>
                </a:solidFill>
              </a:defRPr>
            </a:pPr>
            <a:r>
              <a:t>• Mutable Compliance Logs: </a:t>
            </a:r>
            <a:r>
              <a:rPr b="0">
                <a:solidFill>
                  <a:srgbClr val="94A3B8"/>
                </a:solidFill>
              </a:rPr>
              <a:t>Rogue insiders or ransomware attackers covertly erase database logs to conceal data breaches.</a:t>
            </a:r>
          </a:p>
          <a:p>
            <a:pPr>
              <a:spcAft>
                <a:spcPts val="800"/>
              </a:spcAft>
              <a:defRPr sz="1200" b="1">
                <a:solidFill>
                  <a:srgbClr val="F1F5F9"/>
                </a:solidFill>
              </a:defRPr>
            </a:pPr>
            <a:r>
              <a:t>• Blind Physical Perimeter: </a:t>
            </a:r>
            <a:r>
              <a:rPr b="0">
                <a:solidFill>
                  <a:srgbClr val="94A3B8"/>
                </a:solidFill>
              </a:rPr>
              <a:t>Zero-Trust stops at the network; anyone can walk up to an unlocked operator console and exfiltrate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800" b="1">
                <a:solidFill>
                  <a:srgbClr val="34D399"/>
                </a:solidFill>
              </a:defRPr>
            </a:pPr>
            <a:r>
              <a:t>🛡️ THE AURA SENTINEL BREAKTHROUGH</a:t>
            </a:r>
          </a:p>
          <a:p>
            <a:pPr>
              <a:spcAft>
                <a:spcPts val="800"/>
              </a:spcAft>
              <a:defRPr sz="1200" b="1">
                <a:solidFill>
                  <a:srgbClr val="F1F5F9"/>
                </a:solidFill>
              </a:defRPr>
            </a:pPr>
            <a:r>
              <a:t>✔ Actuarial Rupee Quantification (FAIR): </a:t>
            </a:r>
            <a:r>
              <a:rPr b="0">
                <a:solidFill>
                  <a:srgbClr val="94A3B8"/>
                </a:solidFill>
              </a:rPr>
              <a:t>Translates live open sockets and CPU/RAM strain into Expected Annual Loss &amp; Hourly Downtime in ₹ INR.</a:t>
            </a:r>
          </a:p>
          <a:p>
            <a:pPr>
              <a:spcAft>
                <a:spcPts val="800"/>
              </a:spcAft>
              <a:defRPr sz="1200" b="1">
                <a:solidFill>
                  <a:srgbClr val="F1F5F9"/>
                </a:solidFill>
              </a:defRPr>
            </a:pPr>
            <a:r>
              <a:t>✔ Pareto Knapsack Optimizer: </a:t>
            </a:r>
            <a:r>
              <a:rPr b="0">
                <a:solidFill>
                  <a:srgbClr val="94A3B8"/>
                </a:solidFill>
              </a:rPr>
              <a:t>Takes exact college budget (e.g. ₹25 Lakhs) and calculates optimal portfolio yielding peak ROSI.</a:t>
            </a:r>
          </a:p>
          <a:p>
            <a:pPr>
              <a:spcAft>
                <a:spcPts val="800"/>
              </a:spcAft>
              <a:defRPr sz="1200" b="1">
                <a:solidFill>
                  <a:srgbClr val="F1F5F9"/>
                </a:solidFill>
              </a:defRPr>
            </a:pPr>
            <a:r>
              <a:t>✔ SHA-256 Merkle Blockchain Ledger: </a:t>
            </a:r>
            <a:r>
              <a:rPr b="0">
                <a:solidFill>
                  <a:srgbClr val="94A3B8"/>
                </a:solidFill>
              </a:rPr>
              <a:t>Every audit log and risk score is cryptographically chained with Proof-of-Work; impossible to tamper.</a:t>
            </a:r>
          </a:p>
          <a:p>
            <a:pPr>
              <a:spcAft>
                <a:spcPts val="800"/>
              </a:spcAft>
              <a:defRPr sz="1200" b="1">
                <a:solidFill>
                  <a:srgbClr val="F1F5F9"/>
                </a:solidFill>
              </a:defRPr>
            </a:pPr>
            <a:r>
              <a:t>✔ Zero-Trust Auto-Lock &amp; Touchless Gestures: </a:t>
            </a:r>
            <a:r>
              <a:rPr b="0">
                <a:solidFill>
                  <a:srgbClr val="94A3B8"/>
                </a:solidFill>
              </a:rPr>
              <a:t>YOLOv8 presence auto-locks Windows if operator departs; MediaPipe enables 100% touchless OS navigation.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SMART INDIA HACKATHON 2026 | PS ID: SIH26105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02. Technical Architecture &amp; 10 Autonomous Subsystems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31B2C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22D3EE"/>
                </a:solidFill>
              </a:defRPr>
            </a:pPr>
            <a:r>
              <a:t>LAYER 1: PRESENTATION &amp; SOC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React 19 + Vite Supercharged Frontend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Unified 10-Engine SOC Command Center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Real-Time Threat Telemetry Feeds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Global Quick Action Palette (Ctrl+K)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Web Biometric Facial Auth (face-api.js)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Procedural Cyber Synthesizer Audio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Instant Executive PDF Audit Generator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31B2C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LAYER 2: COMPUTATIONAL CORE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Python FastAPI Async Micro-Kernel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FAIR Quantitative Loss Formulation in ₹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Pareto Knapsack Security Optimizer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Attack Surface &amp; Open Socket Sentinel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MITRE ATT&amp;CK Scenario Simulator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Sensitive File Scanner (Aadhaar/PAN/Keys)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Automated Quarantine Isolation Vault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31B2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LAYER 3: TRUST &amp; AI ENGINES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YOLOv8 Nano Presence &amp; Auto-Lock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MediaPipe 0.10 Touchless Hand Mouse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SHA-256 Merkle Blockchain Ledger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Cryptographic Proof-of-Work (PoW)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Tamper Detection &amp; Auto Consensus Restore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SQLite 3 WAL Mode Database Hub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Zero Cloud Dependency (100% Local-First)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SMART INDIA HACKATHON 2026 | PS ID: SIH26105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03. Mathematical Formulation &amp; Algorithmic Rigor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131B2C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1. ACTUARIAL FINANCIAL RISK (FAIR STANDARD)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EAL (₹) = TEF × Vulnerability Factor × Loss Magnitude (₹) | Value at Risk (VaR 95%)</a:t>
            </a:r>
            <a:br/>
            <a:r>
              <a:t>Hourly Disruption Cost = Active Sockets × Baseline Compute Rate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Replaces unquantified CVE scores with definitive INR liability &amp; Value at Risk (VaR) figures understood by CFOs/Directors.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31B2C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2. PARETO KNAPSACK INVESTMENT OPTIMIZER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ROSI (%) = [ (Mitigated Risk Loss × Efficacy) - Cost ] / Cost × 100</a:t>
            </a:r>
            <a:br/>
            <a:r>
              <a:t>Budget Constraint: Σ(Costs) ≤ Institutional Budget (e.g. ₹1 Crore)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Dynamic programming Pareto frontier reveals diminishing returns &amp; optimal spend zones for board-level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2286000"/>
          </a:xfrm>
          <a:prstGeom prst="roundRect">
            <a:avLst/>
          </a:prstGeom>
          <a:solidFill>
            <a:srgbClr val="131B2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3. CRYPTOGRAPHIC IMMUTABILITY &amp; LIGHTWEIGHT CPU EFFICIENCY</a:t>
            </a:r>
          </a:p>
          <a:p>
            <a:pPr>
              <a:spcAft>
                <a:spcPts val="400"/>
              </a:spcAft>
              <a:defRPr sz="1100" b="1">
                <a:solidFill>
                  <a:srgbClr val="F1F5F9"/>
                </a:solidFill>
              </a:defRPr>
            </a:pPr>
            <a:r>
              <a:t>• Merkle Root Verification: </a:t>
            </a:r>
            <a:r>
              <a:rPr b="0">
                <a:solidFill>
                  <a:srgbClr val="94A3B8"/>
                </a:solidFill>
              </a:rPr>
              <a:t>Block Hash = SHA256(Block_Index + Prev_Hash + Merkle_Root + Nonce + Timestamp). Modifying 1 byte triggers immediate chain invalidation.</a:t>
            </a:r>
          </a:p>
          <a:p>
            <a:pPr>
              <a:spcAft>
                <a:spcPts val="400"/>
              </a:spcAft>
              <a:defRPr sz="1100" b="1">
                <a:solidFill>
                  <a:srgbClr val="F1F5F9"/>
                </a:solidFill>
              </a:defRPr>
            </a:pPr>
            <a:r>
              <a:t>• Sub-30ms Inference Latency: </a:t>
            </a:r>
            <a:r>
              <a:rPr b="0">
                <a:solidFill>
                  <a:srgbClr val="94A3B8"/>
                </a:solidFill>
              </a:rPr>
              <a:t>Runs YOLOv8-Nano &amp; MediaPipe on standard Intel i3/i5 quad-core CPUs (&lt;45% utilization, &lt;350MB RAM).</a:t>
            </a:r>
          </a:p>
          <a:p>
            <a:pPr>
              <a:spcAft>
                <a:spcPts val="400"/>
              </a:spcAft>
              <a:defRPr sz="1100" b="1">
                <a:solidFill>
                  <a:srgbClr val="F1F5F9"/>
                </a:solidFill>
              </a:defRPr>
            </a:pPr>
            <a:r>
              <a:t>• Zero Cloud Recurring Fees: </a:t>
            </a:r>
            <a:r>
              <a:rPr b="0">
                <a:solidFill>
                  <a:srgbClr val="94A3B8"/>
                </a:solidFill>
              </a:rPr>
              <a:t>Requires no Azure/AWS GPU clusters; ideal for budget-constrained educational institutions.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SMART INDIA HACKATHON 2026 | PS ID: SIH26105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04. Impact, Scalability &amp; Campus Deployment for AICTE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31B2C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200"/>
              </a:spcAft>
              <a:defRPr sz="1600" b="1">
                <a:solidFill>
                  <a:srgbClr val="22D3EE"/>
                </a:solidFill>
              </a:defRPr>
            </a:pPr>
            <a:r>
              <a:t>CAMPUS-WIDE SCALE &amp; REAL-WORLD VALUE</a:t>
            </a:r>
          </a:p>
          <a:p>
            <a:pPr>
              <a:spcAft>
                <a:spcPts val="800"/>
              </a:spcAft>
              <a:defRPr sz="1100" b="1">
                <a:solidFill>
                  <a:srgbClr val="F1F5F9"/>
                </a:solidFill>
              </a:defRPr>
            </a:pPr>
            <a:r>
              <a:t>✔ 10,000+ Colleges Addressed:</a:t>
            </a:r>
            <a:br/>
            <a:r>
              <a:t>   </a:t>
            </a:r>
            <a:r>
              <a:rPr b="0">
                <a:solidFill>
                  <a:srgbClr val="94A3B8"/>
                </a:solidFill>
              </a:rPr>
              <a:t>AICTE technical colleges face an average of 5,100+ cyber attack attempts per week in India.</a:t>
            </a:r>
          </a:p>
          <a:p>
            <a:pPr>
              <a:spcAft>
                <a:spcPts val="800"/>
              </a:spcAft>
              <a:defRPr sz="1100" b="1">
                <a:solidFill>
                  <a:srgbClr val="F1F5F9"/>
                </a:solidFill>
              </a:defRPr>
            </a:pPr>
            <a:r>
              <a:t>✔ Replaces Costly Foreign Suites:</a:t>
            </a:r>
            <a:br/>
            <a:r>
              <a:t>   </a:t>
            </a:r>
            <a:r>
              <a:rPr b="0">
                <a:solidFill>
                  <a:srgbClr val="94A3B8"/>
                </a:solidFill>
              </a:rPr>
              <a:t>Traditional enterprise SIEM/GRC suites cost ₹30L - ₹60L/year per college. AURA provides a local-first alternative with zero license fees.</a:t>
            </a:r>
          </a:p>
          <a:p>
            <a:pPr>
              <a:spcAft>
                <a:spcPts val="800"/>
              </a:spcAft>
              <a:defRPr sz="1100" b="1">
                <a:solidFill>
                  <a:srgbClr val="F1F5F9"/>
                </a:solidFill>
              </a:defRPr>
            </a:pPr>
            <a:r>
              <a:t>✔ Empowers Non-Technical Leadership:</a:t>
            </a:r>
            <a:br/>
            <a:r>
              <a:t>   </a:t>
            </a:r>
            <a:r>
              <a:rPr b="0">
                <a:solidFill>
                  <a:srgbClr val="94A3B8"/>
                </a:solidFill>
              </a:rPr>
              <a:t>Principals &amp; Registrars can see exact rupee liabilities and authorize cybersecurity budget with confidence.</a:t>
            </a:r>
          </a:p>
          <a:p>
            <a:pPr>
              <a:spcAft>
                <a:spcPts val="800"/>
              </a:spcAft>
              <a:defRPr sz="1100" b="1">
                <a:solidFill>
                  <a:srgbClr val="F1F5F9"/>
                </a:solidFill>
              </a:defRPr>
            </a:pPr>
            <a:r>
              <a:t>✔ Air-Gapped Lab Security:</a:t>
            </a:r>
            <a:br/>
            <a:r>
              <a:t>   </a:t>
            </a:r>
            <a:r>
              <a:rPr b="0">
                <a:solidFill>
                  <a:srgbClr val="94A3B8"/>
                </a:solidFill>
              </a:rPr>
              <a:t>Operates completely offline without internet telemetry leakage, safeguarding sensitive university research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31B2C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200"/>
              </a:spcAft>
              <a:defRPr sz="1600" b="1">
                <a:solidFill>
                  <a:srgbClr val="34D399"/>
                </a:solidFill>
              </a:defRPr>
            </a:pPr>
            <a:r>
              <a:t>DECENTRALIZED CONSENSUS ARCHITECTURE</a:t>
            </a:r>
          </a:p>
          <a:p>
            <a:pPr>
              <a:spcAft>
                <a:spcPts val="800"/>
              </a:spcAft>
              <a:defRPr sz="1100" b="1">
                <a:solidFill>
                  <a:srgbClr val="F1F5F9"/>
                </a:solidFill>
              </a:defRPr>
            </a:pPr>
            <a:r>
              <a:t>⛓ Node 01: AICTE HQ Sentinel (Master)</a:t>
            </a:r>
            <a:br/>
            <a:r>
              <a:t>   </a:t>
            </a:r>
            <a:r>
              <a:rPr b="0">
                <a:solidFill>
                  <a:srgbClr val="94A3B8"/>
                </a:solidFill>
              </a:rPr>
              <a:t>Maintains national risk ledger, sets security benchmark baselines, and distributes global threat advisories.</a:t>
            </a:r>
          </a:p>
          <a:p>
            <a:pPr>
              <a:spcAft>
                <a:spcPts val="800"/>
              </a:spcAft>
              <a:defRPr sz="1100" b="1">
                <a:solidFill>
                  <a:srgbClr val="F1F5F9"/>
                </a:solidFill>
              </a:defRPr>
            </a:pPr>
            <a:r>
              <a:t>⛓ Node 02: IIT Delhi Regional Validator</a:t>
            </a:r>
            <a:br/>
            <a:r>
              <a:t>   </a:t>
            </a:r>
            <a:r>
              <a:rPr b="0">
                <a:solidFill>
                  <a:srgbClr val="94A3B8"/>
                </a:solidFill>
              </a:rPr>
              <a:t>Validates consensus blocks, performs independent Merkle verification, and executes AI audit models.</a:t>
            </a:r>
          </a:p>
          <a:p>
            <a:pPr>
              <a:spcAft>
                <a:spcPts val="800"/>
              </a:spcAft>
              <a:defRPr sz="1100" b="1">
                <a:solidFill>
                  <a:srgbClr val="F1F5F9"/>
                </a:solidFill>
              </a:defRPr>
            </a:pPr>
            <a:r>
              <a:t>⛓ Node 03: NIT Surathkal Regional Auditor</a:t>
            </a:r>
            <a:br/>
            <a:r>
              <a:t>   </a:t>
            </a:r>
            <a:r>
              <a:rPr b="0">
                <a:solidFill>
                  <a:srgbClr val="94A3B8"/>
                </a:solidFill>
              </a:rPr>
              <a:t>Maintains independent distributed ledger mirror, ensuring zero single point of failure across Indian campuses.</a:t>
            </a:r>
          </a:p>
          <a:p>
            <a:pPr>
              <a:spcAft>
                <a:spcPts val="800"/>
              </a:spcAft>
              <a:defRPr sz="1100" b="1">
                <a:solidFill>
                  <a:srgbClr val="F1F5F9"/>
                </a:solidFill>
              </a:defRPr>
            </a:pPr>
            <a:r>
              <a:t>⛓ Instant Cross-Campus Threat Sharing:</a:t>
            </a:r>
            <a:br/>
            <a:r>
              <a:t>   </a:t>
            </a:r>
            <a:r>
              <a:rPr b="0">
                <a:solidFill>
                  <a:srgbClr val="94A3B8"/>
                </a:solidFill>
              </a:rPr>
              <a:t>An attack detected at one university is hashed and committed to blockchain in &lt;5ms, immediately immunizing all peer campuses.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SMART INDIA HACKATHON 2026 | PS ID: SIH26105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05. Regulatory Standards &amp; Live Demonstration Playbook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31B2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200"/>
              </a:spcAft>
              <a:defRPr sz="1600" b="1">
                <a:solidFill>
                  <a:srgbClr val="FBBF24"/>
                </a:solidFill>
              </a:defRPr>
            </a:pPr>
            <a:r>
              <a:t>MANDATORY COMPLIANCE ALIGNMENT</a:t>
            </a:r>
          </a:p>
          <a:p>
            <a:pPr>
              <a:spcAft>
                <a:spcPts val="800"/>
              </a:spcAft>
              <a:defRPr sz="1100" b="1">
                <a:solidFill>
                  <a:srgbClr val="F1F5F9"/>
                </a:solidFill>
              </a:defRPr>
            </a:pPr>
            <a:r>
              <a:t>📜 RBI &amp; SEBI Cyber Resilience Frameworks:</a:t>
            </a:r>
            <a:br/>
            <a:r>
              <a:t>   </a:t>
            </a:r>
            <a:r>
              <a:rPr b="0">
                <a:solidFill>
                  <a:srgbClr val="94A3B8"/>
                </a:solidFill>
              </a:rPr>
              <a:t>Native regulatory control mapping, risk threshold alerting, and board-level risk posture reporting.</a:t>
            </a:r>
          </a:p>
          <a:p>
            <a:pPr>
              <a:spcAft>
                <a:spcPts val="800"/>
              </a:spcAft>
              <a:defRPr sz="1100" b="1">
                <a:solidFill>
                  <a:srgbClr val="F1F5F9"/>
                </a:solidFill>
              </a:defRPr>
            </a:pPr>
            <a:r>
              <a:t>📜 ISO/IEC 27001 &amp; NIST CSF 2.0 &amp; CIS Controls:</a:t>
            </a:r>
            <a:br/>
            <a:r>
              <a:t>   </a:t>
            </a:r>
            <a:r>
              <a:rPr b="0">
                <a:solidFill>
                  <a:srgbClr val="94A3B8"/>
                </a:solidFill>
              </a:rPr>
              <a:t>Automated evidence aggregation across Identify, Protect, Detect, Respond, Recover functions.</a:t>
            </a:r>
          </a:p>
          <a:p>
            <a:pPr>
              <a:spcAft>
                <a:spcPts val="800"/>
              </a:spcAft>
              <a:defRPr sz="1100" b="1">
                <a:solidFill>
                  <a:srgbClr val="F1F5F9"/>
                </a:solidFill>
              </a:defRPr>
            </a:pPr>
            <a:r>
              <a:t>📜 CERT-In Directions (April 2022) &amp; DPDP Act 2023:</a:t>
            </a:r>
            <a:br/>
            <a:r>
              <a:t>   </a:t>
            </a:r>
            <a:r>
              <a:rPr b="0">
                <a:solidFill>
                  <a:srgbClr val="94A3B8"/>
                </a:solidFill>
              </a:rPr>
              <a:t>Mandatory 180-day unalterable incident log retention via SHA-256 Merkle blockchain + Indian PII protection.</a:t>
            </a:r>
          </a:p>
          <a:p>
            <a:pPr>
              <a:spcAft>
                <a:spcPts val="800"/>
              </a:spcAft>
              <a:defRPr sz="1100" b="1">
                <a:solidFill>
                  <a:srgbClr val="F1F5F9"/>
                </a:solidFill>
              </a:defRPr>
            </a:pPr>
            <a:r>
              <a:t>📜 MITRE ATT&amp;CK Matrix v15 &amp; What-If Simulations:</a:t>
            </a:r>
            <a:br/>
            <a:r>
              <a:t>   </a:t>
            </a:r>
            <a:r>
              <a:rPr b="0">
                <a:solidFill>
                  <a:srgbClr val="94A3B8"/>
                </a:solidFill>
              </a:rPr>
              <a:t>Real-time threat actor TTP mappings &amp; scenario modeling (e.g. MFA deployment vs 30-day patch delay).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31B2C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200"/>
              </a:spcAft>
              <a:defRPr sz="1600" b="1">
                <a:solidFill>
                  <a:srgbClr val="22D3EE"/>
                </a:solidFill>
              </a:defRPr>
            </a:pPr>
            <a:r>
              <a:t>5-MINUTE LIVE DEMO SEQUENCE</a:t>
            </a:r>
          </a:p>
          <a:p>
            <a:pPr>
              <a:spcAft>
                <a:spcPts val="600"/>
              </a:spcAft>
              <a:defRPr sz="1100" b="1">
                <a:solidFill>
                  <a:srgbClr val="F1F5F9"/>
                </a:solidFill>
              </a:defRPr>
            </a:pPr>
            <a:r>
              <a:t>⏱ Step 1 (0:00 - 1:00): Rupee Risk Quantification</a:t>
            </a:r>
            <a:br/>
            <a:r>
              <a:t>   </a:t>
            </a:r>
            <a:r>
              <a:rPr b="0">
                <a:solidFill>
                  <a:srgbClr val="94A3B8"/>
                </a:solidFill>
              </a:rPr>
              <a:t>Show Module 04 with real-time ₹ Total Loss Exposure &amp; Downtime Hours.</a:t>
            </a:r>
          </a:p>
          <a:p>
            <a:pPr>
              <a:spcAft>
                <a:spcPts val="600"/>
              </a:spcAft>
              <a:defRPr sz="1100" b="1">
                <a:solidFill>
                  <a:srgbClr val="F1F5F9"/>
                </a:solidFill>
              </a:defRPr>
            </a:pPr>
            <a:r>
              <a:t>⏱ Step 2 (1:00 - 2:15): Knapsack Investment Optimizer</a:t>
            </a:r>
            <a:br/>
            <a:r>
              <a:t>   </a:t>
            </a:r>
            <a:r>
              <a:rPr b="0">
                <a:solidFill>
                  <a:srgbClr val="94A3B8"/>
                </a:solidFill>
              </a:rPr>
              <a:t>Enter ₹1,00,000 budget in Module 06; execute Pareto optimization.</a:t>
            </a:r>
          </a:p>
          <a:p>
            <a:pPr>
              <a:spcAft>
                <a:spcPts val="600"/>
              </a:spcAft>
              <a:defRPr sz="1100" b="1">
                <a:solidFill>
                  <a:srgbClr val="F1F5F9"/>
                </a:solidFill>
              </a:defRPr>
            </a:pPr>
            <a:r>
              <a:t>⏱ Step 3 (2:15 - 3:45): Live Blockchain Tamper Attack</a:t>
            </a:r>
            <a:br/>
            <a:r>
              <a:t>   </a:t>
            </a:r>
            <a:r>
              <a:rPr b="0">
                <a:solidFill>
                  <a:srgbClr val="94A3B8"/>
                </a:solidFill>
              </a:rPr>
              <a:t>Module 10: Simulate log tamper attack ➔ instant crimson alert ➔ restore consensus!</a:t>
            </a:r>
          </a:p>
          <a:p>
            <a:pPr>
              <a:spcAft>
                <a:spcPts val="600"/>
              </a:spcAft>
              <a:defRPr sz="1100" b="1">
                <a:solidFill>
                  <a:srgbClr val="F1F5F9"/>
                </a:solidFill>
              </a:defRPr>
            </a:pPr>
            <a:r>
              <a:t>⏱ Step 4 (3:45 - 4:45): Zero-Trust Auto-Lock &amp; Gestures</a:t>
            </a:r>
            <a:br/>
            <a:r>
              <a:t>   </a:t>
            </a:r>
            <a:r>
              <a:rPr b="0">
                <a:solidFill>
                  <a:srgbClr val="94A3B8"/>
                </a:solidFill>
              </a:rPr>
              <a:t>Module 09: Step away from camera (Auto-lock triggers) + ☝️ New Folder, 🤞 Delete File, 🤏 Volume Slide.</a:t>
            </a:r>
          </a:p>
          <a:p>
            <a:pPr>
              <a:spcAft>
                <a:spcPts val="600"/>
              </a:spcAft>
              <a:defRPr sz="1100" b="1">
                <a:solidFill>
                  <a:srgbClr val="F1F5F9"/>
                </a:solidFill>
              </a:defRPr>
            </a:pPr>
            <a:r>
              <a:t>⏱ Step 5 (4:45 - 5:00): Executive PDF Audit Export</a:t>
            </a:r>
            <a:br/>
            <a:r>
              <a:t>   </a:t>
            </a:r>
            <a:r>
              <a:rPr b="0">
                <a:solidFill>
                  <a:srgbClr val="94A3B8"/>
                </a:solidFill>
              </a:rPr>
              <a:t>1-Click PDF download demonstrating board-ready CISO compliance.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