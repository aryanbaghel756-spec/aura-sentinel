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97280" y="822960"/>
            <a:ext cx="9966960" cy="5212080"/>
          </a:xfrm>
          <a:prstGeom prst="roundRect">
            <a:avLst/>
          </a:prstGeom>
          <a:solidFill>
            <a:srgbClr val="131B2C"/>
          </a:solidFill>
          <a:ln w="19050">
            <a:solidFill>
              <a:srgbClr val="00E5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0" rIns="548640" tIns="365760"/>
          <a:lstStyle/>
          <a:p>
            <a:pPr algn="ctr">
              <a:defRPr sz="1300" b="1">
                <a:solidFill>
                  <a:srgbClr val="22D3EE"/>
                </a:solidFill>
              </a:defRPr>
            </a:pPr>
            <a:r>
              <a:t>SMART INDIA HACKATHON 2026</a:t>
            </a:r>
          </a:p>
          <a:p>
            <a:pPr>
              <a:spcAft>
                <a:spcPts val="600"/>
              </a:spcAft>
              <a:defRPr sz="3800" b="1">
                <a:solidFill>
                  <a:srgbClr val="F1F5F9"/>
                </a:solidFill>
              </a:defRPr>
            </a:pPr>
            <a:r>
              <a:t>AURA SENTINEL</a:t>
            </a:r>
          </a:p>
          <a:p>
            <a:pPr>
              <a:spcAft>
                <a:spcPts val="1400"/>
              </a:spcAft>
              <a:defRPr sz="1600" b="1">
                <a:solidFill>
                  <a:srgbClr val="34D399"/>
                </a:solidFill>
              </a:defRPr>
            </a:pPr>
            <a:r>
              <a:t>AI-Powered Continuous Cyber Risk Quantification &amp; Investment Optimization Platform</a:t>
            </a:r>
          </a:p>
          <a:p>
            <a:pPr>
              <a:spcAft>
                <a:spcPts val="300"/>
              </a:spcAft>
              <a:defRPr sz="1100" b="1">
                <a:solidFill>
                  <a:srgbClr val="FBBF24"/>
                </a:solidFill>
              </a:defRPr>
            </a:pPr>
            <a:r>
              <a:t>• Team Name &amp; ID: </a:t>
            </a:r>
            <a:r>
              <a:rPr b="0">
                <a:solidFill>
                  <a:srgbClr val="F1F5F9"/>
                </a:solidFill>
              </a:rPr>
              <a:t>ByteForce_1 (Official SIH Team ID: 180219)</a:t>
            </a:r>
          </a:p>
          <a:p>
            <a:pPr>
              <a:spcAft>
                <a:spcPts val="300"/>
              </a:spcAft>
              <a:defRPr sz="1100" b="1">
                <a:solidFill>
                  <a:srgbClr val="FBBF24"/>
                </a:solidFill>
              </a:defRPr>
            </a:pPr>
            <a:r>
              <a:t>• College / Institute: </a:t>
            </a:r>
            <a:r>
              <a:rPr b="0">
                <a:solidFill>
                  <a:srgbClr val="F1F5F9"/>
                </a:solidFill>
              </a:rPr>
              <a:t>Skyline Institute of Engineering and Technology, Greater Noida</a:t>
            </a:r>
          </a:p>
          <a:p>
            <a:pPr>
              <a:spcAft>
                <a:spcPts val="300"/>
              </a:spcAft>
              <a:defRPr sz="1100" b="1">
                <a:solidFill>
                  <a:srgbClr val="FBBF24"/>
                </a:solidFill>
              </a:defRPr>
            </a:pPr>
            <a:r>
              <a:t>• Team Members: </a:t>
            </a:r>
            <a:r>
              <a:rPr b="0">
                <a:solidFill>
                  <a:srgbClr val="F1F5F9"/>
                </a:solidFill>
              </a:rPr>
              <a:t>Aryan Baghel (Lead), Kirti, Hitesh Chauhan, Avinav Jha, Sharim Khan, Aman Sekh</a:t>
            </a:r>
          </a:p>
          <a:p>
            <a:pPr>
              <a:spcAft>
                <a:spcPts val="300"/>
              </a:spcAft>
              <a:defRPr sz="1100" b="1">
                <a:solidFill>
                  <a:srgbClr val="FBBF24"/>
                </a:solidFill>
              </a:defRPr>
            </a:pPr>
            <a:r>
              <a:t>• Problem Statement ID: </a:t>
            </a:r>
            <a:r>
              <a:rPr b="0">
                <a:solidFill>
                  <a:srgbClr val="F1F5F9"/>
                </a:solidFill>
              </a:rPr>
              <a:t>SIH26105 | Ministry of Education Innovation Cell (MIC) &amp; AICTE Cyber Security Cell</a:t>
            </a:r>
          </a:p>
          <a:p>
            <a:pPr>
              <a:spcAft>
                <a:spcPts val="300"/>
              </a:spcAft>
              <a:defRPr sz="1100" b="1">
                <a:solidFill>
                  <a:srgbClr val="FBBF24"/>
                </a:solidFill>
              </a:defRPr>
            </a:pPr>
            <a:r>
              <a:t>• Theme &amp; Category: </a:t>
            </a:r>
            <a:r>
              <a:rPr b="0">
                <a:solidFill>
                  <a:srgbClr val="F1F5F9"/>
                </a:solidFill>
              </a:rPr>
              <a:t>Blockchain &amp; Cybersecurity (Software Solution)</a:t>
            </a:r>
          </a:p>
          <a:p>
            <a:pPr>
              <a:spcAft>
                <a:spcPts val="300"/>
              </a:spcAft>
              <a:defRPr sz="1100" b="1">
                <a:solidFill>
                  <a:srgbClr val="FBBF24"/>
                </a:solidFill>
              </a:defRPr>
            </a:pPr>
            <a:r>
              <a:t>• Core Mission: </a:t>
            </a:r>
            <a:r>
              <a:rPr b="0">
                <a:solidFill>
                  <a:srgbClr val="F1F5F9"/>
                </a:solidFill>
              </a:rPr>
              <a:t>Correlating technical security telemetry with business asset value to provide continuous financial exposure estimates and budget-constrained defense optimization.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22D3EE"/>
                </a:solidFill>
              </a:defRPr>
            </a:pPr>
            <a:r>
              <a:t>SMART INDIA HACKATHON 2026 | PS ID: SIH26105 | BYTEFORCE_1 (180219)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1F5F9"/>
                </a:solidFill>
              </a:defRPr>
            </a:pPr>
            <a:r>
              <a:t>Slide 02 | The Problem: The Disconnect in Cyber Risk Communication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371600"/>
            <a:ext cx="5120640" cy="4937760"/>
          </a:xfrm>
          <a:prstGeom prst="roundRect">
            <a:avLst/>
          </a:prstGeom>
          <a:solidFill>
            <a:srgbClr val="131B2C"/>
          </a:solidFill>
          <a:ln>
            <a:solidFill>
              <a:srgbClr val="F871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 tIns="365760"/>
          <a:lstStyle/>
          <a:p>
            <a:pPr algn="ctr">
              <a:spcAft>
                <a:spcPts val="1200"/>
              </a:spcAft>
              <a:defRPr sz="1600" b="1">
                <a:solidFill>
                  <a:srgbClr val="F87171"/>
                </a:solidFill>
              </a:defRPr>
            </a:pPr>
            <a:r>
              <a:t>CURRENT INDUSTRY LIMITATIONS</a:t>
            </a:r>
          </a:p>
          <a:p>
            <a:pPr>
              <a:spcAft>
                <a:spcPts val="800"/>
              </a:spcAft>
              <a:defRPr sz="1100" b="1">
                <a:solidFill>
                  <a:srgbClr val="F1F5F9"/>
                </a:solidFill>
              </a:defRPr>
            </a:pPr>
            <a:r>
              <a:t>❌ Qualitative Risk Ratings: </a:t>
            </a:r>
            <a:r>
              <a:rPr b="0">
                <a:solidFill>
                  <a:srgbClr val="94A3B8"/>
                </a:solidFill>
              </a:rPr>
              <a:t>Vulnerability scanners produce labels like 'High', 'Medium', 'Low' which fail to convey actual monetary liability to leadership.</a:t>
            </a:r>
          </a:p>
          <a:p>
            <a:pPr>
              <a:spcAft>
                <a:spcPts val="800"/>
              </a:spcAft>
              <a:defRPr sz="1100" b="1">
                <a:solidFill>
                  <a:srgbClr val="F1F5F9"/>
                </a:solidFill>
              </a:defRPr>
            </a:pPr>
            <a:r>
              <a:t>❌ Stale Risk Registers: </a:t>
            </a:r>
            <a:r>
              <a:rPr b="0">
                <a:solidFill>
                  <a:srgbClr val="94A3B8"/>
                </a:solidFill>
              </a:rPr>
              <a:t>Traditional compliance relies on annual or quarterly manual audits, missing dynamic threat evolution and emerging vulnerabilities.</a:t>
            </a:r>
          </a:p>
          <a:p>
            <a:pPr>
              <a:spcAft>
                <a:spcPts val="800"/>
              </a:spcAft>
              <a:defRPr sz="1100" b="1">
                <a:solidFill>
                  <a:srgbClr val="F1F5F9"/>
                </a:solidFill>
              </a:defRPr>
            </a:pPr>
            <a:r>
              <a:t>❌ Suboptimal Budget Allocation: </a:t>
            </a:r>
            <a:r>
              <a:rPr b="0">
                <a:solidFill>
                  <a:srgbClr val="94A3B8"/>
                </a:solidFill>
              </a:rPr>
              <a:t>Organizations invest in security controls without quantifiable Return on Security Investment (ROSI) metrics.</a:t>
            </a:r>
          </a:p>
          <a:p>
            <a:pPr>
              <a:spcAft>
                <a:spcPts val="800"/>
              </a:spcAft>
              <a:defRPr sz="1100" b="1">
                <a:solidFill>
                  <a:srgbClr val="F1F5F9"/>
                </a:solidFill>
              </a:defRPr>
            </a:pPr>
            <a:r>
              <a:t>❌ Log Vulnerability: </a:t>
            </a:r>
            <a:r>
              <a:rPr b="0">
                <a:solidFill>
                  <a:srgbClr val="94A3B8"/>
                </a:solidFill>
              </a:rPr>
              <a:t>Centralized audit logs in traditional databases remain susceptible to internal modification during a breach investigation.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371600"/>
            <a:ext cx="5212080" cy="4937760"/>
          </a:xfrm>
          <a:prstGeom prst="roundRect">
            <a:avLst/>
          </a:prstGeom>
          <a:solidFill>
            <a:srgbClr val="131B2C"/>
          </a:solidFill>
          <a:ln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 tIns="365760"/>
          <a:lstStyle/>
          <a:p>
            <a:pPr algn="ctr">
              <a:spcAft>
                <a:spcPts val="1200"/>
              </a:spcAft>
              <a:defRPr sz="1600" b="1">
                <a:solidFill>
                  <a:srgbClr val="34D399"/>
                </a:solidFill>
              </a:defRPr>
            </a:pPr>
            <a:r>
              <a:t>THE AURA SENTINEL APPROACH</a:t>
            </a:r>
          </a:p>
          <a:p>
            <a:pPr>
              <a:spcAft>
                <a:spcPts val="800"/>
              </a:spcAft>
              <a:defRPr sz="1100" b="1">
                <a:solidFill>
                  <a:srgbClr val="F1F5F9"/>
                </a:solidFill>
              </a:defRPr>
            </a:pPr>
            <a:r>
              <a:t>✔ Monetary Cyber Risk Translation: </a:t>
            </a:r>
            <a:r>
              <a:rPr b="0">
                <a:solidFill>
                  <a:srgbClr val="94A3B8"/>
                </a:solidFill>
              </a:rPr>
              <a:t>Translates real-time socket exposures, process states, and compute telemetry into prototype Expected Annual Loss (EAL) in ₹ INR.</a:t>
            </a:r>
          </a:p>
          <a:p>
            <a:pPr>
              <a:spcAft>
                <a:spcPts val="800"/>
              </a:spcAft>
              <a:defRPr sz="1100" b="1">
                <a:solidFill>
                  <a:srgbClr val="F1F5F9"/>
                </a:solidFill>
              </a:defRPr>
            </a:pPr>
            <a:r>
              <a:t>✔ Continuous Telemetry Correlation: </a:t>
            </a:r>
            <a:r>
              <a:rPr b="0">
                <a:solidFill>
                  <a:srgbClr val="94A3B8"/>
                </a:solidFill>
              </a:rPr>
              <a:t>Continuously ingests local host metrics and open attack surfaces rather than relying on static questionnaires.</a:t>
            </a:r>
          </a:p>
          <a:p>
            <a:pPr>
              <a:spcAft>
                <a:spcPts val="800"/>
              </a:spcAft>
              <a:defRPr sz="1100" b="1">
                <a:solidFill>
                  <a:srgbClr val="F1F5F9"/>
                </a:solidFill>
              </a:defRPr>
            </a:pPr>
            <a:r>
              <a:t>✔ Budget-Constrained Optimization: </a:t>
            </a:r>
            <a:r>
              <a:rPr b="0">
                <a:solidFill>
                  <a:srgbClr val="94A3B8"/>
                </a:solidFill>
              </a:rPr>
              <a:t>Evaluates candidate defense controls under an explicit institutional budget to maximize risk reduction.</a:t>
            </a:r>
          </a:p>
          <a:p>
            <a:pPr>
              <a:spcAft>
                <a:spcPts val="800"/>
              </a:spcAft>
              <a:defRPr sz="1100" b="1">
                <a:solidFill>
                  <a:srgbClr val="F1F5F9"/>
                </a:solidFill>
              </a:defRPr>
            </a:pPr>
            <a:r>
              <a:t>✔ Tamper-Evident Audit Ledger: </a:t>
            </a:r>
            <a:r>
              <a:rPr b="0">
                <a:solidFill>
                  <a:srgbClr val="94A3B8"/>
                </a:solidFill>
              </a:rPr>
              <a:t>Anchors risk evaluations and mitigation actions in a SHA-256 Merkle blockchain to provide cryptographic audit verification.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22D3EE"/>
                </a:solidFill>
              </a:defRPr>
            </a:pPr>
            <a:r>
              <a:t>SMART INDIA HACKATHON 2026 | PS ID: SIH26105 | BYTEFORCE_1 (180219)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1F5F9"/>
                </a:solidFill>
              </a:defRPr>
            </a:pPr>
            <a:r>
              <a:t>Slide 03 | Core System Workflow: Technical Signals to Executive Decision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3291840" cy="2194560"/>
          </a:xfrm>
          <a:prstGeom prst="roundRect">
            <a:avLst/>
          </a:prstGeom>
          <a:solidFill>
            <a:srgbClr val="131B2C"/>
          </a:solidFill>
          <a:ln w="19050"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274320"/>
          <a:lstStyle/>
          <a:p>
            <a:pPr algn="ctr">
              <a:spcAft>
                <a:spcPts val="800"/>
              </a:spcAft>
              <a:defRPr sz="1300" b="1">
                <a:solidFill>
                  <a:srgbClr val="22D3EE"/>
                </a:solidFill>
              </a:defRPr>
            </a:pPr>
            <a:r>
              <a:t>1. Technical Telemetry</a:t>
            </a:r>
          </a:p>
          <a:p>
            <a:pPr>
              <a:defRPr sz="1100">
                <a:solidFill>
                  <a:srgbClr val="F1F5F9"/>
                </a:solidFill>
              </a:defRPr>
            </a:pPr>
            <a:r>
              <a:t>Host metrics, listening sockets, CPU/RAM stress, and sensitive file exposures.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97680" y="1463040"/>
            <a:ext cx="3291840" cy="2194560"/>
          </a:xfrm>
          <a:prstGeom prst="roundRect">
            <a:avLst/>
          </a:prstGeom>
          <a:solidFill>
            <a:srgbClr val="131B2C"/>
          </a:solidFill>
          <a:ln w="19050"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274320"/>
          <a:lstStyle/>
          <a:p>
            <a:pPr algn="ctr">
              <a:spcAft>
                <a:spcPts val="800"/>
              </a:spcAft>
              <a:defRPr sz="1300" b="1">
                <a:solidFill>
                  <a:srgbClr val="22D3EE"/>
                </a:solidFill>
              </a:defRPr>
            </a:pPr>
            <a:r>
              <a:t>2. Continuous Analysis</a:t>
            </a:r>
          </a:p>
          <a:p>
            <a:pPr>
              <a:defRPr sz="1100">
                <a:solidFill>
                  <a:srgbClr val="F1F5F9"/>
                </a:solidFill>
              </a:defRPr>
            </a:pPr>
            <a:r>
              <a:t>Correlates exposure counts with system vulnerability factors and threat indicators.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863840" y="1463040"/>
            <a:ext cx="3291840" cy="2194560"/>
          </a:xfrm>
          <a:prstGeom prst="roundRect">
            <a:avLst/>
          </a:prstGeom>
          <a:solidFill>
            <a:srgbClr val="131B2C"/>
          </a:solidFill>
          <a:ln w="1905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274320"/>
          <a:lstStyle/>
          <a:p>
            <a:pPr algn="ctr">
              <a:spcAft>
                <a:spcPts val="800"/>
              </a:spcAft>
              <a:defRPr sz="1300" b="1">
                <a:solidFill>
                  <a:srgbClr val="34D399"/>
                </a:solidFill>
              </a:defRPr>
            </a:pPr>
            <a:r>
              <a:t>3. Prototype Exposure</a:t>
            </a:r>
          </a:p>
          <a:p>
            <a:pPr>
              <a:defRPr sz="1100">
                <a:solidFill>
                  <a:srgbClr val="F1F5F9"/>
                </a:solidFill>
              </a:defRPr>
            </a:pPr>
            <a:r>
              <a:t>Computes hourly operational downtime costs and prototype Expected Annual Loss (₹).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3931920"/>
            <a:ext cx="3291840" cy="2194560"/>
          </a:xfrm>
          <a:prstGeom prst="roundRect">
            <a:avLst/>
          </a:prstGeom>
          <a:solidFill>
            <a:srgbClr val="131B2C"/>
          </a:solidFill>
          <a:ln w="1905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274320"/>
          <a:lstStyle/>
          <a:p>
            <a:pPr algn="ctr">
              <a:spcAft>
                <a:spcPts val="800"/>
              </a:spcAft>
              <a:defRPr sz="1300" b="1">
                <a:solidFill>
                  <a:srgbClr val="34D399"/>
                </a:solidFill>
              </a:defRPr>
            </a:pPr>
            <a:r>
              <a:t>4. What-If Scenarios</a:t>
            </a:r>
          </a:p>
          <a:p>
            <a:pPr>
              <a:defRPr sz="1100">
                <a:solidFill>
                  <a:srgbClr val="F1F5F9"/>
                </a:solidFill>
              </a:defRPr>
            </a:pPr>
            <a:r>
              <a:t>Simulates threat scenarios and hypothetical control parameter tuning.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97680" y="3931920"/>
            <a:ext cx="3291840" cy="2194560"/>
          </a:xfrm>
          <a:prstGeom prst="roundRect">
            <a:avLst/>
          </a:prstGeom>
          <a:solidFill>
            <a:srgbClr val="131B2C"/>
          </a:solidFill>
          <a:ln w="19050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274320"/>
          <a:lstStyle/>
          <a:p>
            <a:pPr algn="ctr">
              <a:spcAft>
                <a:spcPts val="800"/>
              </a:spcAft>
              <a:defRPr sz="1300" b="1">
                <a:solidFill>
                  <a:srgbClr val="FBBF24"/>
                </a:solidFill>
              </a:defRPr>
            </a:pPr>
            <a:r>
              <a:t>5. Knapsack Optimizer</a:t>
            </a:r>
          </a:p>
          <a:p>
            <a:pPr>
              <a:defRPr sz="1100">
                <a:solidFill>
                  <a:srgbClr val="F1F5F9"/>
                </a:solidFill>
              </a:defRPr>
            </a:pPr>
            <a:r>
              <a:t>Selects optimal defense packages under explicit budget constraints to maximize ROSI.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863840" y="3931920"/>
            <a:ext cx="3291840" cy="2194560"/>
          </a:xfrm>
          <a:prstGeom prst="roundRect">
            <a:avLst/>
          </a:prstGeom>
          <a:solidFill>
            <a:srgbClr val="131B2C"/>
          </a:solidFill>
          <a:ln w="19050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274320"/>
          <a:lstStyle/>
          <a:p>
            <a:pPr algn="ctr">
              <a:spcAft>
                <a:spcPts val="800"/>
              </a:spcAft>
              <a:defRPr sz="1300" b="1">
                <a:solidFill>
                  <a:srgbClr val="FBBF24"/>
                </a:solidFill>
              </a:defRPr>
            </a:pPr>
            <a:r>
              <a:t>6. Cryptographic Audit</a:t>
            </a:r>
          </a:p>
          <a:p>
            <a:pPr>
              <a:defRPr sz="1100">
                <a:solidFill>
                  <a:srgbClr val="F1F5F9"/>
                </a:solidFill>
              </a:defRPr>
            </a:pPr>
            <a:r>
              <a:t>Records assessments and mitigations into a tamper-evident SHA-256 Merkle ledger.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22D3EE"/>
                </a:solidFill>
              </a:defRPr>
            </a:pPr>
            <a:r>
              <a:t>SMART INDIA HACKATHON 2026 | PS ID: SIH26105 | BYTEFORCE_1 (180219)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1F5F9"/>
                </a:solidFill>
              </a:defRPr>
            </a:pPr>
            <a:r>
              <a:t>Slide 04 | Technical Architecture &amp; Implementation Classification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371600"/>
            <a:ext cx="3383280" cy="4937760"/>
          </a:xfrm>
          <a:prstGeom prst="roundRect">
            <a:avLst/>
          </a:prstGeom>
          <a:solidFill>
            <a:srgbClr val="131B2C"/>
          </a:solidFill>
          <a:ln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274320"/>
          <a:lstStyle/>
          <a:p>
            <a:pPr algn="ctr">
              <a:spcAft>
                <a:spcPts val="800"/>
              </a:spcAft>
              <a:defRPr sz="1300" b="1">
                <a:solidFill>
                  <a:srgbClr val="22D3EE"/>
                </a:solidFill>
              </a:defRPr>
            </a:pPr>
            <a:r>
              <a:t>LAYER 1: PRESENTATION &amp; SOC</a:t>
            </a:r>
          </a:p>
          <a:p>
            <a:pPr>
              <a:spcAft>
                <a:spcPts val="600"/>
              </a:spcAft>
              <a:defRPr sz="1000" b="1">
                <a:solidFill>
                  <a:srgbClr val="F1F5F9"/>
                </a:solidFill>
              </a:defRPr>
            </a:pPr>
            <a:r>
              <a:t>React 19 + Vite SOC Dashboard</a:t>
            </a:r>
            <a:br/>
            <a:r>
              <a:rPr sz="900">
                <a:solidFill>
                  <a:srgbClr val="34D399"/>
                </a:solidFill>
              </a:rPr>
              <a:t>Status: ● IMPLEMENTED</a:t>
            </a:r>
          </a:p>
          <a:p>
            <a:pPr>
              <a:spcAft>
                <a:spcPts val="600"/>
              </a:spcAft>
              <a:defRPr sz="1000" b="1">
                <a:solidFill>
                  <a:srgbClr val="F1F5F9"/>
                </a:solidFill>
              </a:defRPr>
            </a:pPr>
            <a:r>
              <a:t>Live Threat Telemetry &amp; Port Monitor</a:t>
            </a:r>
            <a:br/>
            <a:r>
              <a:rPr sz="900">
                <a:solidFill>
                  <a:srgbClr val="34D399"/>
                </a:solidFill>
              </a:rPr>
              <a:t>Status: ● IMPLEMENTED</a:t>
            </a:r>
          </a:p>
          <a:p>
            <a:pPr>
              <a:spcAft>
                <a:spcPts val="600"/>
              </a:spcAft>
              <a:defRPr sz="1000" b="1">
                <a:solidFill>
                  <a:srgbClr val="F1F5F9"/>
                </a:solidFill>
              </a:defRPr>
            </a:pPr>
            <a:r>
              <a:t>Global Command Palette (Ctrl+K)</a:t>
            </a:r>
            <a:br/>
            <a:r>
              <a:rPr sz="900">
                <a:solidFill>
                  <a:srgbClr val="34D399"/>
                </a:solidFill>
              </a:rPr>
              <a:t>Status: ● IMPLEMENTED</a:t>
            </a:r>
          </a:p>
          <a:p>
            <a:pPr>
              <a:spcAft>
                <a:spcPts val="600"/>
              </a:spcAft>
              <a:defRPr sz="1000" b="1">
                <a:solidFill>
                  <a:srgbClr val="F1F5F9"/>
                </a:solidFill>
              </a:defRPr>
            </a:pPr>
            <a:r>
              <a:t>Executive Audit Report Generator</a:t>
            </a:r>
            <a:br/>
            <a:r>
              <a:rPr sz="900">
                <a:solidFill>
                  <a:srgbClr val="34D399"/>
                </a:solidFill>
              </a:rPr>
              <a:t>Status: ● IMPLEMENTED</a:t>
            </a:r>
          </a:p>
          <a:p>
            <a:pPr>
              <a:spcAft>
                <a:spcPts val="600"/>
              </a:spcAft>
              <a:defRPr sz="1000" b="1">
                <a:solidFill>
                  <a:srgbClr val="F1F5F9"/>
                </a:solidFill>
              </a:defRPr>
            </a:pPr>
            <a:r>
              <a:t>Client Biometric Face Verification</a:t>
            </a:r>
            <a:br/>
            <a:r>
              <a:rPr sz="900">
                <a:solidFill>
                  <a:srgbClr val="FBBF24"/>
                </a:solidFill>
              </a:rPr>
              <a:t>Status: ◐ PROTOTYPE</a:t>
            </a:r>
          </a:p>
          <a:p>
            <a:pPr>
              <a:spcAft>
                <a:spcPts val="600"/>
              </a:spcAft>
              <a:defRPr sz="1000" b="1">
                <a:solidFill>
                  <a:srgbClr val="F1F5F9"/>
                </a:solidFill>
              </a:defRPr>
            </a:pPr>
            <a:r>
              <a:t>Procedural Cyber Audio Cues</a:t>
            </a:r>
            <a:br/>
            <a:r>
              <a:rPr sz="900">
                <a:solidFill>
                  <a:srgbClr val="34D399"/>
                </a:solidFill>
              </a:rPr>
              <a:t>Status: ● IMPLEMENTED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89120" y="1371600"/>
            <a:ext cx="3383280" cy="4937760"/>
          </a:xfrm>
          <a:prstGeom prst="roundRect">
            <a:avLst/>
          </a:prstGeom>
          <a:solidFill>
            <a:srgbClr val="131B2C"/>
          </a:solidFill>
          <a:ln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274320"/>
          <a:lstStyle/>
          <a:p>
            <a:pPr algn="ctr">
              <a:spcAft>
                <a:spcPts val="800"/>
              </a:spcAft>
              <a:defRPr sz="1300" b="1">
                <a:solidFill>
                  <a:srgbClr val="34D399"/>
                </a:solidFill>
              </a:defRPr>
            </a:pPr>
            <a:r>
              <a:t>LAYER 2: COMPUTATIONAL CORE</a:t>
            </a:r>
          </a:p>
          <a:p>
            <a:pPr>
              <a:spcAft>
                <a:spcPts val="600"/>
              </a:spcAft>
              <a:defRPr sz="1000" b="1">
                <a:solidFill>
                  <a:srgbClr val="F1F5F9"/>
                </a:solidFill>
              </a:defRPr>
            </a:pPr>
            <a:r>
              <a:t>FastAPI Async Kernel (Uvicorn)</a:t>
            </a:r>
            <a:br/>
            <a:r>
              <a:rPr sz="900">
                <a:solidFill>
                  <a:srgbClr val="34D399"/>
                </a:solidFill>
              </a:rPr>
              <a:t>Status: ● IMPLEMENTED</a:t>
            </a:r>
          </a:p>
          <a:p>
            <a:pPr>
              <a:spcAft>
                <a:spcPts val="600"/>
              </a:spcAft>
              <a:defRPr sz="1000" b="1">
                <a:solidFill>
                  <a:srgbClr val="F1F5F9"/>
                </a:solidFill>
              </a:defRPr>
            </a:pPr>
            <a:r>
              <a:t>Attack Surface Port Inspector</a:t>
            </a:r>
            <a:br/>
            <a:r>
              <a:rPr sz="900">
                <a:solidFill>
                  <a:srgbClr val="34D399"/>
                </a:solidFill>
              </a:rPr>
              <a:t>Status: ● IMPLEMENTED</a:t>
            </a:r>
          </a:p>
          <a:p>
            <a:pPr>
              <a:spcAft>
                <a:spcPts val="600"/>
              </a:spcAft>
              <a:defRPr sz="1000" b="1">
                <a:solidFill>
                  <a:srgbClr val="F1F5F9"/>
                </a:solidFill>
              </a:defRPr>
            </a:pPr>
            <a:r>
              <a:t>Sensitive Credential Scanner</a:t>
            </a:r>
            <a:br/>
            <a:r>
              <a:rPr sz="900">
                <a:solidFill>
                  <a:srgbClr val="34D399"/>
                </a:solidFill>
              </a:rPr>
              <a:t>Status: ● IMPLEMENTED</a:t>
            </a:r>
          </a:p>
          <a:p>
            <a:pPr>
              <a:spcAft>
                <a:spcPts val="600"/>
              </a:spcAft>
              <a:defRPr sz="1000" b="1">
                <a:solidFill>
                  <a:srgbClr val="F1F5F9"/>
                </a:solidFill>
              </a:defRPr>
            </a:pPr>
            <a:r>
              <a:t>File Isolation Quarantine Vault</a:t>
            </a:r>
            <a:br/>
            <a:r>
              <a:rPr sz="900">
                <a:solidFill>
                  <a:srgbClr val="34D399"/>
                </a:solidFill>
              </a:rPr>
              <a:t>Status: ● IMPLEMENTED</a:t>
            </a:r>
          </a:p>
          <a:p>
            <a:pPr>
              <a:spcAft>
                <a:spcPts val="600"/>
              </a:spcAft>
              <a:defRPr sz="1000" b="1">
                <a:solidFill>
                  <a:srgbClr val="F1F5F9"/>
                </a:solidFill>
              </a:defRPr>
            </a:pPr>
            <a:r>
              <a:t>Prototype Financial Exposure (EAL)</a:t>
            </a:r>
            <a:br/>
            <a:r>
              <a:rPr sz="900">
                <a:solidFill>
                  <a:srgbClr val="FBBF24"/>
                </a:solidFill>
              </a:rPr>
              <a:t>Status: ◐ PROTOTYPE</a:t>
            </a:r>
          </a:p>
          <a:p>
            <a:pPr>
              <a:spcAft>
                <a:spcPts val="600"/>
              </a:spcAft>
              <a:defRPr sz="1000" b="1">
                <a:solidFill>
                  <a:srgbClr val="F1F5F9"/>
                </a:solidFill>
              </a:defRPr>
            </a:pPr>
            <a:r>
              <a:t>Knapsack Investment Optimizer</a:t>
            </a:r>
            <a:br/>
            <a:r>
              <a:rPr sz="900">
                <a:solidFill>
                  <a:srgbClr val="FBBF24"/>
                </a:solidFill>
              </a:rPr>
              <a:t>Status: ◐ PROTOTYPE</a:t>
            </a:r>
          </a:p>
          <a:p>
            <a:pPr>
              <a:spcAft>
                <a:spcPts val="600"/>
              </a:spcAft>
              <a:defRPr sz="1000" b="1">
                <a:solidFill>
                  <a:srgbClr val="F1F5F9"/>
                </a:solidFill>
              </a:defRPr>
            </a:pPr>
            <a:r>
              <a:t>What-If Scenario Simulation Engine</a:t>
            </a:r>
            <a:br/>
            <a:r>
              <a:rPr sz="900">
                <a:solidFill>
                  <a:srgbClr val="34D399"/>
                </a:solidFill>
              </a:rPr>
              <a:t>Status: ● IMPLEMENTED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46720" y="1371600"/>
            <a:ext cx="3383280" cy="4937760"/>
          </a:xfrm>
          <a:prstGeom prst="roundRect">
            <a:avLst/>
          </a:prstGeom>
          <a:solidFill>
            <a:srgbClr val="131B2C"/>
          </a:solidFill>
          <a:ln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274320"/>
          <a:lstStyle/>
          <a:p>
            <a:pPr algn="ctr">
              <a:spcAft>
                <a:spcPts val="800"/>
              </a:spcAft>
              <a:defRPr sz="1300" b="1">
                <a:solidFill>
                  <a:srgbClr val="FBBF24"/>
                </a:solidFill>
              </a:defRPr>
            </a:pPr>
            <a:r>
              <a:t>LAYER 3: TRUST &amp; INTERACTION</a:t>
            </a:r>
          </a:p>
          <a:p>
            <a:pPr>
              <a:spcAft>
                <a:spcPts val="600"/>
              </a:spcAft>
              <a:defRPr sz="1000" b="1">
                <a:solidFill>
                  <a:srgbClr val="F1F5F9"/>
                </a:solidFill>
              </a:defRPr>
            </a:pPr>
            <a:r>
              <a:t>SHA-256 Merkle Risk Ledger</a:t>
            </a:r>
            <a:br/>
            <a:r>
              <a:rPr sz="900">
                <a:solidFill>
                  <a:srgbClr val="34D399"/>
                </a:solidFill>
              </a:rPr>
              <a:t>Status: ● IMPLEMENTED</a:t>
            </a:r>
          </a:p>
          <a:p>
            <a:pPr>
              <a:spcAft>
                <a:spcPts val="600"/>
              </a:spcAft>
              <a:defRPr sz="1000" b="1">
                <a:solidFill>
                  <a:srgbClr val="F1F5F9"/>
                </a:solidFill>
              </a:defRPr>
            </a:pPr>
            <a:r>
              <a:t>Proof-of-Work Mining Engine</a:t>
            </a:r>
            <a:br/>
            <a:r>
              <a:rPr sz="900">
                <a:solidFill>
                  <a:srgbClr val="34D399"/>
                </a:solidFill>
              </a:rPr>
              <a:t>Status: ● IMPLEMENTED</a:t>
            </a:r>
          </a:p>
          <a:p>
            <a:pPr>
              <a:spcAft>
                <a:spcPts val="600"/>
              </a:spcAft>
              <a:defRPr sz="1000" b="1">
                <a:solidFill>
                  <a:srgbClr val="F1F5F9"/>
                </a:solidFill>
              </a:defRPr>
            </a:pPr>
            <a:r>
              <a:t>Tamper Detection &amp; Verification</a:t>
            </a:r>
            <a:br/>
            <a:r>
              <a:rPr sz="900">
                <a:solidFill>
                  <a:srgbClr val="34D399"/>
                </a:solidFill>
              </a:rPr>
              <a:t>Status: ● IMPLEMENTED</a:t>
            </a:r>
          </a:p>
          <a:p>
            <a:pPr>
              <a:spcAft>
                <a:spcPts val="600"/>
              </a:spcAft>
              <a:defRPr sz="1000" b="1">
                <a:solidFill>
                  <a:srgbClr val="F1F5F9"/>
                </a:solidFill>
              </a:defRPr>
            </a:pPr>
            <a:r>
              <a:t>SQLite 3 WAL Mode Storage Hub</a:t>
            </a:r>
            <a:br/>
            <a:r>
              <a:rPr sz="900">
                <a:solidFill>
                  <a:srgbClr val="34D399"/>
                </a:solidFill>
              </a:rPr>
              <a:t>Status: ● IMPLEMENTED</a:t>
            </a:r>
          </a:p>
          <a:p>
            <a:pPr>
              <a:spcAft>
                <a:spcPts val="600"/>
              </a:spcAft>
              <a:defRPr sz="1000" b="1">
                <a:solidFill>
                  <a:srgbClr val="F1F5F9"/>
                </a:solidFill>
              </a:defRPr>
            </a:pPr>
            <a:r>
              <a:t>YOLOv8 Operator Presence Lock</a:t>
            </a:r>
            <a:br/>
            <a:r>
              <a:rPr sz="900">
                <a:solidFill>
                  <a:srgbClr val="34D399"/>
                </a:solidFill>
              </a:rPr>
              <a:t>Status: ● IMPLEMENTED</a:t>
            </a:r>
          </a:p>
          <a:p>
            <a:pPr>
              <a:spcAft>
                <a:spcPts val="600"/>
              </a:spcAft>
              <a:defRPr sz="1000" b="1">
                <a:solidFill>
                  <a:srgbClr val="F1F5F9"/>
                </a:solidFill>
              </a:defRPr>
            </a:pPr>
            <a:r>
              <a:t>MediaPipe Touchless Gesture Control</a:t>
            </a:r>
            <a:br/>
            <a:r>
              <a:rPr sz="900">
                <a:solidFill>
                  <a:srgbClr val="34D399"/>
                </a:solidFill>
              </a:rPr>
              <a:t>Status: ● IMPLEMENTED</a:t>
            </a:r>
          </a:p>
          <a:p>
            <a:pPr>
              <a:spcAft>
                <a:spcPts val="600"/>
              </a:spcAft>
              <a:defRPr sz="1000" b="1">
                <a:solidFill>
                  <a:srgbClr val="F1F5F9"/>
                </a:solidFill>
              </a:defRPr>
            </a:pPr>
            <a:r>
              <a:t>Value at Risk (Monte Carlo VaR)</a:t>
            </a:r>
            <a:br/>
            <a:r>
              <a:rPr sz="900">
                <a:solidFill>
                  <a:srgbClr val="22D3EE"/>
                </a:solidFill>
              </a:rPr>
              <a:t>Status: ○ FUTURE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22D3EE"/>
                </a:solidFill>
              </a:defRPr>
            </a:pPr>
            <a:r>
              <a:t>SMART INDIA HACKATHON 2026 | PS ID: SIH26105 | BYTEFORCE_1 (180219)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1F5F9"/>
                </a:solidFill>
              </a:defRPr>
            </a:pPr>
            <a:r>
              <a:t>Slide 05 | Attack Surface Telemetry &amp; Risk Scoring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371600"/>
            <a:ext cx="5120640" cy="4937760"/>
          </a:xfrm>
          <a:prstGeom prst="roundRect">
            <a:avLst/>
          </a:prstGeom>
          <a:solidFill>
            <a:srgbClr val="131B2C"/>
          </a:solidFill>
          <a:ln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 tIns="365760"/>
          <a:lstStyle/>
          <a:p>
            <a:pPr algn="ctr">
              <a:spcAft>
                <a:spcPts val="1000"/>
              </a:spcAft>
              <a:defRPr sz="1400" b="1">
                <a:solidFill>
                  <a:srgbClr val="22D3EE"/>
                </a:solidFill>
              </a:defRPr>
            </a:pPr>
            <a:r>
              <a:t>HOST TELEMETRY INGESTION (IMPLEMENTED)</a:t>
            </a:r>
          </a:p>
          <a:p>
            <a:pPr>
              <a:spcAft>
                <a:spcPts val="800"/>
              </a:spcAft>
              <a:defRPr sz="1100" b="1">
                <a:solidFill>
                  <a:srgbClr val="F1F5F9"/>
                </a:solidFill>
              </a:defRPr>
            </a:pPr>
            <a:r>
              <a:t>• Active Socket Inspection: </a:t>
            </a:r>
            <a:r>
              <a:rPr b="0">
                <a:solidFill>
                  <a:srgbClr val="94A3B8"/>
                </a:solidFill>
              </a:rPr>
              <a:t>Queries network socket table via psutil, isolating listening ports and tracking bound IP interfaces.</a:t>
            </a:r>
          </a:p>
          <a:p>
            <a:pPr>
              <a:spcAft>
                <a:spcPts val="800"/>
              </a:spcAft>
              <a:defRPr sz="1100" b="1">
                <a:solidFill>
                  <a:srgbClr val="F1F5F9"/>
                </a:solidFill>
              </a:defRPr>
            </a:pPr>
            <a:r>
              <a:t>• Port Threat Categorization: </a:t>
            </a:r>
            <a:r>
              <a:rPr b="0">
                <a:solidFill>
                  <a:srgbClr val="94A3B8"/>
                </a:solidFill>
              </a:rPr>
              <a:t>Heuristically maps sensitive ports (e.g. 22 SSH, 3389 RDP, 445 SMB) vs standard application ports.</a:t>
            </a:r>
          </a:p>
          <a:p>
            <a:pPr>
              <a:spcAft>
                <a:spcPts val="800"/>
              </a:spcAft>
              <a:defRPr sz="1100" b="1">
                <a:solidFill>
                  <a:srgbClr val="F1F5F9"/>
                </a:solidFill>
              </a:defRPr>
            </a:pPr>
            <a:r>
              <a:t>• Resource Stress Telemetry: </a:t>
            </a:r>
            <a:r>
              <a:rPr b="0">
                <a:solidFill>
                  <a:srgbClr val="94A3B8"/>
                </a:solidFill>
              </a:rPr>
              <a:t>Monitors CPU percent, virtual memory usage, and disk saturation as stability and availability factors.</a:t>
            </a:r>
          </a:p>
          <a:p>
            <a:pPr>
              <a:spcAft>
                <a:spcPts val="800"/>
              </a:spcAft>
              <a:defRPr sz="1100" b="1">
                <a:solidFill>
                  <a:srgbClr val="F1F5F9"/>
                </a:solidFill>
              </a:defRPr>
            </a:pPr>
            <a:r>
              <a:t>• Active Port Remediation: </a:t>
            </a:r>
            <a:r>
              <a:rPr b="0">
                <a:solidFill>
                  <a:srgbClr val="94A3B8"/>
                </a:solidFill>
              </a:rPr>
              <a:t>Includes prototype capability to terminate rogue listening processes or suppress non-critical noise.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371600"/>
            <a:ext cx="5212080" cy="4937760"/>
          </a:xfrm>
          <a:prstGeom prst="roundRect">
            <a:avLst/>
          </a:prstGeom>
          <a:solidFill>
            <a:srgbClr val="131B2C"/>
          </a:solidFill>
          <a:ln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 tIns="365760"/>
          <a:lstStyle/>
          <a:p>
            <a:pPr algn="ctr">
              <a:spcAft>
                <a:spcPts val="1000"/>
              </a:spcAft>
              <a:defRPr sz="1400" b="1">
                <a:solidFill>
                  <a:srgbClr val="34D399"/>
                </a:solidFill>
              </a:defRPr>
            </a:pPr>
            <a:r>
              <a:t>WEIGHTED RISK SCORING MODEL</a:t>
            </a:r>
          </a:p>
          <a:p>
            <a:pPr>
              <a:spcAft>
                <a:spcPts val="800"/>
              </a:spcAft>
              <a:defRPr sz="1200" b="1">
                <a:solidFill>
                  <a:srgbClr val="F1F5F9"/>
                </a:solidFill>
              </a:defRPr>
            </a:pPr>
            <a:r>
              <a:t>Technical Risk Score = f(Open Ports, CPU, RAM, Disk)</a:t>
            </a:r>
          </a:p>
          <a:p>
            <a:pPr>
              <a:spcAft>
                <a:spcPts val="600"/>
              </a:spcAft>
              <a:defRPr sz="1000" b="1">
                <a:solidFill>
                  <a:srgbClr val="F1F5F9"/>
                </a:solidFill>
              </a:defRPr>
            </a:pPr>
            <a:r>
              <a:t>✔ Port Exposure Factor: </a:t>
            </a:r>
            <a:r>
              <a:rPr b="0">
                <a:solidFill>
                  <a:srgbClr val="94A3B8"/>
                </a:solidFill>
              </a:rPr>
              <a:t>Up to 30 points based on listening socket count (&gt;15 ports = +30, &gt;8 ports = +20, &gt;3 ports = +10).</a:t>
            </a:r>
          </a:p>
          <a:p>
            <a:pPr>
              <a:spcAft>
                <a:spcPts val="600"/>
              </a:spcAft>
              <a:defRPr sz="1000" b="1">
                <a:solidFill>
                  <a:srgbClr val="F1F5F9"/>
                </a:solidFill>
              </a:defRPr>
            </a:pPr>
            <a:r>
              <a:t>✔ Compute Stress Factor: </a:t>
            </a:r>
            <a:r>
              <a:rPr b="0">
                <a:solidFill>
                  <a:srgbClr val="94A3B8"/>
                </a:solidFill>
              </a:rPr>
              <a:t>Up to 25 points for sustained CPU utilization (&gt;90% = +25, &gt;75% = +15).</a:t>
            </a:r>
          </a:p>
          <a:p>
            <a:pPr>
              <a:spcAft>
                <a:spcPts val="600"/>
              </a:spcAft>
              <a:defRPr sz="1000" b="1">
                <a:solidFill>
                  <a:srgbClr val="F1F5F9"/>
                </a:solidFill>
              </a:defRPr>
            </a:pPr>
            <a:r>
              <a:t>✔ Memory Exhaustion Factor: </a:t>
            </a:r>
            <a:r>
              <a:rPr b="0">
                <a:solidFill>
                  <a:srgbClr val="94A3B8"/>
                </a:solidFill>
              </a:rPr>
              <a:t>Up to 25 points for virtual memory saturation (&gt;90% = +25, &gt;80% = +15).</a:t>
            </a:r>
          </a:p>
          <a:p>
            <a:pPr>
              <a:spcAft>
                <a:spcPts val="600"/>
              </a:spcAft>
              <a:defRPr sz="1000" b="1">
                <a:solidFill>
                  <a:srgbClr val="F1F5F9"/>
                </a:solidFill>
              </a:defRPr>
            </a:pPr>
            <a:r>
              <a:t>✔ Storage Saturation Factor: </a:t>
            </a:r>
            <a:r>
              <a:rPr b="0">
                <a:solidFill>
                  <a:srgbClr val="94A3B8"/>
                </a:solidFill>
              </a:rPr>
              <a:t>Up to 20 points for critical disk capacity (&gt;95% = +20, &gt;85% = +12).</a:t>
            </a:r>
          </a:p>
          <a:p>
            <a:pPr>
              <a:spcAft>
                <a:spcPts val="600"/>
              </a:spcAft>
              <a:defRPr sz="1000" b="1">
                <a:solidFill>
                  <a:srgbClr val="F1F5F9"/>
                </a:solidFill>
              </a:defRPr>
            </a:pPr>
            <a:r>
              <a:t>✔ Threshold Normalization: </a:t>
            </a:r>
            <a:r>
              <a:rPr b="0">
                <a:solidFill>
                  <a:srgbClr val="94A3B8"/>
                </a:solidFill>
              </a:rPr>
              <a:t>Clamped to 0–100 scale, categorizing system state into LOW, MODERATE, or HIGH risk.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22D3EE"/>
                </a:solidFill>
              </a:defRPr>
            </a:pPr>
            <a:r>
              <a:t>SMART INDIA HACKATHON 2026 | PS ID: SIH26105 | BYTEFORCE_1 (180219)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1F5F9"/>
                </a:solidFill>
              </a:defRPr>
            </a:pPr>
            <a:r>
              <a:t>Slide 06 | Prototype Financial Risk &amp; Exposure Modeling (FAIR Grounded)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371600"/>
            <a:ext cx="5120640" cy="4937760"/>
          </a:xfrm>
          <a:prstGeom prst="roundRect">
            <a:avLst/>
          </a:prstGeom>
          <a:solidFill>
            <a:srgbClr val="131B2C"/>
          </a:solidFill>
          <a:ln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 tIns="365760"/>
          <a:lstStyle/>
          <a:p>
            <a:pPr algn="ctr">
              <a:spcAft>
                <a:spcPts val="1000"/>
              </a:spcAft>
              <a:defRPr sz="1400" b="1">
                <a:solidFill>
                  <a:srgbClr val="FBBF24"/>
                </a:solidFill>
              </a:defRPr>
            </a:pPr>
            <a:r>
              <a:t>PROTOTYPE FORMULATION IN ₹ INR</a:t>
            </a:r>
          </a:p>
          <a:p>
            <a:pPr>
              <a:spcAft>
                <a:spcPts val="600"/>
              </a:spcAft>
              <a:defRPr sz="1000" b="1">
                <a:solidFill>
                  <a:srgbClr val="F1F5F9"/>
                </a:solidFill>
              </a:defRPr>
            </a:pPr>
            <a:r>
              <a:t>• Base Operational Loss Rate: </a:t>
            </a:r>
            <a:r>
              <a:rPr b="0">
                <a:solidFill>
                  <a:srgbClr val="94A3B8"/>
                </a:solidFill>
              </a:rPr>
              <a:t>Calibrated at ₹15,000/hr as an illustrative enterprise baseline rate.</a:t>
            </a:r>
          </a:p>
          <a:p>
            <a:pPr>
              <a:spcAft>
                <a:spcPts val="600"/>
              </a:spcAft>
              <a:defRPr sz="1000" b="1">
                <a:solidFill>
                  <a:srgbClr val="F1F5F9"/>
                </a:solidFill>
              </a:defRPr>
            </a:pPr>
            <a:r>
              <a:t>• Risk-Adjusted Hourly Loss: </a:t>
            </a:r>
            <a:r>
              <a:rPr b="0">
                <a:solidFill>
                  <a:srgbClr val="94A3B8"/>
                </a:solidFill>
              </a:rPr>
              <a:t>Hourly Loss = ₹15,000 × (1.0 + Technical_Risk_Score / 100).</a:t>
            </a:r>
          </a:p>
          <a:p>
            <a:pPr>
              <a:spcAft>
                <a:spcPts val="600"/>
              </a:spcAft>
              <a:defRPr sz="1000" b="1">
                <a:solidFill>
                  <a:srgbClr val="F1F5F9"/>
                </a:solidFill>
              </a:defRPr>
            </a:pPr>
            <a:r>
              <a:t>• Estimated Downtime Duration: </a:t>
            </a:r>
            <a:r>
              <a:rPr b="0">
                <a:solidFill>
                  <a:srgbClr val="94A3B8"/>
                </a:solidFill>
              </a:rPr>
              <a:t>Dynamic mapping based on severity: HIGH = 8 hrs, MODERATE = 4 hrs, LOW = 1 hr.</a:t>
            </a:r>
          </a:p>
          <a:p>
            <a:pPr>
              <a:spcAft>
                <a:spcPts val="600"/>
              </a:spcAft>
              <a:defRPr sz="1000" b="1">
                <a:solidFill>
                  <a:srgbClr val="F1F5F9"/>
                </a:solidFill>
              </a:defRPr>
            </a:pPr>
            <a:r>
              <a:t>• Incident Direct Cost: </a:t>
            </a:r>
            <a:r>
              <a:rPr b="0">
                <a:solidFill>
                  <a:srgbClr val="94A3B8"/>
                </a:solidFill>
              </a:rPr>
              <a:t>Direct Cost = Risk-Adjusted Hourly Loss × Downtime Hours.</a:t>
            </a:r>
          </a:p>
          <a:p>
            <a:pPr>
              <a:spcAft>
                <a:spcPts val="600"/>
              </a:spcAft>
              <a:defRPr sz="1000" b="1">
                <a:solidFill>
                  <a:srgbClr val="F1F5F9"/>
                </a:solidFill>
              </a:defRPr>
            </a:pPr>
            <a:r>
              <a:t>• Recovery Overhead: </a:t>
            </a:r>
            <a:r>
              <a:rPr b="0">
                <a:solidFill>
                  <a:srgbClr val="94A3B8"/>
                </a:solidFill>
              </a:rPr>
              <a:t>Recovery Cost = Direct Cost × 0.35 (forensics &amp; incident cleanup).</a:t>
            </a:r>
          </a:p>
          <a:p>
            <a:pPr>
              <a:spcAft>
                <a:spcPts val="600"/>
              </a:spcAft>
              <a:defRPr sz="1000" b="1">
                <a:solidFill>
                  <a:srgbClr val="F1F5F9"/>
                </a:solidFill>
              </a:defRPr>
            </a:pPr>
            <a:r>
              <a:t>• Total Estimated Exposure: </a:t>
            </a:r>
            <a:r>
              <a:rPr b="0">
                <a:solidFill>
                  <a:srgbClr val="94A3B8"/>
                </a:solidFill>
              </a:rPr>
              <a:t>Total = Direct Incident Cost + Recovery Overhead + Asset Impact Factor.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371600"/>
            <a:ext cx="5212080" cy="4937760"/>
          </a:xfrm>
          <a:prstGeom prst="roundRect">
            <a:avLst/>
          </a:prstGeom>
          <a:solidFill>
            <a:srgbClr val="131B2C"/>
          </a:solidFill>
          <a:ln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 tIns="365760"/>
          <a:lstStyle/>
          <a:p>
            <a:pPr algn="ctr">
              <a:spcAft>
                <a:spcPts val="1000"/>
              </a:spcAft>
              <a:defRPr sz="1400" b="1">
                <a:solidFill>
                  <a:srgbClr val="22D3EE"/>
                </a:solidFill>
              </a:defRPr>
            </a:pPr>
            <a:r>
              <a:t>FAIR ALIGNMENT &amp; FUTURE MODELING</a:t>
            </a:r>
          </a:p>
          <a:p>
            <a:pPr>
              <a:spcAft>
                <a:spcPts val="600"/>
              </a:spcAft>
              <a:defRPr sz="1000" b="1">
                <a:solidFill>
                  <a:srgbClr val="F1F5F9"/>
                </a:solidFill>
              </a:defRPr>
            </a:pPr>
            <a:r>
              <a:t>✔ Factor Analysis of Information Risk (FAIR):</a:t>
            </a:r>
            <a:br/>
            <a:r>
              <a:rPr b="0">
                <a:solidFill>
                  <a:srgbClr val="94A3B8"/>
                </a:solidFill>
              </a:rPr>
              <a:t>The Open FAIR framework standardizes decomposing risk into Threat Event Frequency (TEF) and Loss Magnitude (LM).</a:t>
            </a:r>
          </a:p>
          <a:p>
            <a:pPr>
              <a:spcAft>
                <a:spcPts val="600"/>
              </a:spcAft>
              <a:defRPr sz="1000" b="1">
                <a:solidFill>
                  <a:srgbClr val="F1F5F9"/>
                </a:solidFill>
              </a:defRPr>
            </a:pPr>
            <a:r>
              <a:t>✔ Prototype Implementation Status:</a:t>
            </a:r>
            <a:br/>
            <a:r>
              <a:rPr b="0">
                <a:solidFill>
                  <a:srgbClr val="94A3B8"/>
                </a:solidFill>
              </a:rPr>
              <a:t>◐ PROTOTYPE — Uses deterministic actuarial equations based on live host signals and user-supplied asset valuations.</a:t>
            </a:r>
          </a:p>
          <a:p>
            <a:pPr>
              <a:spcAft>
                <a:spcPts val="600"/>
              </a:spcAft>
              <a:defRPr sz="1000" b="1">
                <a:solidFill>
                  <a:srgbClr val="F1F5F9"/>
                </a:solidFill>
              </a:defRPr>
            </a:pPr>
            <a:r>
              <a:t>✔ Value at Risk (VaR) Distinction:</a:t>
            </a:r>
            <a:br/>
            <a:r>
              <a:rPr b="0">
                <a:solidFill>
                  <a:srgbClr val="94A3B8"/>
                </a:solidFill>
              </a:rPr>
              <a:t>○ FUTURE ENHANCEMENT — Monte Carlo probabilistic VaR distribution (e.g. 95% annual confidence) is scoped for future cloud telemetry integration.</a:t>
            </a:r>
          </a:p>
          <a:p>
            <a:pPr>
              <a:spcAft>
                <a:spcPts val="600"/>
              </a:spcAft>
              <a:defRPr sz="1000" b="1">
                <a:solidFill>
                  <a:srgbClr val="F1F5F9"/>
                </a:solidFill>
              </a:defRPr>
            </a:pPr>
            <a:r>
              <a:t>✔ Defensible Evaluator Positioning:</a:t>
            </a:r>
            <a:br/>
            <a:r>
              <a:rPr b="0">
                <a:solidFill>
                  <a:srgbClr val="94A3B8"/>
                </a:solidFill>
              </a:rPr>
              <a:t>Figures represent illustrative calculated risk exposure under current host conditions, not guaranteed financial forecasts.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22D3EE"/>
                </a:solidFill>
              </a:defRPr>
            </a:pPr>
            <a:r>
              <a:t>SMART INDIA HACKATHON 2026 | PS ID: SIH26105 | BYTEFORCE_1 (180219)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1F5F9"/>
                </a:solidFill>
              </a:defRPr>
            </a:pPr>
            <a:r>
              <a:t>Slide 07 | Decision Support: What-If Scenario Simulation Engine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371600"/>
            <a:ext cx="5120640" cy="4937760"/>
          </a:xfrm>
          <a:prstGeom prst="roundRect">
            <a:avLst/>
          </a:prstGeom>
          <a:solidFill>
            <a:srgbClr val="131B2C"/>
          </a:solidFill>
          <a:ln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 tIns="365760"/>
          <a:lstStyle/>
          <a:p>
            <a:pPr algn="ctr">
              <a:spcAft>
                <a:spcPts val="1000"/>
              </a:spcAft>
              <a:defRPr sz="1400" b="1">
                <a:solidFill>
                  <a:srgbClr val="34D399"/>
                </a:solidFill>
              </a:defRPr>
            </a:pPr>
            <a:r>
              <a:t>HYPOTHETICAL TUNING (IMPLEMENTED)</a:t>
            </a:r>
          </a:p>
          <a:p>
            <a:pPr>
              <a:spcAft>
                <a:spcPts val="800"/>
              </a:spcAft>
              <a:defRPr sz="1100" b="1">
                <a:solidFill>
                  <a:srgbClr val="F1F5F9"/>
                </a:solidFill>
              </a:defRPr>
            </a:pPr>
            <a:r>
              <a:t>• Interactive Parameter Sliders: </a:t>
            </a:r>
            <a:r>
              <a:rPr b="0">
                <a:solidFill>
                  <a:srgbClr val="94A3B8"/>
                </a:solidFill>
              </a:rPr>
              <a:t>Allows security operators to model varying CPU, memory, disk, and exposed port counts.</a:t>
            </a:r>
          </a:p>
          <a:p>
            <a:pPr>
              <a:spcAft>
                <a:spcPts val="800"/>
              </a:spcAft>
              <a:defRPr sz="1100" b="1">
                <a:solidFill>
                  <a:srgbClr val="F1F5F9"/>
                </a:solidFill>
              </a:defRPr>
            </a:pPr>
            <a:r>
              <a:t>• Live Exposure Re-calculation: </a:t>
            </a:r>
            <a:r>
              <a:rPr b="0">
                <a:solidFill>
                  <a:srgbClr val="94A3B8"/>
                </a:solidFill>
              </a:rPr>
              <a:t>Instantly computes simulated risk score and projected monetary exposure as parameters shift.</a:t>
            </a:r>
          </a:p>
          <a:p>
            <a:pPr>
              <a:spcAft>
                <a:spcPts val="800"/>
              </a:spcAft>
              <a:defRPr sz="1100" b="1">
                <a:solidFill>
                  <a:srgbClr val="F1F5F9"/>
                </a:solidFill>
              </a:defRPr>
            </a:pPr>
            <a:r>
              <a:t>• Remediation Impact Assessment: </a:t>
            </a:r>
            <a:r>
              <a:rPr b="0">
                <a:solidFill>
                  <a:srgbClr val="94A3B8"/>
                </a:solidFill>
              </a:rPr>
              <a:t>Demonstrates how reducing exposed ports from 18 to 2 reduces simulated business exposure.</a:t>
            </a:r>
          </a:p>
          <a:p>
            <a:pPr>
              <a:spcAft>
                <a:spcPts val="800"/>
              </a:spcAft>
              <a:defRPr sz="1100" b="1">
                <a:solidFill>
                  <a:srgbClr val="F1F5F9"/>
                </a:solidFill>
              </a:defRPr>
            </a:pPr>
            <a:r>
              <a:t>• Single-Click Live Sync: </a:t>
            </a:r>
            <a:r>
              <a:rPr b="0">
                <a:solidFill>
                  <a:srgbClr val="94A3B8"/>
                </a:solidFill>
              </a:rPr>
              <a:t>Features button to pull actual live host metrics into the simulator as a baseline reference.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371600"/>
            <a:ext cx="5212080" cy="4937760"/>
          </a:xfrm>
          <a:prstGeom prst="roundRect">
            <a:avLst/>
          </a:prstGeom>
          <a:solidFill>
            <a:srgbClr val="131B2C"/>
          </a:solidFill>
          <a:ln>
            <a:solidFill>
              <a:srgbClr val="F871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 tIns="365760"/>
          <a:lstStyle/>
          <a:p>
            <a:pPr algn="ctr">
              <a:spcAft>
                <a:spcPts val="1000"/>
              </a:spcAft>
              <a:defRPr sz="1400" b="1">
                <a:solidFill>
                  <a:srgbClr val="F87171"/>
                </a:solidFill>
              </a:defRPr>
            </a:pPr>
            <a:r>
              <a:t>MITRE ATT&amp;CK WARGAME SCENARIOS</a:t>
            </a:r>
          </a:p>
          <a:p>
            <a:pPr>
              <a:spcAft>
                <a:spcPts val="800"/>
              </a:spcAft>
              <a:defRPr sz="1000" b="1">
                <a:solidFill>
                  <a:srgbClr val="F1F5F9"/>
                </a:solidFill>
              </a:defRPr>
            </a:pPr>
            <a:r>
              <a:t>⚔ SSH / RDP Brute Force Storm (T1110): </a:t>
            </a:r>
            <a:r>
              <a:rPr b="0">
                <a:solidFill>
                  <a:srgbClr val="94A3B8"/>
                </a:solidFill>
              </a:rPr>
              <a:t>Simulates credential-stuffing pressure against remote daemons, generating live security alert logs.</a:t>
            </a:r>
          </a:p>
          <a:p>
            <a:pPr>
              <a:spcAft>
                <a:spcPts val="800"/>
              </a:spcAft>
              <a:defRPr sz="1000" b="1">
                <a:solidFill>
                  <a:srgbClr val="F1F5F9"/>
                </a:solidFill>
              </a:defRPr>
            </a:pPr>
            <a:r>
              <a:t>⚔ Distributed SYN Flood DDoS (T1499): </a:t>
            </a:r>
            <a:r>
              <a:rPr b="0">
                <a:solidFill>
                  <a:srgbClr val="94A3B8"/>
                </a:solidFill>
              </a:rPr>
              <a:t>Models volumetric connection exhaustion and elevated risk scoring.</a:t>
            </a:r>
          </a:p>
          <a:p>
            <a:pPr>
              <a:spcAft>
                <a:spcPts val="800"/>
              </a:spcAft>
              <a:defRPr sz="1000" b="1">
                <a:solidFill>
                  <a:srgbClr val="F1F5F9"/>
                </a:solidFill>
              </a:defRPr>
            </a:pPr>
            <a:r>
              <a:t>⚔ Aggressive Reconnaissance Scan (T1046): </a:t>
            </a:r>
            <a:r>
              <a:rPr b="0">
                <a:solidFill>
                  <a:srgbClr val="94A3B8"/>
                </a:solidFill>
              </a:rPr>
              <a:t>Simulates full-range port sweeps attempting to fingerprint local services.</a:t>
            </a:r>
          </a:p>
          <a:p>
            <a:pPr>
              <a:spcAft>
                <a:spcPts val="800"/>
              </a:spcAft>
              <a:defRPr sz="1000" b="1">
                <a:solidFill>
                  <a:srgbClr val="F1F5F9"/>
                </a:solidFill>
              </a:defRPr>
            </a:pPr>
            <a:r>
              <a:t>⚔ Interactive Defense Trigger: </a:t>
            </a:r>
            <a:r>
              <a:rPr b="0">
                <a:solidFill>
                  <a:srgbClr val="94A3B8"/>
                </a:solidFill>
              </a:rPr>
              <a:t>Operator triggers simulated mitigation, logging the defensive event into the persistent SQLite database.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22D3EE"/>
                </a:solidFill>
              </a:defRPr>
            </a:pPr>
            <a:r>
              <a:t>SMART INDIA HACKATHON 2026 | PS ID: SIH26105 | BYTEFORCE_1 (180219)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1F5F9"/>
                </a:solidFill>
              </a:defRPr>
            </a:pPr>
            <a:r>
              <a:t>Slide 08 | Budget-Constrained Security Investment Optimization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371600"/>
            <a:ext cx="5120640" cy="4937760"/>
          </a:xfrm>
          <a:prstGeom prst="roundRect">
            <a:avLst/>
          </a:prstGeom>
          <a:solidFill>
            <a:srgbClr val="131B2C"/>
          </a:solidFill>
          <a:ln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 tIns="365760"/>
          <a:lstStyle/>
          <a:p>
            <a:pPr algn="ctr">
              <a:spcAft>
                <a:spcPts val="1000"/>
              </a:spcAft>
              <a:defRPr sz="1400" b="1">
                <a:solidFill>
                  <a:srgbClr val="FBBF24"/>
                </a:solidFill>
              </a:defRPr>
            </a:pPr>
            <a:r>
              <a:t>KNAPSACK OPTIMIZATION LOGIC</a:t>
            </a:r>
          </a:p>
          <a:p>
            <a:pPr>
              <a:spcAft>
                <a:spcPts val="600"/>
              </a:spcAft>
              <a:defRPr sz="1000" b="1">
                <a:solidFill>
                  <a:srgbClr val="F1F5F9"/>
                </a:solidFill>
              </a:defRPr>
            </a:pPr>
            <a:r>
              <a:t>1. Input Parameters:</a:t>
            </a:r>
            <a:br/>
            <a:r>
              <a:rPr b="0">
                <a:solidFill>
                  <a:srgbClr val="94A3B8"/>
                </a:solidFill>
              </a:rPr>
              <a:t>Monthly Budget (e.g. ₹50,000 – ₹1,00,000), Managed System Count, and Critical Data Value (₹).</a:t>
            </a:r>
          </a:p>
          <a:p>
            <a:pPr>
              <a:spcAft>
                <a:spcPts val="600"/>
              </a:spcAft>
              <a:defRPr sz="1000" b="1">
                <a:solidFill>
                  <a:srgbClr val="F1F5F9"/>
                </a:solidFill>
              </a:defRPr>
            </a:pPr>
            <a:r>
              <a:t>2. Candidate Defense Packages:</a:t>
            </a:r>
            <a:br/>
            <a:r>
              <a:rPr b="0">
                <a:solidFill>
                  <a:srgbClr val="94A3B8"/>
                </a:solidFill>
              </a:rPr>
              <a:t>Evaluates defined control tiers:
- Essential (₹25,000/mo, ~15% Risk Reduction)
- Professional (₹75,000/mo, ~35% Risk Reduction)
- Enterprise (₹1,50,000/mo, ~60% Risk Reduction).</a:t>
            </a:r>
          </a:p>
          <a:p>
            <a:pPr>
              <a:spcAft>
                <a:spcPts val="600"/>
              </a:spcAft>
              <a:defRPr sz="1000" b="1">
                <a:solidFill>
                  <a:srgbClr val="F1F5F9"/>
                </a:solidFill>
              </a:defRPr>
            </a:pPr>
            <a:r>
              <a:t>3. Budget Feasibility Filter:</a:t>
            </a:r>
            <a:br/>
            <a:r>
              <a:rPr b="0">
                <a:solidFill>
                  <a:srgbClr val="94A3B8"/>
                </a:solidFill>
              </a:rPr>
              <a:t>Constraint: Package_Cost ≤ Stated_Monthly_Budget.</a:t>
            </a:r>
          </a:p>
          <a:p>
            <a:pPr>
              <a:spcAft>
                <a:spcPts val="600"/>
              </a:spcAft>
              <a:defRPr sz="1000" b="1">
                <a:solidFill>
                  <a:srgbClr val="F1F5F9"/>
                </a:solidFill>
              </a:defRPr>
            </a:pPr>
            <a:r>
              <a:t>4. Return on Security Investment (ROSI):</a:t>
            </a:r>
            <a:br/>
            <a:r>
              <a:rPr b="0">
                <a:solidFill>
                  <a:srgbClr val="94A3B8"/>
                </a:solidFill>
              </a:rPr>
              <a:t>ROSI (%) = [ (Potential Savings - Package Cost) / Package Cost ] × 100.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371600"/>
            <a:ext cx="5212080" cy="4937760"/>
          </a:xfrm>
          <a:prstGeom prst="roundRect">
            <a:avLst/>
          </a:prstGeom>
          <a:solidFill>
            <a:srgbClr val="131B2C"/>
          </a:solidFill>
          <a:ln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 tIns="365760"/>
          <a:lstStyle/>
          <a:p>
            <a:pPr algn="ctr">
              <a:spcAft>
                <a:spcPts val="1000"/>
              </a:spcAft>
              <a:defRPr sz="1400" b="1">
                <a:solidFill>
                  <a:srgbClr val="34D399"/>
                </a:solidFill>
              </a:defRPr>
            </a:pPr>
            <a:r>
              <a:t>DECISION SUPPORT OUTPUT</a:t>
            </a:r>
          </a:p>
          <a:p>
            <a:pPr>
              <a:spcAft>
                <a:spcPts val="600"/>
              </a:spcAft>
              <a:defRPr sz="1000" b="1">
                <a:solidFill>
                  <a:srgbClr val="F1F5F9"/>
                </a:solidFill>
              </a:defRPr>
            </a:pPr>
            <a:r>
              <a:t>✔ Ranked Recommendation Score:</a:t>
            </a:r>
            <a:br/>
            <a:r>
              <a:rPr b="0">
                <a:solidFill>
                  <a:srgbClr val="94A3B8"/>
                </a:solidFill>
              </a:rPr>
              <a:t>Calculates composite score based on affordability (+40), positive net benefit (+30), and scaled ROI (+30).</a:t>
            </a:r>
          </a:p>
          <a:p>
            <a:pPr>
              <a:spcAft>
                <a:spcPts val="600"/>
              </a:spcAft>
              <a:defRPr sz="1000" b="1">
                <a:solidFill>
                  <a:srgbClr val="F1F5F9"/>
                </a:solidFill>
              </a:defRPr>
            </a:pPr>
            <a:r>
              <a:t>✔ Automated Plan Selection:</a:t>
            </a:r>
            <a:br/>
            <a:r>
              <a:rPr b="0">
                <a:solidFill>
                  <a:srgbClr val="94A3B8"/>
                </a:solidFill>
              </a:rPr>
              <a:t>Recommends the affordable tier delivering highest net financial savings within budget.</a:t>
            </a:r>
          </a:p>
          <a:p>
            <a:pPr>
              <a:spcAft>
                <a:spcPts val="600"/>
              </a:spcAft>
              <a:defRPr sz="1000" b="1">
                <a:solidFill>
                  <a:srgbClr val="F1F5F9"/>
                </a:solidFill>
              </a:defRPr>
            </a:pPr>
            <a:r>
              <a:t>✔ Tailored Security Actions:</a:t>
            </a:r>
            <a:br/>
            <a:r>
              <a:rPr b="0">
                <a:solidFill>
                  <a:srgbClr val="94A3B8"/>
                </a:solidFill>
              </a:rPr>
              <a:t>Generates prioritized recommendations (e.g. MFA enforcement, offline backup verification, port closure).</a:t>
            </a:r>
          </a:p>
          <a:p>
            <a:pPr>
              <a:spcAft>
                <a:spcPts val="600"/>
              </a:spcAft>
              <a:defRPr sz="1000" b="1">
                <a:solidFill>
                  <a:srgbClr val="F1F5F9"/>
                </a:solidFill>
              </a:defRPr>
            </a:pPr>
            <a:r>
              <a:t>✔ Prototype Status Disclosure:</a:t>
            </a:r>
            <a:br/>
            <a:r>
              <a:rPr b="0">
                <a:solidFill>
                  <a:srgbClr val="94A3B8"/>
                </a:solidFill>
              </a:rPr>
              <a:t>◐ PROTOTYPE — Illustrates algorithmic budget allocation; real enterprise deployment would ingest specific vendor RFP quotes.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22D3EE"/>
                </a:solidFill>
              </a:defRPr>
            </a:pPr>
            <a:r>
              <a:t>SMART INDIA HACKATHON 2026 | PS ID: SIH26105 | BYTEFORCE_1 (180219)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1F5F9"/>
                </a:solidFill>
              </a:defRPr>
            </a:pPr>
            <a:r>
              <a:t>Slide 09 | Trust Layer: Tamper-Evident SHA-256 Merkle Audit Ledger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371600"/>
            <a:ext cx="5120640" cy="4937760"/>
          </a:xfrm>
          <a:prstGeom prst="roundRect">
            <a:avLst/>
          </a:prstGeom>
          <a:solidFill>
            <a:srgbClr val="131B2C"/>
          </a:solidFill>
          <a:ln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 tIns="365760"/>
          <a:lstStyle/>
          <a:p>
            <a:pPr algn="ctr">
              <a:spcAft>
                <a:spcPts val="1000"/>
              </a:spcAft>
              <a:defRPr sz="1400" b="1">
                <a:solidFill>
                  <a:srgbClr val="22D3EE"/>
                </a:solidFill>
              </a:defRPr>
            </a:pPr>
            <a:r>
              <a:t>CRYPTOGRAPHIC LEDGER MECHANISM</a:t>
            </a:r>
          </a:p>
          <a:p>
            <a:pPr>
              <a:spcAft>
                <a:spcPts val="600"/>
              </a:spcAft>
              <a:defRPr sz="1000" b="1">
                <a:solidFill>
                  <a:srgbClr val="F1F5F9"/>
                </a:solidFill>
              </a:defRPr>
            </a:pPr>
            <a:r>
              <a:t>• Security Event Trigger: </a:t>
            </a:r>
            <a:r>
              <a:rPr b="0">
                <a:solidFill>
                  <a:srgbClr val="94A3B8"/>
                </a:solidFill>
              </a:rPr>
              <a:t>Risk assessments, threat quarantines, and budget changes emit structured payloads.</a:t>
            </a:r>
          </a:p>
          <a:p>
            <a:pPr>
              <a:spcAft>
                <a:spcPts val="600"/>
              </a:spcAft>
              <a:defRPr sz="1000" b="1">
                <a:solidFill>
                  <a:srgbClr val="F1F5F9"/>
                </a:solidFill>
              </a:defRPr>
            </a:pPr>
            <a:r>
              <a:t>• Merkle Root Calculation: </a:t>
            </a:r>
            <a:r>
              <a:rPr b="0">
                <a:solidFill>
                  <a:srgbClr val="94A3B8"/>
                </a:solidFill>
              </a:rPr>
              <a:t>Pairwise SHA-256 hashing condenses arbitrary payload keys into a single cryptographic Merkle root.</a:t>
            </a:r>
          </a:p>
          <a:p>
            <a:pPr>
              <a:spcAft>
                <a:spcPts val="600"/>
              </a:spcAft>
              <a:defRPr sz="1000" b="1">
                <a:solidFill>
                  <a:srgbClr val="F1F5F9"/>
                </a:solidFill>
              </a:defRPr>
            </a:pPr>
            <a:r>
              <a:t>• Proof-of-Work Mining: </a:t>
            </a:r>
            <a:r>
              <a:rPr b="0">
                <a:solidFill>
                  <a:srgbClr val="94A3B8"/>
                </a:solidFill>
              </a:rPr>
              <a:t>Calculates candidate header hash with dynamic nonce until satisfying target difficulty prefix.</a:t>
            </a:r>
          </a:p>
          <a:p>
            <a:pPr>
              <a:spcAft>
                <a:spcPts val="600"/>
              </a:spcAft>
              <a:defRPr sz="1000" b="1">
                <a:solidFill>
                  <a:srgbClr val="F1F5F9"/>
                </a:solidFill>
              </a:defRPr>
            </a:pPr>
            <a:r>
              <a:t>• Chained Block Header: </a:t>
            </a:r>
            <a:r>
              <a:rPr b="0">
                <a:solidFill>
                  <a:srgbClr val="94A3B8"/>
                </a:solidFill>
              </a:rPr>
              <a:t>Block Hash = SHA256(Index + Timestamp + Event + MerkleRoot + PrevHash + Nonce).</a:t>
            </a:r>
          </a:p>
          <a:p>
            <a:pPr>
              <a:spcAft>
                <a:spcPts val="600"/>
              </a:spcAft>
              <a:defRPr sz="1000" b="1">
                <a:solidFill>
                  <a:srgbClr val="F1F5F9"/>
                </a:solidFill>
              </a:defRPr>
            </a:pPr>
            <a:r>
              <a:t>• Defensible Terminology: </a:t>
            </a:r>
            <a:r>
              <a:rPr b="0">
                <a:solidFill>
                  <a:srgbClr val="94A3B8"/>
                </a:solidFill>
              </a:rPr>
              <a:t>Described as a 'Tamper-Evident Audit Ledger' — unauthorized modifications break cryptographic chain verification.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371600"/>
            <a:ext cx="5212080" cy="4937760"/>
          </a:xfrm>
          <a:prstGeom prst="roundRect">
            <a:avLst/>
          </a:prstGeom>
          <a:solidFill>
            <a:srgbClr val="131B2C"/>
          </a:solidFill>
          <a:ln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 tIns="365760"/>
          <a:lstStyle/>
          <a:p>
            <a:pPr algn="ctr">
              <a:spcAft>
                <a:spcPts val="1000"/>
              </a:spcAft>
              <a:defRPr sz="1400" b="1">
                <a:solidFill>
                  <a:srgbClr val="FBBF24"/>
                </a:solidFill>
              </a:defRPr>
            </a:pPr>
            <a:r>
              <a:t>VERIFICATION &amp; TAMPER DEMO</a:t>
            </a:r>
          </a:p>
          <a:p>
            <a:pPr>
              <a:spcAft>
                <a:spcPts val="600"/>
              </a:spcAft>
              <a:defRPr sz="1000" b="1">
                <a:solidFill>
                  <a:srgbClr val="F1F5F9"/>
                </a:solidFill>
              </a:defRPr>
            </a:pPr>
            <a:r>
              <a:t>✔ Full Chain Validation (verify_integrity):</a:t>
            </a:r>
            <a:br/>
            <a:r>
              <a:rPr b="0">
                <a:solidFill>
                  <a:srgbClr val="94A3B8"/>
                </a:solidFill>
              </a:rPr>
              <a:t>Traverses chain from Genesis (Block 0) to tip, verifying previous_hash links, recomputed Merkle roots, and block hashes.</a:t>
            </a:r>
          </a:p>
          <a:p>
            <a:pPr>
              <a:spcAft>
                <a:spcPts val="600"/>
              </a:spcAft>
              <a:defRPr sz="1000" b="1">
                <a:solidFill>
                  <a:srgbClr val="F1F5F9"/>
                </a:solidFill>
              </a:defRPr>
            </a:pPr>
            <a:r>
              <a:t>✔ Simulate Tamper Attack (DEMO):</a:t>
            </a:r>
            <a:br/>
            <a:r>
              <a:rPr b="0">
                <a:solidFill>
                  <a:srgbClr val="94A3B8"/>
                </a:solidFill>
              </a:rPr>
              <a:t>Modifies stored data payload of Block #1 in JSON storage to simulate rogue log alteration.</a:t>
            </a:r>
          </a:p>
          <a:p>
            <a:pPr>
              <a:spcAft>
                <a:spcPts val="600"/>
              </a:spcAft>
              <a:defRPr sz="1000" b="1">
                <a:solidFill>
                  <a:srgbClr val="F1F5F9"/>
                </a:solidFill>
              </a:defRPr>
            </a:pPr>
            <a:r>
              <a:t>✔ Instant Cryptographic Detection:</a:t>
            </a:r>
            <a:br/>
            <a:r>
              <a:rPr b="0">
                <a:solidFill>
                  <a:srgbClr val="94A3B8"/>
                </a:solidFill>
              </a:rPr>
              <a:t>Next integrity audit immediately detects Merkle root mismatch and broken hash chain, flagging the exact invalid block.</a:t>
            </a:r>
          </a:p>
          <a:p>
            <a:pPr>
              <a:spcAft>
                <a:spcPts val="600"/>
              </a:spcAft>
              <a:defRPr sz="1000" b="1">
                <a:solidFill>
                  <a:srgbClr val="F1F5F9"/>
                </a:solidFill>
              </a:defRPr>
            </a:pPr>
            <a:r>
              <a:t>✔ Consensus State Restoration:</a:t>
            </a:r>
            <a:br/>
            <a:r>
              <a:rPr b="0">
                <a:solidFill>
                  <a:srgbClr val="94A3B8"/>
                </a:solidFill>
              </a:rPr>
              <a:t>Restores verified snapshot from backup memory pool, returning ledger to verified state.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22D3EE"/>
                </a:solidFill>
              </a:defRPr>
            </a:pPr>
            <a:r>
              <a:t>SMART INDIA HACKATHON 2026 | PS ID: SIH26105 | BYTEFORCE_1 (180219)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1F5F9"/>
                </a:solidFill>
              </a:defRPr>
            </a:pPr>
            <a:r>
              <a:t>Slide 10 | Supporting Endpoint Capabilities: Physical Presence &amp; Interaction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371600"/>
            <a:ext cx="5120640" cy="4937760"/>
          </a:xfrm>
          <a:prstGeom prst="roundRect">
            <a:avLst/>
          </a:prstGeom>
          <a:solidFill>
            <a:srgbClr val="131B2C"/>
          </a:solidFill>
          <a:ln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 tIns="365760"/>
          <a:lstStyle/>
          <a:p>
            <a:pPr algn="ctr">
              <a:spcAft>
                <a:spcPts val="1000"/>
              </a:spcAft>
              <a:defRPr sz="1400" b="1">
                <a:solidFill>
                  <a:srgbClr val="22D3EE"/>
                </a:solidFill>
              </a:defRPr>
            </a:pPr>
            <a:r>
              <a:t>ZERO-TRUST PHYSICAL AUTO-LOCK</a:t>
            </a:r>
          </a:p>
          <a:p>
            <a:pPr>
              <a:spcAft>
                <a:spcPts val="800"/>
              </a:spcAft>
              <a:defRPr sz="1100" b="1">
                <a:solidFill>
                  <a:srgbClr val="F1F5F9"/>
                </a:solidFill>
              </a:defRPr>
            </a:pPr>
            <a:r>
              <a:t>• Problem Addressed: </a:t>
            </a:r>
            <a:r>
              <a:rPr b="0">
                <a:solidFill>
                  <a:srgbClr val="94A3B8"/>
                </a:solidFill>
              </a:rPr>
              <a:t>Physical workstation access remains a frequent insider threat vector if an operator walks away leaving a console unlocked.</a:t>
            </a:r>
          </a:p>
          <a:p>
            <a:pPr>
              <a:spcAft>
                <a:spcPts val="800"/>
              </a:spcAft>
              <a:defRPr sz="1100" b="1">
                <a:solidFill>
                  <a:srgbClr val="F1F5F9"/>
                </a:solidFill>
              </a:defRPr>
            </a:pPr>
            <a:r>
              <a:t>• YOLOv8 Operator Tracking: </a:t>
            </a:r>
            <a:r>
              <a:rPr b="0">
                <a:solidFill>
                  <a:srgbClr val="94A3B8"/>
                </a:solidFill>
              </a:rPr>
              <a:t>Ultralytics YOLOv8-nano monitors operator presence in local webcam feed.</a:t>
            </a:r>
          </a:p>
          <a:p>
            <a:pPr>
              <a:spcAft>
                <a:spcPts val="800"/>
              </a:spcAft>
              <a:defRPr sz="1100" b="1">
                <a:solidFill>
                  <a:srgbClr val="F1F5F9"/>
                </a:solidFill>
              </a:defRPr>
            </a:pPr>
            <a:r>
              <a:t>• Configurable Grace Period: </a:t>
            </a:r>
            <a:r>
              <a:rPr b="0">
                <a:solidFill>
                  <a:srgbClr val="94A3B8"/>
                </a:solidFill>
              </a:rPr>
              <a:t>If operator departs, a countdown banner alerts the user before executing OS-level LockWorkStation call.</a:t>
            </a:r>
          </a:p>
          <a:p>
            <a:pPr>
              <a:spcAft>
                <a:spcPts val="800"/>
              </a:spcAft>
              <a:defRPr sz="1100" b="1">
                <a:solidFill>
                  <a:srgbClr val="F1F5F9"/>
                </a:solidFill>
              </a:defRPr>
            </a:pPr>
            <a:r>
              <a:t>• Supporting Role in SIH: </a:t>
            </a:r>
            <a:r>
              <a:rPr b="0">
                <a:solidFill>
                  <a:srgbClr val="94A3B8"/>
                </a:solidFill>
              </a:rPr>
              <a:t>Presented accurately as an endpoint hardening feature, secondary to the core financial risk quantification engine.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371600"/>
            <a:ext cx="5212080" cy="4937760"/>
          </a:xfrm>
          <a:prstGeom prst="roundRect">
            <a:avLst/>
          </a:prstGeom>
          <a:solidFill>
            <a:srgbClr val="131B2C"/>
          </a:solidFill>
          <a:ln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 tIns="365760"/>
          <a:lstStyle/>
          <a:p>
            <a:pPr algn="ctr">
              <a:spcAft>
                <a:spcPts val="1000"/>
              </a:spcAft>
              <a:defRPr sz="1400" b="1">
                <a:solidFill>
                  <a:srgbClr val="34D399"/>
                </a:solidFill>
              </a:defRPr>
            </a:pPr>
            <a:r>
              <a:t>TOUCHLESS NEURAL GESTURE CONTROL</a:t>
            </a:r>
          </a:p>
          <a:p>
            <a:pPr>
              <a:spcAft>
                <a:spcPts val="600"/>
              </a:spcAft>
              <a:defRPr sz="1000" b="1">
                <a:solidFill>
                  <a:srgbClr val="F1F5F9"/>
                </a:solidFill>
              </a:defRPr>
            </a:pPr>
            <a:r>
              <a:t>✔ MediaPipe Hand Landmarks:</a:t>
            </a:r>
            <a:br/>
            <a:r>
              <a:rPr b="0">
                <a:solidFill>
                  <a:srgbClr val="94A3B8"/>
                </a:solidFill>
              </a:rPr>
              <a:t>Tracks 21 3D hand coordinates locally using Google MediaPipe Hand Landmarker.</a:t>
            </a:r>
          </a:p>
          <a:p>
            <a:pPr>
              <a:spcAft>
                <a:spcPts val="600"/>
              </a:spcAft>
              <a:defRPr sz="1000" b="1">
                <a:solidFill>
                  <a:srgbClr val="F1F5F9"/>
                </a:solidFill>
              </a:defRPr>
            </a:pPr>
            <a:r>
              <a:t>✔ Deterministic Vector Logic:</a:t>
            </a:r>
            <a:br/>
            <a:r>
              <a:rPr b="0">
                <a:solidFill>
                  <a:srgbClr val="94A3B8"/>
                </a:solidFill>
              </a:rPr>
              <a:t>Crossed fingers (Index over Middle) detected via coordinate inversion vector (mcp_diff × tip_diff &lt; 0).</a:t>
            </a:r>
          </a:p>
          <a:p>
            <a:pPr>
              <a:spcAft>
                <a:spcPts val="600"/>
              </a:spcAft>
              <a:defRPr sz="1000" b="1">
                <a:solidFill>
                  <a:srgbClr val="F1F5F9"/>
                </a:solidFill>
              </a:defRPr>
            </a:pPr>
            <a:r>
              <a:t>✔ Gesture Capabilities:</a:t>
            </a:r>
            <a:br/>
            <a:r>
              <a:rPr b="0">
                <a:solidFill>
                  <a:srgbClr val="94A3B8"/>
                </a:solidFill>
              </a:rPr>
              <a:t>- ☝️ Index Point: New Folder hotkey
- 🤞 Crossed Fingers: File delete action
- 🤏 Pinch &amp; Slide: System volume control
- ✌️ Peace Sign: Application window switch.</a:t>
            </a:r>
          </a:p>
          <a:p>
            <a:pPr>
              <a:spcAft>
                <a:spcPts val="600"/>
              </a:spcAft>
              <a:defRPr sz="1000" b="1">
                <a:solidFill>
                  <a:srgbClr val="F1F5F9"/>
                </a:solidFill>
              </a:defRPr>
            </a:pPr>
            <a:r>
              <a:t>✔ Architecture Positioning:</a:t>
            </a:r>
            <a:br/>
            <a:r>
              <a:rPr b="0">
                <a:solidFill>
                  <a:srgbClr val="94A3B8"/>
                </a:solidFill>
              </a:rPr>
              <a:t>Designed to run locally on CPU hardware without requiring external cloud GPU servers.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22D3EE"/>
                </a:solidFill>
              </a:defRPr>
            </a:pPr>
            <a:r>
              <a:t>SMART INDIA HACKATHON 2026 | PS ID: SIH26105 | BYTEFORCE_1 (180219)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1F5F9"/>
                </a:solidFill>
              </a:defRPr>
            </a:pPr>
            <a:r>
              <a:t>Slide 11 | Regulatory Framework Alignment &amp; Control Mapping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371600"/>
            <a:ext cx="5120640" cy="4937760"/>
          </a:xfrm>
          <a:prstGeom prst="roundRect">
            <a:avLst/>
          </a:prstGeom>
          <a:solidFill>
            <a:srgbClr val="131B2C"/>
          </a:solidFill>
          <a:ln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 tIns="365760"/>
          <a:lstStyle/>
          <a:p>
            <a:pPr algn="ctr">
              <a:spcAft>
                <a:spcPts val="1000"/>
              </a:spcAft>
              <a:defRPr sz="1400" b="1">
                <a:solidFill>
                  <a:srgbClr val="FBBF24"/>
                </a:solidFill>
              </a:defRPr>
            </a:pPr>
            <a:r>
              <a:t>INDIAN REGULATORY CONTEXT</a:t>
            </a:r>
          </a:p>
          <a:p>
            <a:pPr>
              <a:spcAft>
                <a:spcPts val="600"/>
              </a:spcAft>
              <a:defRPr sz="1000" b="1">
                <a:solidFill>
                  <a:srgbClr val="F1F5F9"/>
                </a:solidFill>
              </a:defRPr>
            </a:pPr>
            <a:r>
              <a:t>📜 CERT-In Cyber Security Directions (April 2022):</a:t>
            </a:r>
            <a:br/>
            <a:r>
              <a:rPr b="0">
                <a:solidFill>
                  <a:srgbClr val="94A3B8"/>
                </a:solidFill>
              </a:rPr>
              <a:t>Mandates 180-day preservation of cybersecurity incident logs. AURA's blockchain ledger provides cryptographic evidence of non-alteration.</a:t>
            </a:r>
          </a:p>
          <a:p>
            <a:pPr>
              <a:spcAft>
                <a:spcPts val="600"/>
              </a:spcAft>
              <a:defRPr sz="1000" b="1">
                <a:solidFill>
                  <a:srgbClr val="F1F5F9"/>
                </a:solidFill>
              </a:defRPr>
            </a:pPr>
            <a:r>
              <a:t>📜 RBI Cyber Security Framework:</a:t>
            </a:r>
            <a:br/>
            <a:r>
              <a:rPr b="0">
                <a:solidFill>
                  <a:srgbClr val="94A3B8"/>
                </a:solidFill>
              </a:rPr>
              <a:t>Supports risk threshold monitoring, sensitive port alerting, and cyber resilience disclosures for institutional banking environments.</a:t>
            </a:r>
          </a:p>
          <a:p>
            <a:pPr>
              <a:spcAft>
                <a:spcPts val="600"/>
              </a:spcAft>
              <a:defRPr sz="1000" b="1">
                <a:solidFill>
                  <a:srgbClr val="F1F5F9"/>
                </a:solidFill>
              </a:defRPr>
            </a:pPr>
            <a:r>
              <a:t>📜 SEBI Cybersecurity Resilience Framework:</a:t>
            </a:r>
            <a:br/>
            <a:r>
              <a:rPr b="0">
                <a:solidFill>
                  <a:srgbClr val="94A3B8"/>
                </a:solidFill>
              </a:rPr>
              <a:t>Addresses board-level risk metrics, technical asset inventory tracking, and systematic risk governance.</a:t>
            </a:r>
          </a:p>
          <a:p>
            <a:pPr>
              <a:spcAft>
                <a:spcPts val="600"/>
              </a:spcAft>
              <a:defRPr sz="1000" b="1">
                <a:solidFill>
                  <a:srgbClr val="F1F5F9"/>
                </a:solidFill>
              </a:defRPr>
            </a:pPr>
            <a:r>
              <a:t>📜 DPDP Act 2023 Compliance Support:</a:t>
            </a:r>
            <a:br/>
            <a:r>
              <a:rPr b="0">
                <a:solidFill>
                  <a:srgbClr val="94A3B8"/>
                </a:solidFill>
              </a:rPr>
              <a:t>Regex credential scanner flags unmasked Aadhaar, PAN numbers, and private keys in scanned directories.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371600"/>
            <a:ext cx="5212080" cy="4937760"/>
          </a:xfrm>
          <a:prstGeom prst="roundRect">
            <a:avLst/>
          </a:prstGeom>
          <a:solidFill>
            <a:srgbClr val="131B2C"/>
          </a:solidFill>
          <a:ln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 tIns="365760"/>
          <a:lstStyle/>
          <a:p>
            <a:pPr algn="ctr">
              <a:spcAft>
                <a:spcPts val="1000"/>
              </a:spcAft>
              <a:defRPr sz="1400" b="1">
                <a:solidFill>
                  <a:srgbClr val="22D3EE"/>
                </a:solidFill>
              </a:defRPr>
            </a:pPr>
            <a:r>
              <a:t>GLOBAL FRAMEWORK MAPPING</a:t>
            </a:r>
          </a:p>
          <a:p>
            <a:pPr>
              <a:spcAft>
                <a:spcPts val="600"/>
              </a:spcAft>
              <a:defRPr sz="1000" b="1">
                <a:solidFill>
                  <a:srgbClr val="F1F5F9"/>
                </a:solidFill>
              </a:defRPr>
            </a:pPr>
            <a:r>
              <a:t>🌐 NIST Cybersecurity Framework 2.0:</a:t>
            </a:r>
            <a:br/>
            <a:r>
              <a:rPr b="0">
                <a:solidFill>
                  <a:srgbClr val="94A3B8"/>
                </a:solidFill>
              </a:rPr>
              <a:t>Structured mapping across core functions:
- Identify: Asset &amp; port inventory
- Protect: Defense knapsack optimizer
- Detect: Socket &amp; compute telemetry
- Respond / Recover: Quarantine vault &amp; audit.</a:t>
            </a:r>
          </a:p>
          <a:p>
            <a:pPr>
              <a:spcAft>
                <a:spcPts val="600"/>
              </a:spcAft>
              <a:defRPr sz="1000" b="1">
                <a:solidFill>
                  <a:srgbClr val="F1F5F9"/>
                </a:solidFill>
              </a:defRPr>
            </a:pPr>
            <a:r>
              <a:t>🌐 ISO/IEC 27001 (A.12 Operations Security):</a:t>
            </a:r>
            <a:br/>
            <a:r>
              <a:rPr b="0">
                <a:solidFill>
                  <a:srgbClr val="94A3B8"/>
                </a:solidFill>
              </a:rPr>
              <a:t>Aligns with technical control logging and vulnerability management clauses.</a:t>
            </a:r>
          </a:p>
          <a:p>
            <a:pPr>
              <a:spcAft>
                <a:spcPts val="600"/>
              </a:spcAft>
              <a:defRPr sz="1000" b="1">
                <a:solidFill>
                  <a:srgbClr val="F1F5F9"/>
                </a:solidFill>
              </a:defRPr>
            </a:pPr>
            <a:r>
              <a:t>🌐 CIS Controls v8:</a:t>
            </a:r>
            <a:br/>
            <a:r>
              <a:rPr b="0">
                <a:solidFill>
                  <a:srgbClr val="94A3B8"/>
                </a:solidFill>
              </a:rPr>
              <a:t>Supports Control 1 (Enterprise Assets), Control 4 (Secure Configuration), and Control 8 (Audit Log Management).</a:t>
            </a:r>
          </a:p>
          <a:p>
            <a:pPr>
              <a:spcAft>
                <a:spcPts val="600"/>
              </a:spcAft>
              <a:defRPr sz="1000" b="1">
                <a:solidFill>
                  <a:srgbClr val="F1F5F9"/>
                </a:solidFill>
              </a:defRPr>
            </a:pPr>
            <a:r>
              <a:t>🌐 Defensible Claim Note:</a:t>
            </a:r>
            <a:br/>
            <a:r>
              <a:rPr b="0">
                <a:solidFill>
                  <a:srgbClr val="94A3B8"/>
                </a:solidFill>
              </a:rPr>
              <a:t>Framed accurately as 'control alignment and compliance-supporting capabilities', not official government certifications.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22D3EE"/>
                </a:solidFill>
              </a:defRPr>
            </a:pPr>
            <a:r>
              <a:t>SMART INDIA HACKATHON 2026 | PS ID: SIH26105 | BYTEFORCE_1 (180219)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1F5F9"/>
                </a:solidFill>
              </a:defRPr>
            </a:pPr>
            <a:r>
              <a:t>Slide 12 | Proposed Architecture: Future Multi-Institution Deployment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280160"/>
            <a:ext cx="10698480" cy="365760"/>
          </a:xfrm>
          <a:prstGeom prst="rect">
            <a:avLst/>
          </a:prstGeom>
          <a:solidFill>
            <a:srgbClr val="131B2C"/>
          </a:solidFill>
          <a:ln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BBF24"/>
                </a:solidFill>
              </a:defRPr>
            </a:pPr>
            <a:r>
              <a:t>PROPOSED ARCHITECTURE FOR FUTURE MULTI-INSTITUTION DEPLOYMENT (CONCEPTUAL SCALING)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3383280" cy="4480560"/>
          </a:xfrm>
          <a:prstGeom prst="roundRect">
            <a:avLst/>
          </a:prstGeom>
          <a:solidFill>
            <a:srgbClr val="131B2C"/>
          </a:solidFill>
          <a:ln w="19050"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274320"/>
          <a:lstStyle/>
          <a:p>
            <a:pPr algn="ctr">
              <a:spcAft>
                <a:spcPts val="400"/>
              </a:spcAft>
              <a:defRPr sz="1200" b="1">
                <a:solidFill>
                  <a:srgbClr val="22D3EE"/>
                </a:solidFill>
              </a:defRPr>
            </a:pPr>
            <a:r>
              <a:t>NODE 01: CENTRAL GOVERNANCE NODE</a:t>
            </a:r>
          </a:p>
          <a:p>
            <a:pPr>
              <a:spcAft>
                <a:spcPts val="1000"/>
              </a:spcAft>
              <a:defRPr sz="900" i="1">
                <a:solidFill>
                  <a:srgbClr val="94A3B8"/>
                </a:solidFill>
              </a:defRPr>
            </a:pPr>
            <a:r>
              <a:t>Proposed Central Authority (e.g. Consortium Master)</a:t>
            </a:r>
          </a:p>
          <a:p>
            <a:pPr>
              <a:spcAft>
                <a:spcPts val="600"/>
              </a:spcAft>
              <a:defRPr sz="1000">
                <a:solidFill>
                  <a:srgbClr val="F1F5F9"/>
                </a:solidFill>
              </a:defRPr>
            </a:pPr>
            <a:r>
              <a:t>• Aggregates anonymized risk exposure indexes across institutions</a:t>
            </a:r>
          </a:p>
          <a:p>
            <a:pPr>
              <a:spcAft>
                <a:spcPts val="600"/>
              </a:spcAft>
              <a:defRPr sz="1000">
                <a:solidFill>
                  <a:srgbClr val="F1F5F9"/>
                </a:solidFill>
              </a:defRPr>
            </a:pPr>
            <a:r>
              <a:t>• Sets baseline risk evaluation standards</a:t>
            </a:r>
          </a:p>
          <a:p>
            <a:pPr>
              <a:spcAft>
                <a:spcPts val="600"/>
              </a:spcAft>
              <a:defRPr sz="1000">
                <a:solidFill>
                  <a:srgbClr val="F1F5F9"/>
                </a:solidFill>
              </a:defRPr>
            </a:pPr>
            <a:r>
              <a:t>• Distributes global threat intelligence advisories</a:t>
            </a:r>
          </a:p>
          <a:p>
            <a:pPr>
              <a:spcAft>
                <a:spcPts val="600"/>
              </a:spcAft>
              <a:defRPr sz="1000">
                <a:solidFill>
                  <a:srgbClr val="F1F5F9"/>
                </a:solidFill>
              </a:defRPr>
            </a:pPr>
            <a:r>
              <a:t>• Acts as primary consensus coordinator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1828800"/>
            <a:ext cx="3383280" cy="4480560"/>
          </a:xfrm>
          <a:prstGeom prst="roundRect">
            <a:avLst/>
          </a:prstGeom>
          <a:solidFill>
            <a:srgbClr val="131B2C"/>
          </a:solidFill>
          <a:ln w="1905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274320"/>
          <a:lstStyle/>
          <a:p>
            <a:pPr algn="ctr">
              <a:spcAft>
                <a:spcPts val="400"/>
              </a:spcAft>
              <a:defRPr sz="1200" b="1">
                <a:solidFill>
                  <a:srgbClr val="34D399"/>
                </a:solidFill>
              </a:defRPr>
            </a:pPr>
            <a:r>
              <a:t>NODE 02: REGIONAL VALIDATOR NODE</a:t>
            </a:r>
          </a:p>
          <a:p>
            <a:pPr>
              <a:spcAft>
                <a:spcPts val="1000"/>
              </a:spcAft>
              <a:defRPr sz="900" i="1">
                <a:solidFill>
                  <a:srgbClr val="94A3B8"/>
                </a:solidFill>
              </a:defRPr>
            </a:pPr>
            <a:r>
              <a:t>Proposed Regional Validator (e.g. Lead Technical Campus)</a:t>
            </a:r>
          </a:p>
          <a:p>
            <a:pPr>
              <a:spcAft>
                <a:spcPts val="600"/>
              </a:spcAft>
              <a:defRPr sz="1000">
                <a:solidFill>
                  <a:srgbClr val="F1F5F9"/>
                </a:solidFill>
              </a:defRPr>
            </a:pPr>
            <a:r>
              <a:t>• Validates consensus blocks via independent Merkle checks</a:t>
            </a:r>
          </a:p>
          <a:p>
            <a:pPr>
              <a:spcAft>
                <a:spcPts val="600"/>
              </a:spcAft>
              <a:defRPr sz="1000">
                <a:solidFill>
                  <a:srgbClr val="F1F5F9"/>
                </a:solidFill>
              </a:defRPr>
            </a:pPr>
            <a:r>
              <a:t>• Executes regional peer risk verification</a:t>
            </a:r>
          </a:p>
          <a:p>
            <a:pPr>
              <a:spcAft>
                <a:spcPts val="600"/>
              </a:spcAft>
              <a:defRPr sz="1000">
                <a:solidFill>
                  <a:srgbClr val="F1F5F9"/>
                </a:solidFill>
              </a:defRPr>
            </a:pPr>
            <a:r>
              <a:t>• Distributes computational load for consortium mining</a:t>
            </a:r>
          </a:p>
          <a:p>
            <a:pPr>
              <a:spcAft>
                <a:spcPts val="600"/>
              </a:spcAft>
              <a:defRPr sz="1000">
                <a:solidFill>
                  <a:srgbClr val="F1F5F9"/>
                </a:solidFill>
              </a:defRPr>
            </a:pPr>
            <a:r>
              <a:t>• Maintains verifiable mirror of consortium ledger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46720" y="1828800"/>
            <a:ext cx="3383280" cy="4480560"/>
          </a:xfrm>
          <a:prstGeom prst="roundRect">
            <a:avLst/>
          </a:prstGeom>
          <a:solidFill>
            <a:srgbClr val="131B2C"/>
          </a:solidFill>
          <a:ln w="19050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274320"/>
          <a:lstStyle/>
          <a:p>
            <a:pPr algn="ctr">
              <a:spcAft>
                <a:spcPts val="400"/>
              </a:spcAft>
              <a:defRPr sz="1200" b="1">
                <a:solidFill>
                  <a:srgbClr val="FBBF24"/>
                </a:solidFill>
              </a:defRPr>
            </a:pPr>
            <a:r>
              <a:t>NODE 03: INSTITUTIONAL AUDITOR NODE</a:t>
            </a:r>
          </a:p>
          <a:p>
            <a:pPr>
              <a:spcAft>
                <a:spcPts val="1000"/>
              </a:spcAft>
              <a:defRPr sz="900" i="1">
                <a:solidFill>
                  <a:srgbClr val="94A3B8"/>
                </a:solidFill>
              </a:defRPr>
            </a:pPr>
            <a:r>
              <a:t>Proposed Campus Auditor (e.g. Individual College Node)</a:t>
            </a:r>
          </a:p>
          <a:p>
            <a:pPr>
              <a:spcAft>
                <a:spcPts val="600"/>
              </a:spcAft>
              <a:defRPr sz="1000">
                <a:solidFill>
                  <a:srgbClr val="F1F5F9"/>
                </a:solidFill>
              </a:defRPr>
            </a:pPr>
            <a:r>
              <a:t>• Operates local-first agent monitoring campus endpoints</a:t>
            </a:r>
          </a:p>
          <a:p>
            <a:pPr>
              <a:spcAft>
                <a:spcPts val="600"/>
              </a:spcAft>
              <a:defRPr sz="1000">
                <a:solidFill>
                  <a:srgbClr val="F1F5F9"/>
                </a:solidFill>
              </a:defRPr>
            </a:pPr>
            <a:r>
              <a:t>• Emits tamper-evident risk assessments to the ledger</a:t>
            </a:r>
          </a:p>
          <a:p>
            <a:pPr>
              <a:spcAft>
                <a:spcPts val="600"/>
              </a:spcAft>
              <a:defRPr sz="1000">
                <a:solidFill>
                  <a:srgbClr val="F1F5F9"/>
                </a:solidFill>
              </a:defRPr>
            </a:pPr>
            <a:r>
              <a:t>• Validates compliance posture against regulatory requirements</a:t>
            </a:r>
          </a:p>
          <a:p>
            <a:pPr>
              <a:spcAft>
                <a:spcPts val="600"/>
              </a:spcAft>
              <a:defRPr sz="1000">
                <a:solidFill>
                  <a:srgbClr val="F1F5F9"/>
                </a:solidFill>
              </a:defRPr>
            </a:pPr>
            <a:r>
              <a:t>• Prevents local insider repudiation of breach incidents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22D3EE"/>
                </a:solidFill>
              </a:defRPr>
            </a:pPr>
            <a:r>
              <a:t>SMART INDIA HACKATHON 2026 | PS ID: SIH26105 | BYTEFORCE_1 (180219)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1F5F9"/>
                </a:solidFill>
              </a:defRPr>
            </a:pPr>
            <a:r>
              <a:t>Slide 13 | Implementation Status Matrix &amp; Development Roadmap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371600"/>
            <a:ext cx="5120640" cy="4937760"/>
          </a:xfrm>
          <a:prstGeom prst="roundRect">
            <a:avLst/>
          </a:prstGeom>
          <a:solidFill>
            <a:srgbClr val="131B2C"/>
          </a:solidFill>
          <a:ln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 tIns="365760"/>
          <a:lstStyle/>
          <a:p>
            <a:pPr algn="ctr">
              <a:spcAft>
                <a:spcPts val="1000"/>
              </a:spcAft>
              <a:defRPr sz="1400" b="1">
                <a:solidFill>
                  <a:srgbClr val="34D399"/>
                </a:solidFill>
              </a:defRPr>
            </a:pPr>
            <a:r>
              <a:t>RUNNABLE IN CURRENT MVP (TODAY)</a:t>
            </a:r>
          </a:p>
          <a:p>
            <a:pPr>
              <a:spcAft>
                <a:spcPts val="600"/>
              </a:spcAft>
              <a:defRPr sz="1000" b="1">
                <a:solidFill>
                  <a:srgbClr val="F1F5F9"/>
                </a:solidFill>
              </a:defRPr>
            </a:pPr>
            <a:r>
              <a:t>✔ Host Telemetry &amp; Port Inspector: </a:t>
            </a:r>
            <a:r>
              <a:rPr b="0">
                <a:solidFill>
                  <a:srgbClr val="94A3B8"/>
                </a:solidFill>
              </a:rPr>
              <a:t>Live extraction of open sockets, CPU/RAM utilization, and process states (psutil).</a:t>
            </a:r>
          </a:p>
          <a:p>
            <a:pPr>
              <a:spcAft>
                <a:spcPts val="600"/>
              </a:spcAft>
              <a:defRPr sz="1000" b="1">
                <a:solidFill>
                  <a:srgbClr val="F1F5F9"/>
                </a:solidFill>
              </a:defRPr>
            </a:pPr>
            <a:r>
              <a:t>✔ Prototype Financial Exposure (EAL): </a:t>
            </a:r>
            <a:r>
              <a:rPr b="0">
                <a:solidFill>
                  <a:srgbClr val="94A3B8"/>
                </a:solidFill>
              </a:rPr>
              <a:t>Live computation of hourly downtime loss and estimated incident cost in ₹ INR.</a:t>
            </a:r>
          </a:p>
          <a:p>
            <a:pPr>
              <a:spcAft>
                <a:spcPts val="600"/>
              </a:spcAft>
              <a:defRPr sz="1000" b="1">
                <a:solidFill>
                  <a:srgbClr val="F1F5F9"/>
                </a:solidFill>
              </a:defRPr>
            </a:pPr>
            <a:r>
              <a:t>✔ What-If Simulation Engine: </a:t>
            </a:r>
            <a:r>
              <a:rPr b="0">
                <a:solidFill>
                  <a:srgbClr val="94A3B8"/>
                </a:solidFill>
              </a:rPr>
              <a:t>Interactive parameter tuning and MITRE attack vector wargaming.</a:t>
            </a:r>
          </a:p>
          <a:p>
            <a:pPr>
              <a:spcAft>
                <a:spcPts val="600"/>
              </a:spcAft>
              <a:defRPr sz="1000" b="1">
                <a:solidFill>
                  <a:srgbClr val="F1F5F9"/>
                </a:solidFill>
              </a:defRPr>
            </a:pPr>
            <a:r>
              <a:t>✔ Budget Investment Optimizer: </a:t>
            </a:r>
            <a:r>
              <a:rPr b="0">
                <a:solidFill>
                  <a:srgbClr val="94A3B8"/>
                </a:solidFill>
              </a:rPr>
              <a:t>Knapsack evaluation of defense packages, ROSI %, and tailored action list.</a:t>
            </a:r>
          </a:p>
          <a:p>
            <a:pPr>
              <a:spcAft>
                <a:spcPts val="600"/>
              </a:spcAft>
              <a:defRPr sz="1000" b="1">
                <a:solidFill>
                  <a:srgbClr val="F1F5F9"/>
                </a:solidFill>
              </a:defRPr>
            </a:pPr>
            <a:r>
              <a:t>✔ Blockchain Ledger &amp; Tamper Demo: </a:t>
            </a:r>
            <a:r>
              <a:rPr b="0">
                <a:solidFill>
                  <a:srgbClr val="94A3B8"/>
                </a:solidFill>
              </a:rPr>
              <a:t>SHA-256 blocks with Merkle roots, Proof-of-Work mining, and live tamper simulation.</a:t>
            </a:r>
          </a:p>
          <a:p>
            <a:pPr>
              <a:spcAft>
                <a:spcPts val="600"/>
              </a:spcAft>
              <a:defRPr sz="1000" b="1">
                <a:solidFill>
                  <a:srgbClr val="F1F5F9"/>
                </a:solidFill>
              </a:defRPr>
            </a:pPr>
            <a:r>
              <a:t>✔ Physical Security &amp; Gestures: </a:t>
            </a:r>
            <a:r>
              <a:rPr b="0">
                <a:solidFill>
                  <a:srgbClr val="94A3B8"/>
                </a:solidFill>
              </a:rPr>
              <a:t>YOLOv8 operator auto-lock + MediaPipe touchless OS mouse controls.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371600"/>
            <a:ext cx="5212080" cy="4937760"/>
          </a:xfrm>
          <a:prstGeom prst="roundRect">
            <a:avLst/>
          </a:prstGeom>
          <a:solidFill>
            <a:srgbClr val="131B2C"/>
          </a:solidFill>
          <a:ln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 tIns="365760"/>
          <a:lstStyle/>
          <a:p>
            <a:pPr algn="ctr">
              <a:spcAft>
                <a:spcPts val="1000"/>
              </a:spcAft>
              <a:defRPr sz="1400" b="1">
                <a:solidFill>
                  <a:srgbClr val="22D3EE"/>
                </a:solidFill>
              </a:defRPr>
            </a:pPr>
            <a:r>
              <a:t>FUTURE PRODUCTION ROADMAP</a:t>
            </a:r>
          </a:p>
          <a:p>
            <a:pPr>
              <a:spcAft>
                <a:spcPts val="600"/>
              </a:spcAft>
              <a:defRPr sz="1000" b="1">
                <a:solidFill>
                  <a:srgbClr val="F1F5F9"/>
                </a:solidFill>
              </a:defRPr>
            </a:pPr>
            <a:r>
              <a:t>🚀 Enterprise Ingestion Connectors (Q1):</a:t>
            </a:r>
            <a:br/>
            <a:r>
              <a:rPr b="0">
                <a:solidFill>
                  <a:srgbClr val="94A3B8"/>
                </a:solidFill>
              </a:rPr>
              <a:t>Native log forwarders for Wazuh, Splunk, CrowdStrike EDR, and AWS/Azure CSPM.</a:t>
            </a:r>
          </a:p>
          <a:p>
            <a:pPr>
              <a:spcAft>
                <a:spcPts val="600"/>
              </a:spcAft>
              <a:defRPr sz="1000" b="1">
                <a:solidFill>
                  <a:srgbClr val="F1F5F9"/>
                </a:solidFill>
              </a:defRPr>
            </a:pPr>
            <a:r>
              <a:t>🚀 Monte Carlo Probabilistic VaR (Q2):</a:t>
            </a:r>
            <a:br/>
            <a:r>
              <a:rPr b="0">
                <a:solidFill>
                  <a:srgbClr val="94A3B8"/>
                </a:solidFill>
              </a:rPr>
              <a:t>Statistical probability density distributions estimating Value at Risk at 95% confidence intervals.</a:t>
            </a:r>
          </a:p>
          <a:p>
            <a:pPr>
              <a:spcAft>
                <a:spcPts val="600"/>
              </a:spcAft>
              <a:defRPr sz="1000" b="1">
                <a:solidFill>
                  <a:srgbClr val="F1F5F9"/>
                </a:solidFill>
              </a:defRPr>
            </a:pPr>
            <a:r>
              <a:t>🚀 Multi-Campus Consortium Network (Q2):</a:t>
            </a:r>
            <a:br/>
            <a:r>
              <a:rPr b="0">
                <a:solidFill>
                  <a:srgbClr val="94A3B8"/>
                </a:solidFill>
              </a:rPr>
              <a:t>Deploying real peer-to-peer validator nodes across participating universities.</a:t>
            </a:r>
          </a:p>
          <a:p>
            <a:pPr>
              <a:spcAft>
                <a:spcPts val="600"/>
              </a:spcAft>
              <a:defRPr sz="1000" b="1">
                <a:solidFill>
                  <a:srgbClr val="F1F5F9"/>
                </a:solidFill>
              </a:defRPr>
            </a:pPr>
            <a:r>
              <a:t>🚀 Automated Dynamic Control Discovery (Q3):</a:t>
            </a:r>
            <a:br/>
            <a:r>
              <a:rPr b="0">
                <a:solidFill>
                  <a:srgbClr val="94A3B8"/>
                </a:solidFill>
              </a:rPr>
              <a:t>Direct API integration with IT procurement systems for dynamic security solution pricing.</a:t>
            </a:r>
          </a:p>
          <a:p>
            <a:pPr>
              <a:spcAft>
                <a:spcPts val="600"/>
              </a:spcAft>
              <a:defRPr sz="1000" b="1">
                <a:solidFill>
                  <a:srgbClr val="F1F5F9"/>
                </a:solidFill>
              </a:defRPr>
            </a:pPr>
            <a:r>
              <a:t>🚀 Full DPDP Audit Automation (Q3):</a:t>
            </a:r>
            <a:br/>
            <a:r>
              <a:rPr b="0">
                <a:solidFill>
                  <a:srgbClr val="94A3B8"/>
                </a:solidFill>
              </a:rPr>
              <a:t>Automated compliance reports formatted for direct submission to Indian regulatory authorities.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22D3EE"/>
                </a:solidFill>
              </a:defRPr>
            </a:pPr>
            <a:r>
              <a:t>SMART INDIA HACKATHON 2026 | PS ID: SIH26105 | BYTEFORCE_1 (180219)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1F5F9"/>
                </a:solidFill>
              </a:defRPr>
            </a:pPr>
            <a:r>
              <a:t>Slide 14 | Evaluator-Grounded 5-Minute Live Demonstration Sequence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371600"/>
            <a:ext cx="10698480" cy="4937760"/>
          </a:xfrm>
          <a:prstGeom prst="roundRect">
            <a:avLst/>
          </a:prstGeom>
          <a:solidFill>
            <a:srgbClr val="131B2C"/>
          </a:solidFill>
          <a:ln w="19050">
            <a:solidFill>
              <a:srgbClr val="00E5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 tIns="274320"/>
          <a:lstStyle/>
          <a:p>
            <a:pPr algn="ctr">
              <a:spcAft>
                <a:spcPts val="800"/>
              </a:spcAft>
              <a:defRPr sz="1400" b="1">
                <a:solidFill>
                  <a:srgbClr val="22D3EE"/>
                </a:solidFill>
              </a:defRPr>
            </a:pPr>
            <a:r>
              <a:t>STEP-BY-STEP LIVE DEMO FLOW (100% DEMONSTRABLE ON CURRENT BUILD)</a:t>
            </a:r>
          </a:p>
          <a:p>
            <a:pPr>
              <a:spcAft>
                <a:spcPts val="500"/>
              </a:spcAft>
              <a:defRPr sz="1100" b="1">
                <a:solidFill>
                  <a:srgbClr val="22D3EE"/>
                </a:solidFill>
              </a:defRPr>
            </a:pPr>
            <a:r>
              <a:t>⏱ 0:00 – 0:45 | Dashboard &amp; Host Status: </a:t>
            </a:r>
            <a:r>
              <a:rPr b="0">
                <a:solidFill>
                  <a:srgbClr val="F1F5F9"/>
                </a:solidFill>
              </a:rPr>
              <a:t>Launch AURA SOC Dashboard (Module 01). Show live compute telemetry, listening socket counts, and normalized technical risk score.</a:t>
            </a:r>
          </a:p>
          <a:p>
            <a:pPr>
              <a:spcAft>
                <a:spcPts val="500"/>
              </a:spcAft>
              <a:defRPr sz="1100" b="1">
                <a:solidFill>
                  <a:srgbClr val="22D3EE"/>
                </a:solidFill>
              </a:defRPr>
            </a:pPr>
            <a:r>
              <a:t>⏱ 0:45 – 1:30 | Attack Surface Detection: </a:t>
            </a:r>
            <a:r>
              <a:rPr b="0">
                <a:solidFill>
                  <a:srgbClr val="F1F5F9"/>
                </a:solidFill>
              </a:rPr>
              <a:t>Navigate to Attack Surface (Module 02). Highlight active listening ports, danger classifications, and process IDs.</a:t>
            </a:r>
          </a:p>
          <a:p>
            <a:pPr>
              <a:spcAft>
                <a:spcPts val="500"/>
              </a:spcAft>
              <a:defRPr sz="1100" b="1">
                <a:solidFill>
                  <a:srgbClr val="34D399"/>
                </a:solidFill>
              </a:defRPr>
            </a:pPr>
            <a:r>
              <a:t>⏱ 1:30 – 2:15 | Prototype Financial Risk (EAL): </a:t>
            </a:r>
            <a:r>
              <a:rPr b="0">
                <a:solidFill>
                  <a:srgbClr val="F1F5F9"/>
                </a:solidFill>
              </a:rPr>
              <a:t>Open Financial Risk (Module 04). Demonstrate live translation of socket stress into hourly downtime rate and estimated exposure in ₹ INR.</a:t>
            </a:r>
          </a:p>
          <a:p>
            <a:pPr>
              <a:spcAft>
                <a:spcPts val="500"/>
              </a:spcAft>
              <a:defRPr sz="1100" b="1">
                <a:solidFill>
                  <a:srgbClr val="34D399"/>
                </a:solidFill>
              </a:defRPr>
            </a:pPr>
            <a:r>
              <a:t>⏱ 2:15 – 3:15 | What-If Scenario Simulation: </a:t>
            </a:r>
            <a:r>
              <a:rPr b="0">
                <a:solidFill>
                  <a:srgbClr val="F1F5F9"/>
                </a:solidFill>
              </a:rPr>
              <a:t>Open What-If Engine (Module 05). Adjust sliders to demonstrate exposure reduction; trigger MITRE wargame scenario and log mitigation.</a:t>
            </a:r>
          </a:p>
          <a:p>
            <a:pPr>
              <a:spcAft>
                <a:spcPts val="500"/>
              </a:spcAft>
              <a:defRPr sz="1100" b="1">
                <a:solidFill>
                  <a:srgbClr val="FBBF24"/>
                </a:solidFill>
              </a:defRPr>
            </a:pPr>
            <a:r>
              <a:t>⏱ 3:15 – 4:15 | Budget Investment Optimizer: </a:t>
            </a:r>
            <a:r>
              <a:rPr b="0">
                <a:solidFill>
                  <a:srgbClr val="F1F5F9"/>
                </a:solidFill>
              </a:rPr>
              <a:t>Open Investment Optimizer (Module 06). Input ₹1,00,000 budget; execute Knapsack optimizer to display recommended tier and ROSI %.</a:t>
            </a:r>
          </a:p>
          <a:p>
            <a:pPr>
              <a:spcAft>
                <a:spcPts val="500"/>
              </a:spcAft>
              <a:defRPr sz="1100" b="1">
                <a:solidFill>
                  <a:srgbClr val="F87171"/>
                </a:solidFill>
              </a:defRPr>
            </a:pPr>
            <a:r>
              <a:t>⏱ 4:15 – 4:45 | Blockchain Tamper Showdown: </a:t>
            </a:r>
            <a:r>
              <a:rPr b="0">
                <a:solidFill>
                  <a:srgbClr val="F1F5F9"/>
                </a:solidFill>
              </a:rPr>
              <a:t>Open Blockchain Ledger (Module 10). Run integrity audit (100% valid) ➔ Trigger tamper simulation ➔ Show instant red alert ➔ Restore consensus.</a:t>
            </a:r>
          </a:p>
          <a:p>
            <a:pPr>
              <a:spcAft>
                <a:spcPts val="500"/>
              </a:spcAft>
              <a:defRPr sz="1100" b="1">
                <a:solidFill>
                  <a:srgbClr val="F1F5F9"/>
                </a:solidFill>
              </a:defRPr>
            </a:pPr>
            <a:r>
              <a:t>⏱ 4:45 – 5:00 | Executive Audit Report Wrap-up: </a:t>
            </a:r>
            <a:r>
              <a:rPr b="0">
                <a:solidFill>
                  <a:srgbClr val="F1F5F9"/>
                </a:solidFill>
              </a:rPr>
              <a:t>Click 'Audit Report' button in navbar. Present printable executive report summarizing compliance alignment and actuarial exposure.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