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429768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defRPr sz="1300" b="1">
                <a:solidFill>
                  <a:srgbClr val="22D3EE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400"/>
              </a:spcAft>
              <a:defRPr sz="3600" b="1">
                <a:solidFill>
                  <a:srgbClr val="F8FAFC"/>
                </a:solidFill>
              </a:defRPr>
            </a:pPr>
            <a:r>
              <a:t>AURA SENTINEL</a:t>
            </a:r>
          </a:p>
          <a:p>
            <a:pPr>
              <a:spcAft>
                <a:spcPts val="1200"/>
              </a:spcAft>
              <a:defRPr sz="1500" b="1">
                <a:solidFill>
                  <a:srgbClr val="34D399"/>
                </a:solidFill>
              </a:defRPr>
            </a:pPr>
            <a:r>
              <a:t>AI-Powered Continuous Cyber Risk Quantification &amp; Investment Optimization Platform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Problem Statement ID: </a:t>
            </a:r>
            <a:r>
              <a:rPr b="0">
                <a:solidFill>
                  <a:srgbClr val="F8FAFC"/>
                </a:solidFill>
              </a:rPr>
              <a:t>SIH26105 | Ministry of Education's Innovation Cell (MIC) &amp; AICTE Cyber Security Cell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Theme &amp; Category: </a:t>
            </a:r>
            <a:r>
              <a:rPr b="0">
                <a:solidFill>
                  <a:srgbClr val="F8FAFC"/>
                </a:solidFill>
              </a:rPr>
              <a:t>Blockchain &amp; Cybersecurity | Software Solution (Enterprise &amp; Campus Defense)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Team Name &amp; ID: </a:t>
            </a:r>
            <a:r>
              <a:rPr b="0">
                <a:solidFill>
                  <a:srgbClr val="F8FAFC"/>
                </a:solidFill>
              </a:rPr>
              <a:t>ByteForce_1 (Official SIH Team ID: 180219)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Institute Name: </a:t>
            </a:r>
            <a:r>
              <a:rPr b="0">
                <a:solidFill>
                  <a:srgbClr val="F8FAFC"/>
                </a:solidFill>
              </a:rPr>
              <a:t>Skyline Institute of Engineering and Technology, Greater Noida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Team Leader &amp; Members: </a:t>
            </a:r>
            <a:r>
              <a:rPr b="0">
                <a:solidFill>
                  <a:srgbClr val="F8FAFC"/>
                </a:solidFill>
              </a:rPr>
              <a:t>Aryan Baghel (Lead), Kirti, Hitesh Chauhan, Avinav Jha, Sharim Khan, Aman Sekh</a:t>
            </a:r>
          </a:p>
          <a:p>
            <a:pPr>
              <a:spcAft>
                <a:spcPts val="300"/>
              </a:spcAft>
              <a:defRPr sz="1100" b="1">
                <a:solidFill>
                  <a:srgbClr val="FBBF24"/>
                </a:solidFill>
              </a:defRPr>
            </a:pPr>
            <a:r>
              <a:t>• Core Mission: </a:t>
            </a:r>
            <a:r>
              <a:rPr b="0">
                <a:solidFill>
                  <a:srgbClr val="F8FAFC"/>
                </a:solidFill>
              </a:rPr>
              <a:t>From abstract vulnerability ratings to actuarial rupee loss estimates — sealed in a tamper-evident audit ledger.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257800"/>
            <a:ext cx="2011680" cy="109728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22D3EE"/>
                </a:solidFill>
              </a:defRPr>
            </a:pPr>
            <a:r>
              <a:t>1. HOST TELEMETRY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Active Sockets &amp; Compute Stress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5257800"/>
            <a:ext cx="2011680" cy="109728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D399"/>
                </a:solidFill>
              </a:defRPr>
            </a:pPr>
            <a:r>
              <a:t>2. RISK SCORING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Weighted Multi-Factor Exposure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5257800"/>
            <a:ext cx="2011680" cy="109728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22D3EE"/>
                </a:solidFill>
              </a:defRPr>
            </a:pPr>
            <a:r>
              <a:t>3. FINANCIAL EXPOSURE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Prototype EAL (₹ INR)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5257800"/>
            <a:ext cx="2011680" cy="109728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34D399"/>
                </a:solidFill>
              </a:defRPr>
            </a:pPr>
            <a:r>
              <a:t>4. SECURITY INVESTMENT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Pareto Knapsack Optimizer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5257800"/>
            <a:ext cx="2011680" cy="109728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200"/>
              </a:spcAft>
              <a:defRPr sz="1000" b="1">
                <a:solidFill>
                  <a:srgbClr val="22D3EE"/>
                </a:solidFill>
              </a:defRPr>
            </a:pPr>
            <a:r>
              <a:t>5. AUDIT TRUST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SHA-256 Merkle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 | SLIDE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Slide 02 | The Real-World Cyber Risk Problem &amp; AURA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120640" cy="41148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F87171"/>
                </a:solidFill>
              </a:defRPr>
            </a:pPr>
            <a:r>
              <a:t>THE REAL-WORLD CYBER RISK PROBLEM</a:t>
            </a:r>
          </a:p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</a:defRPr>
            </a:pPr>
            <a:r>
              <a:t>❌ 1. Static Risk Assessments: </a:t>
            </a:r>
            <a:r>
              <a:rPr b="0">
                <a:solidFill>
                  <a:srgbClr val="94A3B8"/>
                </a:solidFill>
              </a:rPr>
              <a:t>Periodic questionnaires become obsolete as system conditions, active ports, and network services change continuously.</a:t>
            </a:r>
          </a:p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</a:defRPr>
            </a:pPr>
            <a:r>
              <a:t>❌ 2. Technical Risk ≠ Business Impact: </a:t>
            </a:r>
            <a:r>
              <a:rPr b="0">
                <a:solidFill>
                  <a:srgbClr val="94A3B8"/>
                </a:solidFill>
              </a:rPr>
              <a:t>Vulnerability ratings like 'High / Medium / Low' fail to communicate monetary balance-sheet exposure to executive boards and CFOs.</a:t>
            </a:r>
          </a:p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</a:defRPr>
            </a:pPr>
            <a:r>
              <a:t>❌ 3. Security Budget Uncertainty: </a:t>
            </a:r>
            <a:r>
              <a:rPr b="0">
                <a:solidFill>
                  <a:srgbClr val="94A3B8"/>
                </a:solidFill>
              </a:rPr>
              <a:t>Organizations lack a mathematically justifiable method to evaluate and prioritize candidate security controls against a finite budget.</a:t>
            </a:r>
          </a:p>
          <a:p>
            <a:pPr>
              <a:spcAft>
                <a:spcPts val="600"/>
              </a:spcAft>
              <a:defRPr sz="1000" b="1">
                <a:solidFill>
                  <a:srgbClr val="F8FAFC"/>
                </a:solidFill>
              </a:defRPr>
            </a:pPr>
            <a:r>
              <a:t>❌ 4. Audit Log Integrity Vulnerabilities: </a:t>
            </a:r>
            <a:r>
              <a:rPr b="0">
                <a:solidFill>
                  <a:srgbClr val="94A3B8"/>
                </a:solidFill>
              </a:rPr>
              <a:t>Traditional database audit logs remain vulnerable to insider modification, violating strict regulatory non-repudiation mandates.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42255" cy="41148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34D399"/>
                </a:solidFill>
              </a:defRPr>
            </a:pPr>
            <a:r>
              <a:t>AURA SENTINEL: CONTINUOUS DECISION ENGINE</a:t>
            </a:r>
          </a:p>
          <a:p>
            <a:pPr>
              <a:spcAft>
                <a:spcPts val="500"/>
              </a:spcAft>
              <a:defRPr sz="1000" b="1">
                <a:solidFill>
                  <a:srgbClr val="F8FAFC"/>
                </a:solidFill>
              </a:defRPr>
            </a:pPr>
            <a:r>
              <a:t>• Real-Time Telemetry: </a:t>
            </a:r>
            <a:r>
              <a:rPr b="0">
                <a:solidFill>
                  <a:srgbClr val="94A3B8"/>
                </a:solidFill>
              </a:rPr>
              <a:t>Monitors active listening sockets, CPU/RAM stress, and sensitive credential exposures.</a:t>
            </a:r>
          </a:p>
          <a:p>
            <a:pPr>
              <a:spcAft>
                <a:spcPts val="500"/>
              </a:spcAft>
              <a:defRPr sz="1000" b="1">
                <a:solidFill>
                  <a:srgbClr val="F8FAFC"/>
                </a:solidFill>
              </a:defRPr>
            </a:pPr>
            <a:r>
              <a:t>• Continuous Risk Engine: </a:t>
            </a:r>
            <a:r>
              <a:rPr b="0">
                <a:solidFill>
                  <a:srgbClr val="94A3B8"/>
                </a:solidFill>
              </a:rPr>
              <a:t>Calculates a normalized 0–100 multi-factor exposure score dynamically.</a:t>
            </a:r>
          </a:p>
          <a:p>
            <a:pPr>
              <a:spcAft>
                <a:spcPts val="500"/>
              </a:spcAft>
              <a:defRPr sz="1000" b="1">
                <a:solidFill>
                  <a:srgbClr val="F8FAFC"/>
                </a:solidFill>
              </a:defRPr>
            </a:pPr>
            <a:r>
              <a:t>• Financial Risk Model (Prototype): </a:t>
            </a:r>
            <a:r>
              <a:rPr b="0">
                <a:solidFill>
                  <a:srgbClr val="94A3B8"/>
                </a:solidFill>
              </a:rPr>
              <a:t>Translates host stress into estimated operational downtime &amp; Expected Annual Loss in ₹ INR.</a:t>
            </a:r>
          </a:p>
          <a:p>
            <a:pPr>
              <a:spcAft>
                <a:spcPts val="500"/>
              </a:spcAft>
              <a:defRPr sz="1000" b="1">
                <a:solidFill>
                  <a:srgbClr val="F8FAFC"/>
                </a:solidFill>
              </a:defRPr>
            </a:pPr>
            <a:r>
              <a:t>• What-If Scenario Simulation: </a:t>
            </a:r>
            <a:r>
              <a:rPr b="0">
                <a:solidFill>
                  <a:srgbClr val="94A3B8"/>
                </a:solidFill>
              </a:rPr>
              <a:t>Empowers operators to model parameter changes &amp; simulated MITRE threat mitigations.</a:t>
            </a:r>
          </a:p>
          <a:p>
            <a:pPr>
              <a:spcAft>
                <a:spcPts val="500"/>
              </a:spcAft>
              <a:defRPr sz="1000" b="1">
                <a:solidFill>
                  <a:srgbClr val="F8FAFC"/>
                </a:solidFill>
              </a:defRPr>
            </a:pPr>
            <a:r>
              <a:t>• Budget Knapsack Optimizer (Prototype): </a:t>
            </a:r>
            <a:r>
              <a:rPr b="0">
                <a:solidFill>
                  <a:srgbClr val="94A3B8"/>
                </a:solidFill>
              </a:rPr>
              <a:t>Ranks security defense packages by ROSI (%) under explicit budget limits (e.g. ₹1 Crore).</a:t>
            </a:r>
          </a:p>
          <a:p>
            <a:pPr>
              <a:spcAft>
                <a:spcPts val="500"/>
              </a:spcAft>
              <a:defRPr sz="1000" b="1">
                <a:solidFill>
                  <a:srgbClr val="F8FAFC"/>
                </a:solidFill>
              </a:defRPr>
            </a:pPr>
            <a:r>
              <a:t>• Tamper-Evident Audit Ledger: </a:t>
            </a:r>
            <a:r>
              <a:rPr b="0">
                <a:solidFill>
                  <a:srgbClr val="94A3B8"/>
                </a:solidFill>
              </a:rPr>
              <a:t>Anchors assessments and quarantine records in a SHA-256 Merkle blockchain.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09728"/>
          <a:lstStyle/>
          <a:p>
            <a:pPr algn="ctr">
              <a:spcAft>
                <a:spcPts val="200"/>
              </a:spcAft>
              <a:defRPr sz="1100" b="1">
                <a:solidFill>
                  <a:srgbClr val="22D3EE"/>
                </a:solidFill>
              </a:defRPr>
            </a:pPr>
            <a:r>
              <a:t>PARADIGM SHIFT: FROM ABSTRACT CVE RATINGS ➔ TO MEASURABLE, ACTUARIAL &amp; ACTIONABLE DECISIONS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"From technical security signals to financially informed security decisions — backed by a tamper-evident audit ledger."</a:t>
            </a:r>
            <a:br/>
            <a:r>
              <a:t>(Note: Financial exposure calculations operate as prototype models designed for institutional decision-support).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 | SLIDE 3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Slide 03 | Technical Approach: Architecture &amp;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6858000" cy="658368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1. REAL-TIME SYSTEM INPUTS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CPU • RAM • Disk • Processes • Ports • Sockets • Sensitive Files (psutil)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56816"/>
            <a:ext cx="6858000" cy="658368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2. ATTACK SURFACE ENGINE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Listening Socket Enumeration • Port Classification • Active Process 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24912"/>
            <a:ext cx="6858000" cy="658368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3. CONTINUOUS RISK ENGINE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Multi-Factor Weighted Scoring Model (0–100 Normalized Exposure Metric)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6858000" cy="658368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4. FINANCIAL RISK MODEL [PROTOTYPE]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Downtime Cost Rate • Hourly Disruption • Prototype Expected Annual Loss (₹ INR)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61104"/>
            <a:ext cx="6858000" cy="658368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5. WHAT-IF SIMULATION ENGINE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Interactive Slider Parameter Tuning • MITRE ATT&amp;CK Wargame 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6858000" cy="658368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6. INVESTMENT OPTIMIZER [PROTOTYPE]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Institutional Budget Constraint (₹) ➔ Pareto Knapsack Optimizer ➔ ROSI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97296"/>
            <a:ext cx="6858000" cy="658368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000" b="1">
                <a:solidFill>
                  <a:srgbClr val="22D3EE"/>
                </a:solidFill>
              </a:defRPr>
            </a:pPr>
            <a:r>
              <a:t>7. TAMPER-EVIDENT AUDIT LEDGER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SHA-256 Merkle Root Sealing • Proof-of-Work Mining • Integrity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188720"/>
            <a:ext cx="3687775" cy="525780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22D3EE"/>
                </a:solidFill>
              </a:defRPr>
            </a:pPr>
            <a:r>
              <a:t>TECHNOLOGY STACK &amp; STATUS</a:t>
            </a:r>
          </a:p>
          <a:p>
            <a:pPr>
              <a:spcAft>
                <a:spcPts val="400"/>
              </a:spcAft>
              <a:defRPr sz="900" b="1">
                <a:solidFill>
                  <a:srgbClr val="F8FAFC"/>
                </a:solidFill>
              </a:defRPr>
            </a:pPr>
            <a:r>
              <a:t>FRONTEND SOC LAYER: </a:t>
            </a:r>
            <a:r>
              <a:rPr b="0">
                <a:solidFill>
                  <a:srgbClr val="94A3B8"/>
                </a:solidFill>
              </a:rPr>
              <a:t>React 19 + Vite 8 + Cyber Audio SOC
</a:t>
            </a:r>
            <a:r>
              <a:rPr sz="800" b="1">
                <a:solidFill>
                  <a:srgbClr val="34D399"/>
                </a:solidFill>
              </a:rPr>
              <a:t>Status: ● IMPLEMENTED</a:t>
            </a:r>
          </a:p>
          <a:p>
            <a:pPr>
              <a:spcAft>
                <a:spcPts val="400"/>
              </a:spcAft>
              <a:defRPr sz="900" b="1">
                <a:solidFill>
                  <a:srgbClr val="F8FAFC"/>
                </a:solidFill>
              </a:defRPr>
            </a:pPr>
            <a:r>
              <a:t>BACKEND MICRO-KERNEL: </a:t>
            </a:r>
            <a:r>
              <a:rPr b="0">
                <a:solidFill>
                  <a:srgbClr val="94A3B8"/>
                </a:solidFill>
              </a:rPr>
              <a:t>Python 3.10+ &amp; FastAPI Async Kernel
</a:t>
            </a:r>
            <a:r>
              <a:rPr sz="800" b="1">
                <a:solidFill>
                  <a:srgbClr val="34D399"/>
                </a:solidFill>
              </a:rPr>
              <a:t>Status: ● IMPLEMENTED</a:t>
            </a:r>
          </a:p>
          <a:p>
            <a:pPr>
              <a:spcAft>
                <a:spcPts val="400"/>
              </a:spcAft>
              <a:defRPr sz="900" b="1">
                <a:solidFill>
                  <a:srgbClr val="F8FAFC"/>
                </a:solidFill>
              </a:defRPr>
            </a:pPr>
            <a:r>
              <a:t>HOST TELEMETRY INGESTION: </a:t>
            </a:r>
            <a:r>
              <a:rPr b="0">
                <a:solidFill>
                  <a:srgbClr val="94A3B8"/>
                </a:solidFill>
              </a:rPr>
              <a:t>psutil Real-Time Socket &amp; Metric Inspector
</a:t>
            </a:r>
            <a:r>
              <a:rPr sz="800" b="1">
                <a:solidFill>
                  <a:srgbClr val="34D399"/>
                </a:solidFill>
              </a:rPr>
              <a:t>Status: ● IMPLEMENTED</a:t>
            </a:r>
          </a:p>
          <a:p>
            <a:pPr>
              <a:spcAft>
                <a:spcPts val="400"/>
              </a:spcAft>
              <a:defRPr sz="900" b="1">
                <a:solidFill>
                  <a:srgbClr val="F8FAFC"/>
                </a:solidFill>
              </a:defRPr>
            </a:pPr>
            <a:r>
              <a:t>AI / COMPUTER VISION: </a:t>
            </a:r>
            <a:r>
              <a:rPr b="0">
                <a:solidFill>
                  <a:srgbClr val="94A3B8"/>
                </a:solidFill>
              </a:rPr>
              <a:t>Ultralytics YOLOv8n + MediaPipe 0.10
</a:t>
            </a:r>
            <a:r>
              <a:rPr sz="800" b="1">
                <a:solidFill>
                  <a:srgbClr val="34D399"/>
                </a:solidFill>
              </a:rPr>
              <a:t>Status: ● IMPLEMENTED</a:t>
            </a:r>
          </a:p>
          <a:p>
            <a:pPr>
              <a:spcAft>
                <a:spcPts val="400"/>
              </a:spcAft>
              <a:defRPr sz="900" b="1">
                <a:solidFill>
                  <a:srgbClr val="F8FAFC"/>
                </a:solidFill>
              </a:defRPr>
            </a:pPr>
            <a:r>
              <a:t>LOCAL STORAGE HUB: </a:t>
            </a:r>
            <a:r>
              <a:rPr b="0">
                <a:solidFill>
                  <a:srgbClr val="94A3B8"/>
                </a:solidFill>
              </a:rPr>
              <a:t>SQLite 3 with Write-Ahead Logging (WAL)
</a:t>
            </a:r>
            <a:r>
              <a:rPr sz="800" b="1">
                <a:solidFill>
                  <a:srgbClr val="34D399"/>
                </a:solidFill>
              </a:rPr>
              <a:t>Status: ● IMPLEMENTED</a:t>
            </a:r>
          </a:p>
          <a:p>
            <a:pPr>
              <a:spcAft>
                <a:spcPts val="400"/>
              </a:spcAft>
              <a:defRPr sz="900" b="1">
                <a:solidFill>
                  <a:srgbClr val="F8FAFC"/>
                </a:solidFill>
              </a:defRPr>
            </a:pPr>
            <a:r>
              <a:t>CRYPTOGRAPHIC AUDIT: </a:t>
            </a:r>
            <a:r>
              <a:rPr b="0">
                <a:solidFill>
                  <a:srgbClr val="94A3B8"/>
                </a:solidFill>
              </a:rPr>
              <a:t>SHA-256 Merkle Ledger + PoW Demo
</a:t>
            </a:r>
            <a:r>
              <a:rPr sz="800" b="1">
                <a:solidFill>
                  <a:srgbClr val="34D399"/>
                </a:solidFill>
              </a:rPr>
              <a:t>Status: ● IMPLEMENTED</a:t>
            </a:r>
          </a:p>
          <a:p>
            <a:pPr>
              <a:spcAft>
                <a:spcPts val="400"/>
              </a:spcAft>
              <a:defRPr sz="900" b="1">
                <a:solidFill>
                  <a:srgbClr val="F8FAFC"/>
                </a:solidFill>
              </a:defRPr>
            </a:pPr>
            <a:r>
              <a:t>PROTOTYPE EXPOSURE &amp; ROSI: </a:t>
            </a:r>
            <a:r>
              <a:rPr b="0">
                <a:solidFill>
                  <a:srgbClr val="94A3B8"/>
                </a:solidFill>
              </a:rPr>
              <a:t>Actuarial FAIR Formulae + Knapsack
</a:t>
            </a:r>
            <a:r>
              <a:rPr sz="800" b="1">
                <a:solidFill>
                  <a:srgbClr val="FBBF24"/>
                </a:solidFill>
              </a:rPr>
              <a:t>Status: ◐ PROTOTYPE</a:t>
            </a:r>
          </a:p>
          <a:p>
            <a:pPr>
              <a:spcAft>
                <a:spcPts val="400"/>
              </a:spcAft>
              <a:defRPr sz="900" b="1">
                <a:solidFill>
                  <a:srgbClr val="F8FAFC"/>
                </a:solidFill>
              </a:defRPr>
            </a:pPr>
            <a:r>
              <a:t>ADVANCED RISK MODELING: </a:t>
            </a:r>
            <a:r>
              <a:rPr b="0">
                <a:solidFill>
                  <a:srgbClr val="94A3B8"/>
                </a:solidFill>
              </a:rPr>
              <a:t>Probabilistic Monte Carlo VaR (95%)
</a:t>
            </a:r>
            <a:r>
              <a:rPr sz="800" b="1">
                <a:solidFill>
                  <a:srgbClr val="22D3EE"/>
                </a:solidFill>
              </a:rPr>
              <a:t>Status: ○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 | SLIDE 4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Slide 04 | Feasibility, Viability &amp; Deployment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120640" cy="429768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2D3EE"/>
                </a:solidFill>
              </a:defRPr>
            </a:pPr>
            <a:r>
              <a:t>TECHNICAL FEASIBILITY &amp; READINESS</a:t>
            </a:r>
          </a:p>
          <a:p>
            <a:pPr>
              <a:spcAft>
                <a:spcPts val="400"/>
              </a:spcAft>
              <a:defRPr sz="950" b="1">
                <a:solidFill>
                  <a:srgbClr val="F8FAFC"/>
                </a:solidFill>
              </a:defRPr>
            </a:pPr>
            <a:r>
              <a:t>✔ Local-First Architecture: </a:t>
            </a:r>
            <a:r>
              <a:rPr b="0">
                <a:solidFill>
                  <a:srgbClr val="94A3B8"/>
                </a:solidFill>
              </a:rPr>
              <a:t>Runs efficiently on standard quad-core CPUs (&lt;1% host compute overhead) without mandatory cloud GPU clusters.</a:t>
            </a:r>
          </a:p>
          <a:p>
            <a:pPr>
              <a:spcAft>
                <a:spcPts val="400"/>
              </a:spcAft>
              <a:defRPr sz="950" b="1">
                <a:solidFill>
                  <a:srgbClr val="F8FAFC"/>
                </a:solidFill>
              </a:defRPr>
            </a:pPr>
            <a:r>
              <a:t>✔ Zero Recurring License Fees: </a:t>
            </a:r>
            <a:r>
              <a:rPr b="0">
                <a:solidFill>
                  <a:srgbClr val="94A3B8"/>
                </a:solidFill>
              </a:rPr>
              <a:t>Operates without paid third-party API dependencies, offering a viable alternative to costly proprietary suites.</a:t>
            </a:r>
          </a:p>
          <a:p>
            <a:pPr>
              <a:spcAft>
                <a:spcPts val="400"/>
              </a:spcAft>
              <a:defRPr sz="950" b="1">
                <a:solidFill>
                  <a:srgbClr val="F8FAFC"/>
                </a:solidFill>
              </a:defRPr>
            </a:pPr>
            <a:r>
              <a:t>✔ Tested Standalone MVP: </a:t>
            </a:r>
            <a:r>
              <a:rPr b="0">
                <a:solidFill>
                  <a:srgbClr val="94A3B8"/>
                </a:solidFill>
              </a:rPr>
              <a:t>Core host telemetry, port classification, What-If wargaming, and tamper-evident ledger are fully functional and demonstrable today.</a:t>
            </a:r>
          </a:p>
          <a:p>
            <a:pPr>
              <a:spcAft>
                <a:spcPts val="400"/>
              </a:spcAft>
              <a:defRPr sz="950" b="1">
                <a:solidFill>
                  <a:srgbClr val="F8FAFC"/>
                </a:solidFill>
              </a:defRPr>
            </a:pPr>
            <a:r>
              <a:t>✔ Air-Gapped Operational Safety: </a:t>
            </a:r>
            <a:r>
              <a:rPr b="0">
                <a:solidFill>
                  <a:srgbClr val="94A3B8"/>
                </a:solidFill>
              </a:rPr>
              <a:t>Can operate entirely inside closed institutional LANs with zero external telemetry data leakage.</a:t>
            </a:r>
          </a:p>
          <a:p>
            <a:br/>
            <a:pPr>
              <a:defRPr sz="850">
                <a:solidFill>
                  <a:srgbClr val="34D399"/>
                </a:solidFill>
              </a:defRPr>
            </a:pPr>
            <a:r>
              <a:t>● IMPLEMENTED: Host Telemetry, Attack Surface, Risk Scorer, What-If, Audit Ledger, Auto-Lock</a:t>
            </a:r>
            <a:br/>
            <a:r>
              <a:t>◐ PROTOTYPE: Expected Annual Loss (EAL in ₹), Knapsack Investment Optimizer</a:t>
            </a:r>
            <a:br/>
            <a:r>
              <a:t>○ FUTURE: Monte Carlo VaR Distributions, Enterprise Forwarders, Multi-Institution 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242255" cy="429768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VIABILITY &amp; DEPLOYMENT SCALING JOURNEY</a:t>
            </a:r>
          </a:p>
          <a:p>
            <a:pPr>
              <a:spcAft>
                <a:spcPts val="800"/>
              </a:spcAft>
              <a:defRPr sz="950">
                <a:solidFill>
                  <a:srgbClr val="F8FAFC"/>
                </a:solidFill>
              </a:defRPr>
            </a:pPr>
            <a:r>
              <a:t>PHASE 1: LOCAL MVP (Host Agent)</a:t>
            </a:r>
            <a:br/>
            <a:r>
              <a:t>   Standalone single-endpoint agent validating continuous telemetry &amp; exposure.</a:t>
            </a:r>
            <a:br/>
            <a:r>
              <a:t>PHASE 2: INSTITUTIONAL PILOT (Campus LAN)</a:t>
            </a:r>
            <a:br/>
            <a:r>
              <a:t>   Lightweight agents forwarding host metrics across internal campus nodes.</a:t>
            </a:r>
            <a:br/>
            <a:r>
              <a:t>PHASE 3: ENTERPRISE INTEGRATIONS</a:t>
            </a:r>
            <a:br/>
            <a:r>
              <a:t>   Native connectors for Syslog, Fluentbit, and Wazuh log pipelines.</a:t>
            </a:r>
            <a:br/>
            <a:r>
              <a:t>PHASE 4: MULTI-INSTITUTION CONSORTIUM</a:t>
            </a:r>
            <a:br/>
            <a:r>
              <a:t>   Decentralized consortium nodes sharing unforgeable cross-campus risk posture.</a:t>
            </a:r>
          </a:p>
          <a:p>
            <a:pPr>
              <a:spcAft>
                <a:spcPts val="200"/>
              </a:spcAft>
              <a:defRPr sz="900" b="1">
                <a:solidFill>
                  <a:srgbClr val="F8FAFC"/>
                </a:solidFill>
              </a:defRPr>
            </a:pPr>
            <a:r>
              <a:t>• Modular Decoupled Design: </a:t>
            </a:r>
            <a:r>
              <a:rPr b="0">
                <a:solidFill>
                  <a:srgbClr val="94A3B8"/>
                </a:solidFill>
              </a:rPr>
              <a:t>Asynchronous micro-services allow independent horizontal scaling.</a:t>
            </a:r>
          </a:p>
          <a:p>
            <a:pPr>
              <a:spcAft>
                <a:spcPts val="200"/>
              </a:spcAft>
              <a:defRPr sz="900" b="1">
                <a:solidFill>
                  <a:srgbClr val="F8FAFC"/>
                </a:solidFill>
              </a:defRPr>
            </a:pPr>
            <a:r>
              <a:t>• Transparent Decision Support: </a:t>
            </a:r>
            <a:r>
              <a:rPr b="0">
                <a:solidFill>
                  <a:srgbClr val="94A3B8"/>
                </a:solidFill>
              </a:rPr>
              <a:t>Baseline hourly rates and asset weights are fully configurable by institutional CISOs.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22D3EE"/>
                </a:solidFill>
              </a:defRPr>
            </a:pPr>
            <a:r>
              <a:t>ARCHITECTURAL POSITIONING &amp; DEFENSIVE REASONING</a:t>
            </a:r>
          </a:p>
          <a:p>
            <a:pPr algn="ctr">
              <a:defRPr sz="900">
                <a:solidFill>
                  <a:srgbClr val="94A3B8"/>
                </a:solidFill>
              </a:defRPr>
            </a:pPr>
            <a:r>
              <a:t>"AURA Sentinel is engineered as an actuarial decision-support and audit verification platform — it complements, rather than replaces, dedicated perimeter firewalls and endpoint detection infrastructure."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 | SLIDE 5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Slide 05 | Social, Economic &amp; Institutional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728655" cy="100584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spcAft>
                <a:spcPts val="200"/>
              </a:spcAft>
              <a:defRPr sz="1000" b="1">
                <a:solidFill>
                  <a:srgbClr val="22D3EE"/>
                </a:solidFill>
              </a:defRPr>
            </a:pPr>
            <a:r>
              <a:t>OPERATIONAL PARADIGM SHIFT</a:t>
            </a:r>
          </a:p>
          <a:p>
            <a:pPr>
              <a:spcAft>
                <a:spcPts val="200"/>
              </a:spcAft>
              <a:defRPr sz="900">
                <a:solidFill>
                  <a:srgbClr val="F87171"/>
                </a:solidFill>
              </a:defRPr>
            </a:pPr>
            <a:r>
              <a:t>BEFORE AURA:   [ Raw Host Logs ] ➔ [ Isolated Alert Spam ] ➔ [ Qualitative CVE Tags ] ➔ [ Suboptimal Budget Allocation ]</a:t>
            </a:r>
          </a:p>
          <a:p>
            <a:pPr>
              <a:defRPr sz="900" b="1">
                <a:solidFill>
                  <a:srgbClr val="34D399"/>
                </a:solidFill>
              </a:defRPr>
            </a:pPr>
            <a:r>
              <a:t>AFTER AURA:    [ Live Telemetry ] ➔ [ Continuous Risk Scoring ] ➔ [ Actuarial Rupee Exposure ] ➔ [ Knapsack ROSI Optimizer ] ➔ [ Auditable Ledger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120640" cy="173736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0E5FF"/>
                </a:solidFill>
              </a:defRPr>
            </a:pPr>
            <a:r>
              <a:t>SECURITY OPERATIONS TEAMS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Continuous host attack-surface visibility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Automated listening socket threat mapping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Proactive MITRE wargame threat simulation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Rapid risk-informed vulnerability remediation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77440"/>
            <a:ext cx="5120640" cy="173736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34D399"/>
                </a:solidFill>
              </a:defRPr>
            </a:pPr>
            <a:r>
              <a:t>MANAGEMENT &amp; EXECUTIVE BOARD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Actuarial financial visibility into cyber exposure (₹)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Budget-constrained defense capital planning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Transparent Return on Security Investment (ROSI %)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Clear risk vs. expenditure trade-off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120640" cy="173736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FBBF24"/>
                </a:solidFill>
              </a:defRPr>
            </a:pPr>
            <a:r>
              <a:t>AUDIT &amp; COMPLIANCE OFFICERS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Tamper-evident SHA-256 Merkle audit trails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Indisputable cryptographic non-repudiation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Single-click printable CISO Audit PDF report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Meets CERT-In 180-day unalterable log mandates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120640" cy="173736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0E5FF"/>
                </a:solidFill>
              </a:defRPr>
            </a:pPr>
            <a:r>
              <a:t>ACADEMIC &amp; ENTERPRISE INSTITUTION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Eliminates wasteful security tool purchases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Reduces costly operational downtime hours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Local-first deployment without SaaS license fees</a:t>
            </a:r>
          </a:p>
          <a:p>
            <a:pPr>
              <a:spcAft>
                <a:spcPts val="150"/>
              </a:spcAft>
              <a:defRPr sz="900">
                <a:solidFill>
                  <a:srgbClr val="F8FAFC"/>
                </a:solidFill>
              </a:defRPr>
            </a:pPr>
            <a:r>
              <a:t>• Strengthens overall cyber resilience posture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217920"/>
            <a:ext cx="10728655" cy="457200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CORE VALUE CHAIN: TECHNICAL SIGNALS ➔ CYBER RISK ➔ BUSINESS IMPACT (₹) ➔ SECURITY INVESTMENT ➔ AUDITABLE PROOF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SMART INDIA HACKATHON 2026 | SLIDE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Slide 06 | Research, Standards Alignment &amp; Project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14600" cy="100584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22D3EE"/>
                </a:solidFill>
              </a:defRPr>
            </a:pPr>
            <a:r>
              <a:t>NIST CSF 2.0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Core functions: Identify, Protect, Detect, Respond, Recover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188720"/>
            <a:ext cx="2514600" cy="100584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22D3EE"/>
                </a:solidFill>
              </a:defRPr>
            </a:pPr>
            <a:r>
              <a:t>MITRE ATT&amp;CK v15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Wargame mappings: T1110, T1499, and T1046 recon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2514600" cy="100584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22D3EE"/>
                </a:solidFill>
              </a:defRPr>
            </a:pPr>
            <a:r>
              <a:t>ISO/IEC 27001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Section A.12 operations security &amp; logging alignment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188720"/>
            <a:ext cx="2514600" cy="100584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22D3EE"/>
                </a:solidFill>
              </a:defRPr>
            </a:pPr>
            <a:r>
              <a:t>CIS Controls v8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Controls 1 (Assets), 4 (Config), and 8 (Audit Logs)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2514600" cy="100584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FBBF24"/>
                </a:solidFill>
              </a:defRPr>
            </a:pPr>
            <a:r>
              <a:t>CERT-In Directions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180-day unalterable incident log preservation mandate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331720"/>
            <a:ext cx="2514600" cy="100584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FBBF24"/>
                </a:solidFill>
              </a:defRPr>
            </a:pPr>
            <a:r>
              <a:t>DPDP Act 2023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Credential &amp; PII scanning for unmasked Aadhaar/PAN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31720"/>
            <a:ext cx="2514600" cy="100584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FBBF24"/>
                </a:solidFill>
              </a:defRPr>
            </a:pPr>
            <a:r>
              <a:t>RBI / SEBI Guidance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Tiered risk threshold alerting &amp; resilience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331720"/>
            <a:ext cx="2514600" cy="1005840"/>
          </a:xfrm>
          <a:prstGeom prst="roundRect">
            <a:avLst/>
          </a:prstGeom>
          <a:solidFill>
            <a:srgbClr val="131B2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FBBF24"/>
                </a:solidFill>
              </a:defRPr>
            </a:pPr>
            <a:r>
              <a:t>The Open FAIR Standard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Actuarial cyber risk economics &amp; loss magnitude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120640" cy="292608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200" b="1">
                <a:solidFill>
                  <a:srgbClr val="34D399"/>
                </a:solidFill>
              </a:defRPr>
            </a:pPr>
            <a:r>
              <a:t>PROJECT REPOSITORY &amp; VERIFICATION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GitHub: https://github.com/aryanbaghel756-spec/AURA-SENTINEL</a:t>
            </a:r>
            <a:br/>
            <a:r>
              <a:t>• Complete reproducible codebase &amp; test suite</a:t>
            </a:r>
            <a:br/>
            <a:r>
              <a:t>• 1-Click launcher scripts (run_aura_mvp.bat)</a:t>
            </a:r>
            <a:br/>
            <a:r>
              <a:t>• Fully runnable local-first MVP build</a:t>
            </a:r>
            <a:br/>
            <a:r>
              <a:t>• Evaluator documentation &amp; live demo guide</a:t>
            </a:r>
            <a:br/>
            <a:br/>
            <a:r>
              <a:t>Scan the QR code to inspect the live codebase:</a:t>
            </a:r>
          </a:p>
        </p:txBody>
      </p:sp>
      <p:pic>
        <p:nvPicPr>
          <p:cNvPr id="14" name="Picture 13" descr="github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480560"/>
            <a:ext cx="1645920" cy="16459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3657600"/>
            <a:ext cx="5242255" cy="2926080"/>
          </a:xfrm>
          <a:prstGeom prst="roundRect">
            <a:avLst/>
          </a:prstGeom>
          <a:solidFill>
            <a:srgbClr val="131B2C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  <a:defRPr sz="1200" b="1">
                <a:solidFill>
                  <a:srgbClr val="22D3EE"/>
                </a:solidFill>
              </a:defRPr>
            </a:pPr>
            <a:r>
              <a:t>CORE DIFFERENTIATOR &amp; LIVE EVALUATION FLOW</a:t>
            </a:r>
          </a:p>
          <a:p>
            <a:pPr>
              <a:spcAft>
                <a:spcPts val="800"/>
              </a:spcAft>
              <a:defRPr sz="950" b="1">
                <a:solidFill>
                  <a:srgbClr val="FBBF24"/>
                </a:solidFill>
              </a:defRPr>
            </a:pPr>
            <a:r>
              <a:t>TRADITIONAL SCANNERS: Detect ➔ Alert</a:t>
            </a:r>
            <a:br/>
            <a:r>
              <a:t>AURA SENTINEL: Detect ➔ Quantify (₹) ➔ Simulate ➔ Optimize (ROSI) ➔ Audit</a:t>
            </a:r>
          </a:p>
          <a:p>
            <a:pPr>
              <a:defRPr sz="850">
                <a:solidFill>
                  <a:srgbClr val="F8FAFC"/>
                </a:solidFill>
              </a:defRPr>
            </a:pPr>
            <a:r>
              <a:t>5-MINUTE RUNNABLE DEMO PLAYBOOK:</a:t>
            </a:r>
            <a:br/>
            <a:r>
              <a:t>• 0:00–0:45 | Module 01: Host Telemetry &amp; Listening Sockets</a:t>
            </a:r>
            <a:br/>
            <a:r>
              <a:t>• 0:45–1:30 | Module 02: Attack Surface &amp; Port Threat Classification</a:t>
            </a:r>
            <a:br/>
            <a:r>
              <a:t>• 1:30–2:15 | Module 04: Prototype Financial Exposure (EAL in ₹ INR)</a:t>
            </a:r>
            <a:br/>
            <a:r>
              <a:t>• 2:15–3:15 | Module 05: What-If Slider Tuning &amp; MITRE Wargame Simulation</a:t>
            </a:r>
            <a:br/>
            <a:r>
              <a:t>• 3:15–4:15 | Module 06: Budget-Constrained Knapsack ROSI Optimizer</a:t>
            </a:r>
            <a:br/>
            <a:r>
              <a:t>• 4:15–4:45 | Module 10: Cryptographic Blockchain Tamper Showdown</a:t>
            </a:r>
            <a:br/>
            <a:r>
              <a:t>• 4:45–5:00 | Navbar: 1-Click Executive Printable CISO Audit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