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800"/>
              </a:spcAft>
            </a:pPr>
            <a:r>
              <a:rPr b="1" sz="1150">
                <a:solidFill>
                  <a:srgbClr val="0F172A"/>
                </a:solidFill>
              </a:rPr>
              <a:t>Problem Statement ID:</a:t>
            </a:r>
            <a:r>
              <a:rPr b="0" sz="1150">
                <a:solidFill>
                  <a:srgbClr val="1E293B"/>
                </a:solidFill>
              </a:rPr>
              <a:t> SIH26105</a:t>
            </a:r>
            <a:endParaRPr lang="en-US" dirty="0"/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0F172A"/>
                </a:solidFill>
              </a:rPr>
              <a:t>Problem Statement Title:</a:t>
            </a:r>
            <a:r>
              <a:rPr b="0" sz="1150">
                <a:solidFill>
                  <a:srgbClr val="1E293B"/>
                </a:solidFill>
              </a:rPr>
              <a:t> AI-Powered Continuous Cyber Risk Quantification &amp; Investment Optimization Platform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0F172A"/>
                </a:solidFill>
              </a:rPr>
              <a:t>Theme:</a:t>
            </a:r>
            <a:r>
              <a:rPr b="0" sz="1150">
                <a:solidFill>
                  <a:srgbClr val="1E293B"/>
                </a:solidFill>
              </a:rPr>
              <a:t> Blockchain &amp; Cybersecurity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0F172A"/>
                </a:solidFill>
              </a:rPr>
              <a:t>PS Category:</a:t>
            </a:r>
            <a:r>
              <a:rPr b="0" sz="1150">
                <a:solidFill>
                  <a:srgbClr val="1E293B"/>
                </a:solidFill>
              </a:rPr>
              <a:t> Software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0F172A"/>
                </a:solidFill>
              </a:rPr>
              <a:t>Team ID:</a:t>
            </a:r>
            <a:r>
              <a:rPr b="0" sz="1150">
                <a:solidFill>
                  <a:srgbClr val="1E293B"/>
                </a:solidFill>
              </a:rPr>
              <a:t> 180219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0F172A"/>
                </a:solidFill>
              </a:rPr>
              <a:t>Team Name:</a:t>
            </a:r>
            <a:r>
              <a:rPr b="0" sz="1150">
                <a:solidFill>
                  <a:srgbClr val="1E293B"/>
                </a:solidFill>
              </a:rPr>
              <a:t> ByteForce_1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0F172A"/>
                </a:solidFill>
              </a:rPr>
              <a:t>Team Leader:</a:t>
            </a:r>
            <a:r>
              <a:rPr b="0" sz="1150">
                <a:solidFill>
                  <a:srgbClr val="1E293B"/>
                </a:solidFill>
              </a:rPr>
              <a:t> Aryan Baghel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0F172A"/>
                </a:solidFill>
              </a:rPr>
              <a:t>Team Members:</a:t>
            </a:r>
            <a:r>
              <a:rPr b="0" sz="1150">
                <a:solidFill>
                  <a:srgbClr val="1E293B"/>
                </a:solidFill>
              </a:rPr>
              <a:t> Kirti, Hitesh Chauhan, Avinav Jha, Sharim Khan, Aman Sekh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0F172A"/>
                </a:solidFill>
              </a:rPr>
              <a:t>Institute:</a:t>
            </a:r>
            <a:r>
              <a:rPr b="0" sz="1150">
                <a:solidFill>
                  <a:srgbClr val="1E293B"/>
                </a:solidFill>
              </a:rPr>
              <a:t> Skyline Institute of Engineering and Technology, Greater Noida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37" name="Picture 36" descr="slide1_visu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1188720"/>
            <a:ext cx="512064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IDEA TITLE: AURA SENTINEL (AI-POWERED CYBER RISK QUANTIFICATION)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b="1" sz="950">
                <a:solidFill>
                  <a:srgbClr val="FFFFFF"/>
                </a:solidFill>
              </a:rPr>
              <a:t>ByteForce_1
</a:t>
            </a:r>
            <a:r>
              <a:rPr sz="850">
                <a:solidFill>
                  <a:srgbClr val="E0F2FE"/>
                </a:solidFill>
              </a:rPr>
              <a:t>(ID: 180219)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Rounded Rectangle 15361"/>
          <p:cNvSpPr/>
          <p:nvPr/>
        </p:nvSpPr>
        <p:spPr>
          <a:xfrm>
            <a:off x="502920" y="1234440"/>
            <a:ext cx="3520440" cy="123444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spcAft>
                <a:spcPts val="300"/>
              </a:spcAft>
              <a:defRPr b="1" sz="1050">
                <a:solidFill>
                  <a:srgbClr val="E11D48"/>
                </a:solidFill>
              </a:defRPr>
            </a:pPr>
            <a:r>
              <a:t>Real-World Issue</a:t>
            </a:r>
          </a:p>
          <a:p>
            <a:pPr>
              <a:defRPr sz="850">
                <a:solidFill>
                  <a:srgbClr val="F1F5F9"/>
                </a:solidFill>
              </a:defRPr>
            </a:pPr>
            <a:r>
              <a:t>Enterprises rely on static, qualitative 'High/Medium/Low' heatmaps that hide actual financial exposure, leaving boards unable to justify cyber budgets against dynamic threats.</a:t>
            </a:r>
          </a:p>
        </p:txBody>
      </p:sp>
      <p:sp>
        <p:nvSpPr>
          <p:cNvPr id="15363" name="Rounded Rectangle 15362"/>
          <p:cNvSpPr/>
          <p:nvPr/>
        </p:nvSpPr>
        <p:spPr>
          <a:xfrm>
            <a:off x="502920" y="2578608"/>
            <a:ext cx="3520440" cy="123444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spcAft>
                <a:spcPts val="300"/>
              </a:spcAft>
              <a:defRPr b="1" sz="1050">
                <a:solidFill>
                  <a:srgbClr val="0284C7"/>
                </a:solidFill>
              </a:defRPr>
            </a:pPr>
            <a:r>
              <a:t>Why Important</a:t>
            </a:r>
          </a:p>
          <a:p>
            <a:pPr>
              <a:defRPr sz="850">
                <a:solidFill>
                  <a:srgbClr val="F1F5F9"/>
                </a:solidFill>
              </a:defRPr>
            </a:pPr>
            <a:r>
              <a:t>Cyber incidents cost Indian enterprises ₹25,000+ Cr annually. 68% of CISOs struggle to defend security ROI to boards without quantified financial risk metrics.</a:t>
            </a:r>
          </a:p>
        </p:txBody>
      </p:sp>
      <p:sp>
        <p:nvSpPr>
          <p:cNvPr id="15364" name="Rounded Rectangle 15363"/>
          <p:cNvSpPr/>
          <p:nvPr/>
        </p:nvSpPr>
        <p:spPr>
          <a:xfrm>
            <a:off x="502920" y="3931920"/>
            <a:ext cx="3520440" cy="123444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spcAft>
                <a:spcPts val="300"/>
              </a:spcAft>
              <a:defRPr b="1" sz="1050">
                <a:solidFill>
                  <a:srgbClr val="10B981"/>
                </a:solidFill>
              </a:defRPr>
            </a:pPr>
            <a:r>
              <a:t>Proposed Solution: AURA Sentinel</a:t>
            </a:r>
          </a:p>
          <a:p>
            <a:pPr>
              <a:defRPr sz="850">
                <a:solidFill>
                  <a:srgbClr val="F1F5F9"/>
                </a:solidFill>
              </a:defRPr>
            </a:pPr>
            <a:r>
              <a:t>AI-powered continuous cyber risk quantification combining the Open Group FAIR standard, Monte Carlo simulation, 0/1 Knapsack optimization, and SHA-256 Merkle blockchain.</a:t>
            </a:r>
          </a:p>
        </p:txBody>
      </p:sp>
      <p:sp>
        <p:nvSpPr>
          <p:cNvPr id="15365" name="Rounded Rectangle 15364"/>
          <p:cNvSpPr/>
          <p:nvPr/>
        </p:nvSpPr>
        <p:spPr>
          <a:xfrm>
            <a:off x="502920" y="5257800"/>
            <a:ext cx="112471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50" b="1">
                <a:solidFill>
                  <a:srgbClr val="38BDF8"/>
                </a:solidFill>
              </a:defRPr>
            </a:pPr>
            <a:r>
              <a:t>● Live SOC Console</a:t>
            </a:r>
          </a:p>
        </p:txBody>
      </p:sp>
      <p:sp>
        <p:nvSpPr>
          <p:cNvPr id="15366" name="Rounded Rectangle 15365"/>
          <p:cNvSpPr/>
          <p:nvPr/>
        </p:nvSpPr>
        <p:spPr>
          <a:xfrm>
            <a:off x="1700784" y="5257800"/>
            <a:ext cx="112471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50" b="1">
                <a:solidFill>
                  <a:srgbClr val="38BDF8"/>
                </a:solidFill>
              </a:defRPr>
            </a:pPr>
            <a:r>
              <a:t>● GitHub Repo</a:t>
            </a:r>
          </a:p>
        </p:txBody>
      </p:sp>
      <p:sp>
        <p:nvSpPr>
          <p:cNvPr id="15367" name="Rounded Rectangle 15366"/>
          <p:cNvSpPr/>
          <p:nvPr/>
        </p:nvSpPr>
        <p:spPr>
          <a:xfrm>
            <a:off x="2898648" y="5257800"/>
            <a:ext cx="112471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50" b="1">
                <a:solidFill>
                  <a:srgbClr val="38BDF8"/>
                </a:solidFill>
              </a:defRPr>
            </a:pPr>
            <a:r>
              <a:t>● REST API Docs</a:t>
            </a:r>
          </a:p>
        </p:txBody>
      </p:sp>
      <p:pic>
        <p:nvPicPr>
          <p:cNvPr id="15368" name="Picture 15367" descr="slide2_pyra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0520" y="1188720"/>
            <a:ext cx="3931920" cy="4434840"/>
          </a:xfrm>
          <a:prstGeom prst="rect">
            <a:avLst/>
          </a:prstGeom>
        </p:spPr>
      </p:pic>
      <p:sp>
        <p:nvSpPr>
          <p:cNvPr id="15369" name="Rounded Rectangle 15368"/>
          <p:cNvSpPr/>
          <p:nvPr/>
        </p:nvSpPr>
        <p:spPr>
          <a:xfrm>
            <a:off x="8183879" y="1234440"/>
            <a:ext cx="3520440" cy="1234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0" name="Rounded Rectangle 15369"/>
          <p:cNvSpPr/>
          <p:nvPr/>
        </p:nvSpPr>
        <p:spPr>
          <a:xfrm>
            <a:off x="8275320" y="1289304"/>
            <a:ext cx="3337560" cy="475488"/>
          </a:xfrm>
          <a:prstGeom prst="roundRect">
            <a:avLst/>
          </a:prstGeom>
          <a:solidFill>
            <a:srgbClr val="FEF2F2"/>
          </a:solidFill>
          <a:ln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36576"/>
          <a:lstStyle/>
          <a:p>
            <a:pPr algn="ctr">
              <a:defRPr b="1" sz="819">
                <a:solidFill>
                  <a:srgbClr val="E11D48"/>
                </a:solidFill>
              </a:defRPr>
            </a:pPr>
            <a:r>
              <a:t>RISK: Static Annual Heatmaps</a:t>
            </a:r>
          </a:p>
          <a:p>
            <a:pPr>
              <a:defRPr sz="700">
                <a:solidFill>
                  <a:srgbClr val="0F172A"/>
                </a:solidFill>
              </a:defRPr>
            </a:pPr>
            <a:r>
              <a:t>Subjective High/Medium guesswork; stale within days; zero actuarial Rupee quantification.</a:t>
            </a:r>
          </a:p>
        </p:txBody>
      </p:sp>
      <p:sp>
        <p:nvSpPr>
          <p:cNvPr id="15371" name="Oval 15370"/>
          <p:cNvSpPr/>
          <p:nvPr/>
        </p:nvSpPr>
        <p:spPr>
          <a:xfrm>
            <a:off x="9738360" y="1719072"/>
            <a:ext cx="411480" cy="219456"/>
          </a:xfrm>
          <a:prstGeom prst="ellipse">
            <a:avLst/>
          </a:prstGeom>
          <a:solidFill>
            <a:srgbClr val="0F172A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650" b="1">
                <a:solidFill>
                  <a:srgbClr val="FFFFFF"/>
                </a:solidFill>
              </a:defRPr>
            </a:pPr>
            <a:r>
              <a:t>vs</a:t>
            </a:r>
          </a:p>
        </p:txBody>
      </p:sp>
      <p:sp>
        <p:nvSpPr>
          <p:cNvPr id="15372" name="Rounded Rectangle 15371"/>
          <p:cNvSpPr/>
          <p:nvPr/>
        </p:nvSpPr>
        <p:spPr>
          <a:xfrm>
            <a:off x="8275320" y="1892808"/>
            <a:ext cx="3337560" cy="502920"/>
          </a:xfrm>
          <a:prstGeom prst="roundRect">
            <a:avLst/>
          </a:prstGeom>
          <a:solidFill>
            <a:srgbClr val="F0FDF4"/>
          </a:solidFill>
          <a:ln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36576"/>
          <a:lstStyle/>
          <a:p>
            <a:pPr algn="ctr">
              <a:defRPr b="1" sz="819">
                <a:solidFill>
                  <a:srgbClr val="10B981"/>
                </a:solidFill>
              </a:defRPr>
            </a:pPr>
            <a:r>
              <a:t>SOLUTION: Continuous FAIR Engine</a:t>
            </a:r>
          </a:p>
          <a:p>
            <a:pPr>
              <a:defRPr sz="700">
                <a:solidFill>
                  <a:srgbClr val="0F172A"/>
                </a:solidFill>
              </a:defRPr>
            </a:pPr>
            <a:r>
              <a:t>Automated continuous loss calculation (Threat Frequency × Loss Magnitude in ₹).</a:t>
            </a:r>
          </a:p>
        </p:txBody>
      </p:sp>
      <p:sp>
        <p:nvSpPr>
          <p:cNvPr id="15373" name="Rounded Rectangle 15372"/>
          <p:cNvSpPr/>
          <p:nvPr/>
        </p:nvSpPr>
        <p:spPr>
          <a:xfrm>
            <a:off x="8183879" y="2578608"/>
            <a:ext cx="3520440" cy="1234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4" name="Rounded Rectangle 15373"/>
          <p:cNvSpPr/>
          <p:nvPr/>
        </p:nvSpPr>
        <p:spPr>
          <a:xfrm>
            <a:off x="8275320" y="2633472"/>
            <a:ext cx="3337560" cy="475488"/>
          </a:xfrm>
          <a:prstGeom prst="roundRect">
            <a:avLst/>
          </a:prstGeom>
          <a:solidFill>
            <a:srgbClr val="FEF2F2"/>
          </a:solidFill>
          <a:ln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36576"/>
          <a:lstStyle/>
          <a:p>
            <a:pPr algn="ctr">
              <a:defRPr b="1" sz="819">
                <a:solidFill>
                  <a:srgbClr val="E11D48"/>
                </a:solidFill>
              </a:defRPr>
            </a:pPr>
            <a:r>
              <a:t>RISK: Arbitrary Budget Allocation</a:t>
            </a:r>
          </a:p>
          <a:p>
            <a:pPr>
              <a:defRPr sz="700">
                <a:solidFill>
                  <a:srgbClr val="0F172A"/>
                </a:solidFill>
              </a:defRPr>
            </a:pPr>
            <a:r>
              <a:t>Security budgets allocated via vendor hype &amp; panic; no mathematical ROI justification.</a:t>
            </a:r>
          </a:p>
        </p:txBody>
      </p:sp>
      <p:sp>
        <p:nvSpPr>
          <p:cNvPr id="15375" name="Oval 15374"/>
          <p:cNvSpPr/>
          <p:nvPr/>
        </p:nvSpPr>
        <p:spPr>
          <a:xfrm>
            <a:off x="9738360" y="3063240"/>
            <a:ext cx="411480" cy="219456"/>
          </a:xfrm>
          <a:prstGeom prst="ellipse">
            <a:avLst/>
          </a:prstGeom>
          <a:solidFill>
            <a:srgbClr val="0F172A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650" b="1">
                <a:solidFill>
                  <a:srgbClr val="FFFFFF"/>
                </a:solidFill>
              </a:defRPr>
            </a:pPr>
            <a:r>
              <a:t>vs</a:t>
            </a:r>
          </a:p>
        </p:txBody>
      </p:sp>
      <p:sp>
        <p:nvSpPr>
          <p:cNvPr id="15376" name="Rounded Rectangle 15375"/>
          <p:cNvSpPr/>
          <p:nvPr/>
        </p:nvSpPr>
        <p:spPr>
          <a:xfrm>
            <a:off x="8275320" y="3236976"/>
            <a:ext cx="3337560" cy="502920"/>
          </a:xfrm>
          <a:prstGeom prst="roundRect">
            <a:avLst/>
          </a:prstGeom>
          <a:solidFill>
            <a:srgbClr val="F0FDF4"/>
          </a:solidFill>
          <a:ln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36576"/>
          <a:lstStyle/>
          <a:p>
            <a:pPr algn="ctr">
              <a:defRPr b="1" sz="819">
                <a:solidFill>
                  <a:srgbClr val="10B981"/>
                </a:solidFill>
              </a:defRPr>
            </a:pPr>
            <a:r>
              <a:t>SOLUTION: 0/1 Knapsack Optimizer</a:t>
            </a:r>
          </a:p>
          <a:p>
            <a:pPr>
              <a:defRPr sz="700">
                <a:solidFill>
                  <a:srgbClr val="0F172A"/>
                </a:solidFill>
              </a:defRPr>
            </a:pPr>
            <a:r>
              <a:t>Bounded dynamic programming maximizes risk reduction per Rupee invested.</a:t>
            </a:r>
          </a:p>
        </p:txBody>
      </p:sp>
      <p:sp>
        <p:nvSpPr>
          <p:cNvPr id="15377" name="Rounded Rectangle 15376"/>
          <p:cNvSpPr/>
          <p:nvPr/>
        </p:nvSpPr>
        <p:spPr>
          <a:xfrm>
            <a:off x="8183879" y="3931920"/>
            <a:ext cx="3520440" cy="1234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8" name="Rounded Rectangle 15377"/>
          <p:cNvSpPr/>
          <p:nvPr/>
        </p:nvSpPr>
        <p:spPr>
          <a:xfrm>
            <a:off x="8275320" y="3986784"/>
            <a:ext cx="3337560" cy="475488"/>
          </a:xfrm>
          <a:prstGeom prst="roundRect">
            <a:avLst/>
          </a:prstGeom>
          <a:solidFill>
            <a:srgbClr val="FEF2F2"/>
          </a:solidFill>
          <a:ln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36576"/>
          <a:lstStyle/>
          <a:p>
            <a:pPr algn="ctr">
              <a:defRPr b="1" sz="819">
                <a:solidFill>
                  <a:srgbClr val="E11D48"/>
                </a:solidFill>
              </a:defRPr>
            </a:pPr>
            <a:r>
              <a:t>RISK: Repudiable Audit Trails</a:t>
            </a:r>
          </a:p>
          <a:p>
            <a:pPr>
              <a:defRPr sz="700">
                <a:solidFill>
                  <a:srgbClr val="0F172A"/>
                </a:solidFill>
              </a:defRPr>
            </a:pPr>
            <a:r>
              <a:t>Editable database logs that fail rigorous regulatory scrutiny (DPDP &amp; CERT-In).</a:t>
            </a:r>
          </a:p>
        </p:txBody>
      </p:sp>
      <p:sp>
        <p:nvSpPr>
          <p:cNvPr id="15379" name="Oval 15378"/>
          <p:cNvSpPr/>
          <p:nvPr/>
        </p:nvSpPr>
        <p:spPr>
          <a:xfrm>
            <a:off x="9738360" y="4416552"/>
            <a:ext cx="411480" cy="219456"/>
          </a:xfrm>
          <a:prstGeom prst="ellipse">
            <a:avLst/>
          </a:prstGeom>
          <a:solidFill>
            <a:srgbClr val="0F172A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650" b="1">
                <a:solidFill>
                  <a:srgbClr val="FFFFFF"/>
                </a:solidFill>
              </a:defRPr>
            </a:pPr>
            <a:r>
              <a:t>vs</a:t>
            </a:r>
          </a:p>
        </p:txBody>
      </p:sp>
      <p:sp>
        <p:nvSpPr>
          <p:cNvPr id="15380" name="Rounded Rectangle 15379"/>
          <p:cNvSpPr/>
          <p:nvPr/>
        </p:nvSpPr>
        <p:spPr>
          <a:xfrm>
            <a:off x="8275320" y="4590288"/>
            <a:ext cx="3337560" cy="502920"/>
          </a:xfrm>
          <a:prstGeom prst="roundRect">
            <a:avLst/>
          </a:prstGeom>
          <a:solidFill>
            <a:srgbClr val="F0FDF4"/>
          </a:solidFill>
          <a:ln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36576"/>
          <a:lstStyle/>
          <a:p>
            <a:pPr algn="ctr">
              <a:defRPr b="1" sz="819">
                <a:solidFill>
                  <a:srgbClr val="10B981"/>
                </a:solidFill>
              </a:defRPr>
            </a:pPr>
            <a:r>
              <a:t>SOLUTION: Merkle Blockchain Ledger</a:t>
            </a:r>
          </a:p>
          <a:p>
            <a:pPr>
              <a:defRPr sz="700">
                <a:solidFill>
                  <a:srgbClr val="0F172A"/>
                </a:solidFill>
              </a:defRPr>
            </a:pPr>
            <a:r>
              <a:t>Cryptographically sealed SHA-256 state anchoring for zero-trust compliance.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TECHNICAL APPROACH &amp; SYSTEM ARCHITECTURE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b="1" sz="950">
                <a:solidFill>
                  <a:srgbClr val="FFFFFF"/>
                </a:solidFill>
              </a:rPr>
              <a:t>ByteForce_1
</a:t>
            </a:r>
            <a:r>
              <a:rPr sz="850">
                <a:solidFill>
                  <a:srgbClr val="E0F2FE"/>
                </a:solidFill>
              </a:rPr>
              <a:t>(ID: 180219)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0" name="Picture 17409" descr="slide3_circular_fl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188720"/>
            <a:ext cx="3749039" cy="3931920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594360" y="5230368"/>
            <a:ext cx="1691640" cy="347472"/>
          </a:xfrm>
          <a:prstGeom prst="roundRect">
            <a:avLst/>
          </a:prstGeom>
          <a:solidFill>
            <a:srgbClr val="0F172A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● Lifecycle Specification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2423160" y="5230368"/>
            <a:ext cx="1691640" cy="347472"/>
          </a:xfrm>
          <a:prstGeom prst="roundRect">
            <a:avLst/>
          </a:prstGeom>
          <a:solidFill>
            <a:srgbClr val="0F172A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● Algorithm Proofs</a:t>
            </a:r>
          </a:p>
        </p:txBody>
      </p:sp>
      <p:pic>
        <p:nvPicPr>
          <p:cNvPr id="17413" name="Picture 17412" descr="slide3_architectu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9120" y="1188720"/>
            <a:ext cx="4023360" cy="4389120"/>
          </a:xfrm>
          <a:prstGeom prst="rect">
            <a:avLst/>
          </a:prstGeom>
        </p:spPr>
      </p:pic>
      <p:sp>
        <p:nvSpPr>
          <p:cNvPr id="17414" name="Rounded Rectangle 17413"/>
          <p:cNvSpPr/>
          <p:nvPr/>
        </p:nvSpPr>
        <p:spPr>
          <a:xfrm>
            <a:off x="8549640" y="1188720"/>
            <a:ext cx="3154680" cy="4389120"/>
          </a:xfrm>
          <a:prstGeom prst="roundRect">
            <a:avLst/>
          </a:prstGeom>
          <a:solidFill>
            <a:srgbClr val="F8FAFC"/>
          </a:solidFill>
          <a:ln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09728"/>
          <a:lstStyle/>
          <a:p>
            <a:pPr algn="ctr">
              <a:spcAft>
                <a:spcPts val="600"/>
              </a:spcAft>
              <a:defRPr b="1" sz="1100">
                <a:solidFill>
                  <a:srgbClr val="0F172A"/>
                </a:solidFill>
              </a:defRPr>
            </a:pPr>
            <a:r>
              <a:t>TECHNOLOGIES USED</a:t>
            </a:r>
          </a:p>
          <a:p>
            <a:pPr>
              <a:spcAft>
                <a:spcPts val="100"/>
              </a:spcAft>
              <a:defRPr b="1" sz="850">
                <a:solidFill>
                  <a:srgbClr val="0284C7"/>
                </a:solidFill>
              </a:defRPr>
            </a:pPr>
            <a:r>
              <a:t>▪ Backend &amp; APIs:</a:t>
            </a:r>
          </a:p>
          <a:p>
            <a:pPr>
              <a:spcAft>
                <a:spcPts val="400"/>
              </a:spcAft>
              <a:defRPr sz="800">
                <a:solidFill>
                  <a:srgbClr val="0F172A"/>
                </a:solidFill>
              </a:defRPr>
            </a:pPr>
            <a:r>
              <a:t>Python 3.10, FastAPI, Pydantic, Uvicorn, SQLite 3</a:t>
            </a:r>
          </a:p>
          <a:p>
            <a:pPr>
              <a:spcAft>
                <a:spcPts val="100"/>
              </a:spcAft>
              <a:defRPr b="1" sz="850">
                <a:solidFill>
                  <a:srgbClr val="0F766E"/>
                </a:solidFill>
              </a:defRPr>
            </a:pPr>
            <a:r>
              <a:t>▪ Quantification Engine:</a:t>
            </a:r>
          </a:p>
          <a:p>
            <a:pPr>
              <a:spcAft>
                <a:spcPts val="400"/>
              </a:spcAft>
              <a:defRPr sz="800">
                <a:solidFill>
                  <a:srgbClr val="0F172A"/>
                </a:solidFill>
              </a:defRPr>
            </a:pPr>
            <a:r>
              <a:t>Open Group FAIR (O-RT), NumPy, Monte Carlo (10k)</a:t>
            </a:r>
          </a:p>
          <a:p>
            <a:pPr>
              <a:spcAft>
                <a:spcPts val="100"/>
              </a:spcAft>
              <a:defRPr b="1" sz="850">
                <a:solidFill>
                  <a:srgbClr val="D97706"/>
                </a:solidFill>
              </a:defRPr>
            </a:pPr>
            <a:r>
              <a:t>▪ Optimization Logic:</a:t>
            </a:r>
          </a:p>
          <a:p>
            <a:pPr>
              <a:spcAft>
                <a:spcPts val="400"/>
              </a:spcAft>
              <a:defRPr sz="800">
                <a:solidFill>
                  <a:srgbClr val="0F172A"/>
                </a:solidFill>
              </a:defRPr>
            </a:pPr>
            <a:r>
              <a:t>0/1 Knapsack (Dynamic Programming), Multi-Constraint</a:t>
            </a:r>
          </a:p>
          <a:p>
            <a:pPr>
              <a:spcAft>
                <a:spcPts val="100"/>
              </a:spcAft>
              <a:defRPr b="1" sz="850">
                <a:solidFill>
                  <a:srgbClr val="7C3AED"/>
                </a:solidFill>
              </a:defRPr>
            </a:pPr>
            <a:r>
              <a:t>▪ Blockchain &amp; Audit:</a:t>
            </a:r>
          </a:p>
          <a:p>
            <a:pPr>
              <a:spcAft>
                <a:spcPts val="400"/>
              </a:spcAft>
              <a:defRPr sz="800">
                <a:solidFill>
                  <a:srgbClr val="0F172A"/>
                </a:solidFill>
              </a:defRPr>
            </a:pPr>
            <a:r>
              <a:t>SHA-256 Merkle Tree, Cryptographic Hash Chain</a:t>
            </a:r>
          </a:p>
          <a:p>
            <a:pPr>
              <a:spcAft>
                <a:spcPts val="100"/>
              </a:spcAft>
              <a:defRPr b="1" sz="850">
                <a:solidFill>
                  <a:srgbClr val="2563EB"/>
                </a:solidFill>
              </a:defRPr>
            </a:pPr>
            <a:r>
              <a:t>▪ Frontend &amp; SOC UI:</a:t>
            </a:r>
          </a:p>
          <a:p>
            <a:pPr>
              <a:spcAft>
                <a:spcPts val="400"/>
              </a:spcAft>
              <a:defRPr sz="800">
                <a:solidFill>
                  <a:srgbClr val="0F172A"/>
                </a:solidFill>
              </a:defRPr>
            </a:pPr>
            <a:r>
              <a:t>React 18, Tailwind CSS, Lucide Icons, Recharts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FEASIBILITY, VIABILITY &amp; BUSINESS POTENTIAL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b="1" sz="950">
                <a:solidFill>
                  <a:srgbClr val="FFFFFF"/>
                </a:solidFill>
              </a:rPr>
              <a:t>ByteForce_1
</a:t>
            </a:r>
            <a:r>
              <a:rPr sz="850">
                <a:solidFill>
                  <a:srgbClr val="E0F2FE"/>
                </a:solidFill>
              </a:rPr>
              <a:t>(ID: 180219)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502920" y="1188720"/>
            <a:ext cx="3520440" cy="44348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1" name="Rounded Rectangle 17410"/>
          <p:cNvSpPr/>
          <p:nvPr/>
        </p:nvSpPr>
        <p:spPr>
          <a:xfrm>
            <a:off x="594360" y="1280160"/>
            <a:ext cx="3337560" cy="384048"/>
          </a:xfrm>
          <a:prstGeom prst="round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000">
                <a:solidFill>
                  <a:srgbClr val="FFFFFF"/>
                </a:solidFill>
              </a:defRPr>
            </a:pPr>
            <a:r>
              <a:t>FEASIBILITY ANALYSIS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612648" y="1737360"/>
            <a:ext cx="3300984" cy="379476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100"/>
              </a:spcAft>
              <a:defRPr b="1" sz="880">
                <a:solidFill>
                  <a:srgbClr val="0284C7"/>
                </a:solidFill>
              </a:defRPr>
            </a:pPr>
            <a:r>
              <a:t>✓ Plug-and-Play Ingestion</a:t>
            </a:r>
          </a:p>
          <a:p>
            <a:pPr>
              <a:spcAft>
                <a:spcPts val="500"/>
              </a:spcAft>
              <a:defRPr sz="780">
                <a:solidFill>
                  <a:srgbClr val="0F172A"/>
                </a:solidFill>
              </a:defRPr>
            </a:pPr>
            <a:r>
              <a:t>Seamlessly connects with existing tools (Nessus, Qualys, AWS, Active Directory) via standard REST APIs without hardware changes.</a:t>
            </a:r>
          </a:p>
          <a:p>
            <a:pPr>
              <a:spcAft>
                <a:spcPts val="100"/>
              </a:spcAft>
              <a:defRPr b="1" sz="880">
                <a:solidFill>
                  <a:srgbClr val="0284C7"/>
                </a:solidFill>
              </a:defRPr>
            </a:pPr>
            <a:r>
              <a:t>✓ Sub-Second Computation</a:t>
            </a:r>
          </a:p>
          <a:p>
            <a:pPr>
              <a:spcAft>
                <a:spcPts val="500"/>
              </a:spcAft>
              <a:defRPr sz="780">
                <a:solidFill>
                  <a:srgbClr val="0F172A"/>
                </a:solidFill>
              </a:defRPr>
            </a:pPr>
            <a:r>
              <a:t>10,000 Monte Carlo runs execute in &lt;850ms in pure NumPy; dynamic programming knapsack completes in &lt;50ms.</a:t>
            </a:r>
          </a:p>
          <a:p>
            <a:pPr>
              <a:spcAft>
                <a:spcPts val="100"/>
              </a:spcAft>
              <a:defRPr b="1" sz="880">
                <a:solidFill>
                  <a:srgbClr val="0284C7"/>
                </a:solidFill>
              </a:defRPr>
            </a:pPr>
            <a:r>
              <a:t>✓ Modular Microservices</a:t>
            </a:r>
          </a:p>
          <a:p>
            <a:pPr>
              <a:spcAft>
                <a:spcPts val="500"/>
              </a:spcAft>
              <a:defRPr sz="780">
                <a:solidFill>
                  <a:srgbClr val="0F172A"/>
                </a:solidFill>
              </a:defRPr>
            </a:pPr>
            <a:r>
              <a:t>Dockerized, container-ready architecture allows independent scaling of analytics workers and API nodes.</a:t>
            </a:r>
          </a:p>
          <a:p>
            <a:pPr>
              <a:spcAft>
                <a:spcPts val="100"/>
              </a:spcAft>
              <a:defRPr b="1" sz="880">
                <a:solidFill>
                  <a:srgbClr val="0284C7"/>
                </a:solidFill>
              </a:defRPr>
            </a:pPr>
            <a:r>
              <a:t>✓ Agentless Deployment</a:t>
            </a:r>
          </a:p>
          <a:p>
            <a:pPr>
              <a:spcAft>
                <a:spcPts val="500"/>
              </a:spcAft>
              <a:defRPr sz="780">
                <a:solidFill>
                  <a:srgbClr val="0F172A"/>
                </a:solidFill>
              </a:defRPr>
            </a:pPr>
            <a:r>
              <a:t>Zero endpoint installation required, drastically reducing IT friction and operational overhead.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4160520" y="1188720"/>
            <a:ext cx="3520440" cy="44348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4" name="Rounded Rectangle 17413"/>
          <p:cNvSpPr/>
          <p:nvPr/>
        </p:nvSpPr>
        <p:spPr>
          <a:xfrm>
            <a:off x="4251960" y="1280160"/>
            <a:ext cx="3337560" cy="384048"/>
          </a:xfrm>
          <a:prstGeom prst="round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000">
                <a:solidFill>
                  <a:srgbClr val="FFFFFF"/>
                </a:solidFill>
              </a:defRPr>
            </a:pPr>
            <a:r>
              <a:t>VIABILITY &amp; GOVERNANCE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4270248" y="1737360"/>
            <a:ext cx="3300984" cy="379476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100"/>
              </a:spcAft>
              <a:defRPr b="1" sz="880">
                <a:solidFill>
                  <a:srgbClr val="0F766E"/>
                </a:solidFill>
              </a:defRPr>
            </a:pPr>
            <a:r>
              <a:t>✓ Global Actuarial Standards</a:t>
            </a:r>
          </a:p>
          <a:p>
            <a:pPr>
              <a:spcAft>
                <a:spcPts val="500"/>
              </a:spcAft>
              <a:defRPr sz="780">
                <a:solidFill>
                  <a:srgbClr val="0F172A"/>
                </a:solidFill>
              </a:defRPr>
            </a:pPr>
            <a:r>
              <a:t>Built strictly on Open Group FAIR &amp; NIST SP 800-30 Rev 1, accepted by boards and cyber insurers globally.</a:t>
            </a:r>
          </a:p>
          <a:p>
            <a:pPr>
              <a:spcAft>
                <a:spcPts val="100"/>
              </a:spcAft>
              <a:defRPr b="1" sz="880">
                <a:solidFill>
                  <a:srgbClr val="0F766E"/>
                </a:solidFill>
              </a:defRPr>
            </a:pPr>
            <a:r>
              <a:t>✓ Regulatory Compliance</a:t>
            </a:r>
          </a:p>
          <a:p>
            <a:pPr>
              <a:spcAft>
                <a:spcPts val="500"/>
              </a:spcAft>
              <a:defRPr sz="780">
                <a:solidFill>
                  <a:srgbClr val="0F172A"/>
                </a:solidFill>
              </a:defRPr>
            </a:pPr>
            <a:r>
              <a:t>Merkle audit proofs satisfy DPDP Act 2023, RBI Cyber Security Framework, and CERT-In logging directives.</a:t>
            </a:r>
          </a:p>
          <a:p>
            <a:pPr>
              <a:spcAft>
                <a:spcPts val="100"/>
              </a:spcAft>
              <a:defRPr b="1" sz="880">
                <a:solidFill>
                  <a:srgbClr val="0F766E"/>
                </a:solidFill>
              </a:defRPr>
            </a:pPr>
            <a:r>
              <a:t>✓ Boardroom Defensibility</a:t>
            </a:r>
          </a:p>
          <a:p>
            <a:pPr>
              <a:spcAft>
                <a:spcPts val="500"/>
              </a:spcAft>
              <a:defRPr sz="780">
                <a:solidFill>
                  <a:srgbClr val="0F172A"/>
                </a:solidFill>
              </a:defRPr>
            </a:pPr>
            <a:r>
              <a:t>Converts ambiguous technical CVSS scores into CFO-ready ₹ Rupee loss distributions and justified ROI.</a:t>
            </a:r>
          </a:p>
          <a:p>
            <a:pPr>
              <a:spcAft>
                <a:spcPts val="100"/>
              </a:spcAft>
              <a:defRPr b="1" sz="880">
                <a:solidFill>
                  <a:srgbClr val="0F766E"/>
                </a:solidFill>
              </a:defRPr>
            </a:pPr>
            <a:r>
              <a:t>✓ Zero Vendor Lock-In</a:t>
            </a:r>
          </a:p>
          <a:p>
            <a:pPr>
              <a:spcAft>
                <a:spcPts val="500"/>
              </a:spcAft>
              <a:defRPr sz="780">
                <a:solidFill>
                  <a:srgbClr val="0F172A"/>
                </a:solidFill>
              </a:defRPr>
            </a:pPr>
            <a:r>
              <a:t>Open JSON/CSV data schemas and open-standards compliance ensure transparent, portable risk registers.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7818120" y="1188720"/>
            <a:ext cx="3520440" cy="44348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7" name="Rounded Rectangle 17416"/>
          <p:cNvSpPr/>
          <p:nvPr/>
        </p:nvSpPr>
        <p:spPr>
          <a:xfrm>
            <a:off x="7909560" y="1280160"/>
            <a:ext cx="3337560" cy="384048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000">
                <a:solidFill>
                  <a:srgbClr val="FFFFFF"/>
                </a:solidFill>
              </a:defRPr>
            </a:pPr>
            <a:r>
              <a:t>BUSINESS POTENTIAL &amp; ROI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7927848" y="1737360"/>
            <a:ext cx="3300984" cy="379476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100"/>
              </a:spcAft>
              <a:defRPr b="1" sz="880">
                <a:solidFill>
                  <a:srgbClr val="7C3AED"/>
                </a:solidFill>
              </a:defRPr>
            </a:pPr>
            <a:r>
              <a:t>✓ 70%+ Audit Cost Reduction</a:t>
            </a:r>
          </a:p>
          <a:p>
            <a:pPr>
              <a:spcAft>
                <a:spcPts val="500"/>
              </a:spcAft>
              <a:defRPr sz="780">
                <a:solidFill>
                  <a:srgbClr val="0F172A"/>
                </a:solidFill>
              </a:defRPr>
            </a:pPr>
            <a:r>
              <a:t>Automates manual third-party cyber risk assessments, saving ₹20L–₹50L per annual enterprise audit cycle.</a:t>
            </a:r>
          </a:p>
          <a:p>
            <a:pPr>
              <a:spcAft>
                <a:spcPts val="100"/>
              </a:spcAft>
              <a:defRPr b="1" sz="880">
                <a:solidFill>
                  <a:srgbClr val="7C3AED"/>
                </a:solidFill>
              </a:defRPr>
            </a:pPr>
            <a:r>
              <a:t>✓ Optimized Security Spend</a:t>
            </a:r>
          </a:p>
          <a:p>
            <a:pPr>
              <a:spcAft>
                <a:spcPts val="500"/>
              </a:spcAft>
              <a:defRPr sz="780">
                <a:solidFill>
                  <a:srgbClr val="0F172A"/>
                </a:solidFill>
              </a:defRPr>
            </a:pPr>
            <a:r>
              <a:t>Dynamic knapsack allocation prevents overspending on low-impact controls, saving 25–40% of security budget.</a:t>
            </a:r>
          </a:p>
          <a:p>
            <a:pPr>
              <a:spcAft>
                <a:spcPts val="100"/>
              </a:spcAft>
              <a:defRPr b="1" sz="880">
                <a:solidFill>
                  <a:srgbClr val="7C3AED"/>
                </a:solidFill>
              </a:defRPr>
            </a:pPr>
            <a:r>
              <a:t>✓ Enterprise Market Scale</a:t>
            </a:r>
          </a:p>
          <a:p>
            <a:pPr>
              <a:spcAft>
                <a:spcPts val="500"/>
              </a:spcAft>
              <a:defRPr sz="780">
                <a:solidFill>
                  <a:srgbClr val="0F172A"/>
                </a:solidFill>
              </a:defRPr>
            </a:pPr>
            <a:r>
              <a:t>Targeted at BFSI, Healthcare, Critical Infrastructure, and IT enterprises needing continuous compliance.</a:t>
            </a:r>
          </a:p>
          <a:p>
            <a:pPr>
              <a:spcAft>
                <a:spcPts val="100"/>
              </a:spcAft>
              <a:defRPr b="1" sz="880">
                <a:solidFill>
                  <a:srgbClr val="7C3AED"/>
                </a:solidFill>
              </a:defRPr>
            </a:pPr>
            <a:r>
              <a:t>✓ Cyber Insurance Alignment</a:t>
            </a:r>
          </a:p>
          <a:p>
            <a:pPr>
              <a:spcAft>
                <a:spcPts val="500"/>
              </a:spcAft>
              <a:defRPr sz="780">
                <a:solidFill>
                  <a:srgbClr val="0F172A"/>
                </a:solidFill>
              </a:defRPr>
            </a:pPr>
            <a:r>
              <a:t>Empirical Value-at-Risk modeling accelerates policy underwriting and lowers corporate insurance premiums.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b="1" sz="950">
                <a:solidFill>
                  <a:srgbClr val="FFFFFF"/>
                </a:solidFill>
              </a:rPr>
              <a:t>ByteForce_1
</a:t>
            </a:r>
            <a:r>
              <a:rPr sz="850">
                <a:solidFill>
                  <a:srgbClr val="E0F2FE"/>
                </a:solidFill>
              </a:rPr>
              <a:t>(ID: 180219)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502920" y="1188720"/>
            <a:ext cx="6217920" cy="38862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1" name="Rounded Rectangle 17410"/>
          <p:cNvSpPr/>
          <p:nvPr/>
        </p:nvSpPr>
        <p:spPr>
          <a:xfrm>
            <a:off x="685800" y="1298448"/>
            <a:ext cx="5852160" cy="384048"/>
          </a:xfrm>
          <a:prstGeom prst="roundRect">
            <a:avLst/>
          </a:prstGeom>
          <a:solidFill>
            <a:srgbClr val="0F172A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000">
                <a:solidFill>
                  <a:srgbClr val="38BDF8"/>
                </a:solidFill>
              </a:defRPr>
            </a:pPr>
            <a:r>
              <a:t>AURA SENTINEL // MULTI-DIMENSIONAL IMPACT MATRIX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685800" y="1783080"/>
            <a:ext cx="2834640" cy="3154680"/>
          </a:xfrm>
          <a:prstGeom prst="roundRect">
            <a:avLst/>
          </a:prstGeom>
          <a:solidFill>
            <a:srgbClr val="F0FDF4"/>
          </a:solidFill>
          <a:ln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/>
          <a:lstStyle/>
          <a:p>
            <a:pPr algn="ctr">
              <a:spcAft>
                <a:spcPts val="400"/>
              </a:spcAft>
              <a:defRPr b="1" sz="950">
                <a:solidFill>
                  <a:srgbClr val="10B981"/>
                </a:solidFill>
              </a:defRPr>
            </a:pPr>
            <a:r>
              <a:t>OPERATIONAL ADVANTAGES</a:t>
            </a:r>
          </a:p>
          <a:p>
            <a:pPr>
              <a:defRPr b="1" sz="819">
                <a:solidFill>
                  <a:srgbClr val="065F46"/>
                </a:solidFill>
              </a:defRPr>
            </a:pPr>
            <a:r>
              <a:t>● 24/7 Continuous Visibility</a:t>
            </a:r>
          </a:p>
          <a:p>
            <a:pPr>
              <a:spcAft>
                <a:spcPts val="300"/>
              </a:spcAft>
              <a:defRPr sz="720">
                <a:solidFill>
                  <a:srgbClr val="0F172A"/>
                </a:solidFill>
              </a:defRPr>
            </a:pPr>
            <a:r>
              <a:t>Replaces periodic static audits with real-time dynamic risk quantification.</a:t>
            </a:r>
          </a:p>
          <a:p>
            <a:pPr>
              <a:defRPr b="1" sz="819">
                <a:solidFill>
                  <a:srgbClr val="065F46"/>
                </a:solidFill>
              </a:defRPr>
            </a:pPr>
            <a:r>
              <a:t>● Optimal Budget ROI</a:t>
            </a:r>
          </a:p>
          <a:p>
            <a:pPr>
              <a:spcAft>
                <a:spcPts val="300"/>
              </a:spcAft>
              <a:defRPr sz="720">
                <a:solidFill>
                  <a:srgbClr val="0F172A"/>
                </a:solidFill>
              </a:defRPr>
            </a:pPr>
            <a:r>
              <a:t>Knapsack algorithm maximizes security risk reduction per Rupee invested.</a:t>
            </a:r>
          </a:p>
          <a:p>
            <a:pPr>
              <a:defRPr b="1" sz="819">
                <a:solidFill>
                  <a:srgbClr val="065F46"/>
                </a:solidFill>
              </a:defRPr>
            </a:pPr>
            <a:r>
              <a:t>● Impact Remediation</a:t>
            </a:r>
          </a:p>
          <a:p>
            <a:pPr>
              <a:spcAft>
                <a:spcPts val="300"/>
              </a:spcAft>
              <a:defRPr sz="720">
                <a:solidFill>
                  <a:srgbClr val="0F172A"/>
                </a:solidFill>
              </a:defRPr>
            </a:pPr>
            <a:r>
              <a:t>Fixes vulnerabilities based on financial loss risk rather than CVSS noise alone.</a:t>
            </a:r>
          </a:p>
          <a:p>
            <a:pPr>
              <a:defRPr b="1" sz="819">
                <a:solidFill>
                  <a:srgbClr val="065F46"/>
                </a:solidFill>
              </a:defRPr>
            </a:pPr>
            <a:r>
              <a:t>● Cryptographic Audit</a:t>
            </a:r>
          </a:p>
          <a:p>
            <a:pPr>
              <a:spcAft>
                <a:spcPts val="300"/>
              </a:spcAft>
              <a:defRPr sz="720">
                <a:solidFill>
                  <a:srgbClr val="0F172A"/>
                </a:solidFill>
              </a:defRPr>
            </a:pPr>
            <a:r>
              <a:t>Tamper-proof Merkle ledger guarantees verifiable non-repudiation.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3611880" y="1783080"/>
            <a:ext cx="2926080" cy="3154680"/>
          </a:xfrm>
          <a:prstGeom prst="roundRect">
            <a:avLst/>
          </a:prstGeom>
          <a:solidFill>
            <a:srgbClr val="F0F9FF"/>
          </a:solidFill>
          <a:ln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/>
          <a:lstStyle/>
          <a:p>
            <a:pPr algn="ctr">
              <a:spcAft>
                <a:spcPts val="400"/>
              </a:spcAft>
              <a:defRPr b="1" sz="950">
                <a:solidFill>
                  <a:srgbClr val="0284C7"/>
                </a:solidFill>
              </a:defRPr>
            </a:pPr>
            <a:r>
              <a:t>STRATEGIC &amp; REGULATORY PILLARS</a:t>
            </a:r>
          </a:p>
          <a:p>
            <a:pPr>
              <a:defRPr b="1" sz="819">
                <a:solidFill>
                  <a:srgbClr val="0369A1"/>
                </a:solidFill>
              </a:defRPr>
            </a:pPr>
            <a:r>
              <a:t>● Boardroom Financial Clarity</a:t>
            </a:r>
          </a:p>
          <a:p>
            <a:pPr>
              <a:spcAft>
                <a:spcPts val="300"/>
              </a:spcAft>
              <a:defRPr sz="720">
                <a:solidFill>
                  <a:srgbClr val="0F172A"/>
                </a:solidFill>
              </a:defRPr>
            </a:pPr>
            <a:r>
              <a:t>Translates cyber exposure into Value-at-Risk (₹ Crores) for executive consensus.</a:t>
            </a:r>
          </a:p>
          <a:p>
            <a:pPr>
              <a:defRPr b="1" sz="819">
                <a:solidFill>
                  <a:srgbClr val="0369A1"/>
                </a:solidFill>
              </a:defRPr>
            </a:pPr>
            <a:r>
              <a:t>● Compliance Readiness</a:t>
            </a:r>
          </a:p>
          <a:p>
            <a:pPr>
              <a:spcAft>
                <a:spcPts val="300"/>
              </a:spcAft>
              <a:defRPr sz="720">
                <a:solidFill>
                  <a:srgbClr val="0F172A"/>
                </a:solidFill>
              </a:defRPr>
            </a:pPr>
            <a:r>
              <a:t>Automates reporting for DPDP Act 2023, RBI Cyber Guidelines, &amp; CERT-In.</a:t>
            </a:r>
          </a:p>
          <a:p>
            <a:pPr>
              <a:defRPr b="1" sz="819">
                <a:solidFill>
                  <a:srgbClr val="0369A1"/>
                </a:solidFill>
              </a:defRPr>
            </a:pPr>
            <a:r>
              <a:t>● Cyber Insurance Underwriting</a:t>
            </a:r>
          </a:p>
          <a:p>
            <a:pPr>
              <a:spcAft>
                <a:spcPts val="300"/>
              </a:spcAft>
              <a:defRPr sz="720">
                <a:solidFill>
                  <a:srgbClr val="0F172A"/>
                </a:solidFill>
              </a:defRPr>
            </a:pPr>
            <a:r>
              <a:t>Provides empirical loss exceedance curves required for favorable policy rates.</a:t>
            </a:r>
          </a:p>
          <a:p>
            <a:pPr>
              <a:defRPr b="1" sz="819">
                <a:solidFill>
                  <a:srgbClr val="0369A1"/>
                </a:solidFill>
              </a:defRPr>
            </a:pPr>
            <a:r>
              <a:t>● Unified C-Suite Vocabulary</a:t>
            </a:r>
          </a:p>
          <a:p>
            <a:pPr>
              <a:spcAft>
                <a:spcPts val="300"/>
              </a:spcAft>
              <a:defRPr sz="720">
                <a:solidFill>
                  <a:srgbClr val="0F172A"/>
                </a:solidFill>
              </a:defRPr>
            </a:pPr>
            <a:r>
              <a:t>Bridges the technical communication gap between SOC analysts and CFO/Board.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502920" y="5166360"/>
            <a:ext cx="6217920" cy="411480"/>
          </a:xfrm>
          <a:prstGeom prst="roundRect">
            <a:avLst/>
          </a:prstGeom>
          <a:solidFill>
            <a:srgbClr val="0F172A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950">
                <a:solidFill>
                  <a:srgbClr val="FFFFFF"/>
                </a:solidFill>
              </a:defRPr>
            </a:pPr>
            <a:r>
              <a:t>★ Paradigm Shift: From Subjective Guesswork to Actuarial Financial Precision ★</a:t>
            </a:r>
          </a:p>
        </p:txBody>
      </p:sp>
      <p:pic>
        <p:nvPicPr>
          <p:cNvPr id="17415" name="Picture 17414" descr="slide5_ch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3720" y="1188720"/>
            <a:ext cx="4754880" cy="4389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RESEARCH, REFERENCES &amp; LIVE DEMONSTRATION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b="1" sz="950">
                <a:solidFill>
                  <a:srgbClr val="FFFFFF"/>
                </a:solidFill>
              </a:rPr>
              <a:t>ByteForce_1
</a:t>
            </a:r>
            <a:r>
              <a:rPr sz="850">
                <a:solidFill>
                  <a:srgbClr val="E0F2FE"/>
                </a:solidFill>
              </a:rPr>
              <a:t>(ID: 180219)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502920" y="1188720"/>
            <a:ext cx="10789920" cy="20574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/>
          <a:lstStyle/>
          <a:p>
            <a:pPr algn="ctr">
              <a:spcAft>
                <a:spcPts val="300"/>
              </a:spcAft>
              <a:defRPr b="1" sz="1000">
                <a:solidFill>
                  <a:srgbClr val="0F172A"/>
                </a:solidFill>
              </a:defRPr>
            </a:pPr>
            <a:r>
              <a:t>STANDARDS, FORMAL RESEARCH &amp; REGULATORY CITATIONS</a:t>
            </a:r>
          </a:p>
          <a:p>
            <a:pPr>
              <a:spcAft>
                <a:spcPts val="200"/>
              </a:spcAft>
            </a:pPr>
            <a:r>
              <a:rPr b="1" sz="800">
                <a:solidFill>
                  <a:srgbClr val="0284C7"/>
                </a:solidFill>
              </a:rPr>
              <a:t>• The Open Group FAIR Standard: </a:t>
            </a:r>
            <a:r>
              <a:rPr sz="750">
                <a:solidFill>
                  <a:srgbClr val="0F172A"/>
                </a:solidFill>
              </a:rPr>
              <a:t>Risk Taxonomy (O-RT) &amp; Risk Analysis (O-RA) for quantitative information risk modeling. </a:t>
            </a:r>
            <a:r>
              <a:rPr b="1" sz="750">
                <a:solidFill>
                  <a:srgbClr val="10B981"/>
                </a:solidFill>
              </a:rPr>
              <a:t>[opengroup.org]</a:t>
            </a:r>
          </a:p>
          <a:p>
            <a:pPr>
              <a:spcAft>
                <a:spcPts val="200"/>
              </a:spcAft>
            </a:pPr>
            <a:r>
              <a:rPr b="1" sz="800">
                <a:solidFill>
                  <a:srgbClr val="0284C7"/>
                </a:solidFill>
              </a:rPr>
              <a:t>• NIST SP 800-30 Rev. 1: </a:t>
            </a:r>
            <a:r>
              <a:rPr sz="750">
                <a:solidFill>
                  <a:srgbClr val="0F172A"/>
                </a:solidFill>
              </a:rPr>
              <a:t>Guide for Conducting Risk Assessments in Federal Information Systems. </a:t>
            </a:r>
            <a:r>
              <a:rPr b="1" sz="750">
                <a:solidFill>
                  <a:srgbClr val="10B981"/>
                </a:solidFill>
              </a:rPr>
              <a:t>[nist.gov]</a:t>
            </a:r>
          </a:p>
          <a:p>
            <a:pPr>
              <a:spcAft>
                <a:spcPts val="200"/>
              </a:spcAft>
            </a:pPr>
            <a:r>
              <a:rPr b="1" sz="800">
                <a:solidFill>
                  <a:srgbClr val="0284C7"/>
                </a:solidFill>
              </a:rPr>
              <a:t>• ISO/IEC 27005:2022: </a:t>
            </a:r>
            <a:r>
              <a:rPr sz="750">
                <a:solidFill>
                  <a:srgbClr val="0F172A"/>
                </a:solidFill>
              </a:rPr>
              <a:t>Information security, cybersecurity and privacy protection — Managing risks. </a:t>
            </a:r>
            <a:r>
              <a:rPr b="1" sz="750">
                <a:solidFill>
                  <a:srgbClr val="10B981"/>
                </a:solidFill>
              </a:rPr>
              <a:t>[iso.org]</a:t>
            </a:r>
          </a:p>
          <a:p>
            <a:pPr>
              <a:spcAft>
                <a:spcPts val="200"/>
              </a:spcAft>
            </a:pPr>
            <a:r>
              <a:rPr b="1" sz="800">
                <a:solidFill>
                  <a:srgbClr val="0284C7"/>
                </a:solidFill>
              </a:rPr>
              <a:t>• DPDP Act 2023: </a:t>
            </a:r>
            <a:r>
              <a:rPr sz="750">
                <a:solidFill>
                  <a:srgbClr val="0F172A"/>
                </a:solidFill>
              </a:rPr>
              <a:t>Digital Personal Data Protection Act, Ministry of Electronics &amp; IT (MeitY), India. </a:t>
            </a:r>
            <a:r>
              <a:rPr b="1" sz="750">
                <a:solidFill>
                  <a:srgbClr val="10B981"/>
                </a:solidFill>
              </a:rPr>
              <a:t>[meity.gov.in]</a:t>
            </a:r>
          </a:p>
          <a:p>
            <a:pPr>
              <a:spcAft>
                <a:spcPts val="200"/>
              </a:spcAft>
            </a:pPr>
            <a:r>
              <a:rPr b="1" sz="800">
                <a:solidFill>
                  <a:srgbClr val="0284C7"/>
                </a:solidFill>
              </a:rPr>
              <a:t>• CERT-In Directions (2022): </a:t>
            </a:r>
            <a:r>
              <a:rPr sz="750">
                <a:solidFill>
                  <a:srgbClr val="0F172A"/>
                </a:solidFill>
              </a:rPr>
              <a:t>Section 70B mandate for cybersecurity posture and log retention guidelines. </a:t>
            </a:r>
            <a:r>
              <a:rPr b="1" sz="750">
                <a:solidFill>
                  <a:srgbClr val="10B981"/>
                </a:solidFill>
              </a:rPr>
              <a:t>[cert-in.org.in]</a:t>
            </a:r>
          </a:p>
          <a:p>
            <a:pPr>
              <a:spcAft>
                <a:spcPts val="200"/>
              </a:spcAft>
            </a:pPr>
            <a:r>
              <a:rPr b="1" sz="800">
                <a:solidFill>
                  <a:srgbClr val="0284C7"/>
                </a:solidFill>
              </a:rPr>
              <a:t>• 0/1 Knapsack Optimization: </a:t>
            </a:r>
            <a:r>
              <a:rPr sz="750">
                <a:solidFill>
                  <a:srgbClr val="0F172A"/>
                </a:solidFill>
              </a:rPr>
              <a:t>Dynamic Programming algorithms for resource-constrained risk minimization. </a:t>
            </a:r>
            <a:r>
              <a:rPr b="1" sz="750">
                <a:solidFill>
                  <a:srgbClr val="10B981"/>
                </a:solidFill>
              </a:rPr>
              <a:t>[ieee.org]</a:t>
            </a:r>
          </a:p>
          <a:p>
            <a:pPr>
              <a:spcAft>
                <a:spcPts val="200"/>
              </a:spcAft>
            </a:pPr>
            <a:r>
              <a:rPr b="1" sz="800">
                <a:solidFill>
                  <a:srgbClr val="0284C7"/>
                </a:solidFill>
              </a:rPr>
              <a:t>• RFC 6962: Merkle Trees: </a:t>
            </a:r>
            <a:r>
              <a:rPr sz="750">
                <a:solidFill>
                  <a:srgbClr val="0F172A"/>
                </a:solidFill>
              </a:rPr>
              <a:t>Verifiable append-only data structures for immutable security telemetry logging. </a:t>
            </a:r>
            <a:r>
              <a:rPr b="1" sz="750">
                <a:solidFill>
                  <a:srgbClr val="10B981"/>
                </a:solidFill>
              </a:rPr>
              <a:t>[rfc-editor.org]</a:t>
            </a:r>
          </a:p>
        </p:txBody>
      </p:sp>
      <p:pic>
        <p:nvPicPr>
          <p:cNvPr id="17411" name="Picture 17410" descr="slide6_uiux_compos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3364992"/>
            <a:ext cx="7589520" cy="2240280"/>
          </a:xfrm>
          <a:prstGeom prst="rect">
            <a:avLst/>
          </a:prstGeom>
        </p:spPr>
      </p:pic>
      <p:sp>
        <p:nvSpPr>
          <p:cNvPr id="17412" name="Rounded Rectangle 17411"/>
          <p:cNvSpPr/>
          <p:nvPr/>
        </p:nvSpPr>
        <p:spPr>
          <a:xfrm>
            <a:off x="8229600" y="3364992"/>
            <a:ext cx="3063240" cy="22402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3152"/>
          <a:lstStyle/>
          <a:p>
            <a:pPr algn="ctr">
              <a:defRPr b="1" sz="850">
                <a:solidFill>
                  <a:srgbClr val="38BDF8"/>
                </a:solidFill>
              </a:defRPr>
            </a:pPr>
            <a:r>
              <a:t>OFFICIAL CODE REPOSITORY</a:t>
            </a:r>
          </a:p>
          <a:p>
            <a:pPr algn="ctr">
              <a:spcBef>
                <a:spcPts val="11160"/>
              </a:spcBef>
            </a:pPr>
            <a:r>
              <a:rPr sz="700">
                <a:solidFill>
                  <a:srgbClr val="CBD5E1"/>
                </a:solidFill>
              </a:rPr>
              <a:t>ByteForce_1 // AURA SENTINEL
github.com/aryanbaghel756-spec/AURA-SENTINEL</a:t>
            </a:r>
          </a:p>
        </p:txBody>
      </p:sp>
      <p:pic>
        <p:nvPicPr>
          <p:cNvPr id="17413" name="Picture 17412" descr="github_q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98280" y="3703320"/>
            <a:ext cx="1325880" cy="1325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