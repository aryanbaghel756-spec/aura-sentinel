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822960"/>
            <a:ext cx="9966960" cy="521208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548640" tIns="365760"/>
          <a:lstStyle/>
          <a:p>
            <a:pPr algn="ctr">
              <a:defRPr sz="1300" b="1">
                <a:solidFill>
                  <a:srgbClr val="22D3EE"/>
                </a:solidFill>
              </a:defRPr>
            </a:pPr>
            <a:r>
              <a:t>SMART INDIA HACKATHON 2026</a:t>
            </a:r>
          </a:p>
          <a:p>
            <a:pPr>
              <a:spcAft>
                <a:spcPts val="600"/>
              </a:spcAft>
              <a:defRPr sz="3800" b="1">
                <a:solidFill>
                  <a:srgbClr val="F1F5F9"/>
                </a:solidFill>
              </a:defRPr>
            </a:pPr>
            <a:r>
              <a:t>AURA SENTINEL</a:t>
            </a:r>
          </a:p>
          <a:p>
            <a:pPr>
              <a:spcAft>
                <a:spcPts val="1400"/>
              </a:spcAft>
              <a:defRPr sz="1600" b="1">
                <a:solidFill>
                  <a:srgbClr val="34D399"/>
                </a:solidFill>
              </a:defRPr>
            </a:pPr>
            <a:r>
              <a:t>AI-Powered Continuous Cyber Risk Quantification &amp; Investment Optimization Platform</a:t>
            </a:r>
          </a:p>
          <a:p>
            <a:pPr>
              <a:spcAft>
                <a:spcPts val="300"/>
              </a:spcAft>
              <a:defRPr sz="1100" b="1">
                <a:solidFill>
                  <a:srgbClr val="FBBF24"/>
                </a:solidFill>
              </a:defRPr>
            </a:pPr>
            <a:r>
              <a:t>• Problem Statement ID &amp; Title: </a:t>
            </a:r>
            <a:r>
              <a:rPr b="0">
                <a:solidFill>
                  <a:srgbClr val="F1F5F9"/>
                </a:solidFill>
              </a:rPr>
              <a:t>SIH26105 — AI-Powered Continuous Cyber Risk Quantification and Investment Optimization Platform</a:t>
            </a:r>
          </a:p>
          <a:p>
            <a:pPr>
              <a:spcAft>
                <a:spcPts val="300"/>
              </a:spcAft>
              <a:defRPr sz="1100" b="1">
                <a:solidFill>
                  <a:srgbClr val="FBBF24"/>
                </a:solidFill>
              </a:defRPr>
            </a:pPr>
            <a:r>
              <a:t>• Theme &amp; Category: </a:t>
            </a:r>
            <a:r>
              <a:rPr b="0">
                <a:solidFill>
                  <a:srgbClr val="F1F5F9"/>
                </a:solidFill>
              </a:rPr>
              <a:t>Blockchain &amp; Cybersecurity | Software Solution</a:t>
            </a:r>
          </a:p>
          <a:p>
            <a:pPr>
              <a:spcAft>
                <a:spcPts val="300"/>
              </a:spcAft>
              <a:defRPr sz="1100" b="1">
                <a:solidFill>
                  <a:srgbClr val="FBBF24"/>
                </a:solidFill>
              </a:defRPr>
            </a:pPr>
            <a:r>
              <a:t>• Ministry / Target Organization: </a:t>
            </a:r>
            <a:r>
              <a:rPr b="0">
                <a:solidFill>
                  <a:srgbClr val="F1F5F9"/>
                </a:solidFill>
              </a:rPr>
              <a:t>Ministry of Education's Innovation Cell (MIC) &amp; AICTE (Cyber Security Cell)</a:t>
            </a:r>
          </a:p>
          <a:p>
            <a:pPr>
              <a:spcAft>
                <a:spcPts val="300"/>
              </a:spcAft>
              <a:defRPr sz="1100" b="1">
                <a:solidFill>
                  <a:srgbClr val="FBBF24"/>
                </a:solidFill>
              </a:defRPr>
            </a:pPr>
            <a:r>
              <a:t>• Team Name &amp; Official ID: </a:t>
            </a:r>
            <a:r>
              <a:rPr b="0">
                <a:solidFill>
                  <a:srgbClr val="F1F5F9"/>
                </a:solidFill>
              </a:rPr>
              <a:t>ByteForce_1 (Official SIH Team ID: 180219)</a:t>
            </a:r>
          </a:p>
          <a:p>
            <a:pPr>
              <a:spcAft>
                <a:spcPts val="300"/>
              </a:spcAft>
              <a:defRPr sz="1100" b="1">
                <a:solidFill>
                  <a:srgbClr val="FBBF24"/>
                </a:solidFill>
              </a:defRPr>
            </a:pPr>
            <a:r>
              <a:t>• Institute Name: </a:t>
            </a:r>
            <a:r>
              <a:rPr b="0">
                <a:solidFill>
                  <a:srgbClr val="F1F5F9"/>
                </a:solidFill>
              </a:rPr>
              <a:t>Skyline Institute of Engineering and Technology, Greater Noida</a:t>
            </a:r>
          </a:p>
          <a:p>
            <a:pPr>
              <a:spcAft>
                <a:spcPts val="300"/>
              </a:spcAft>
              <a:defRPr sz="1100" b="1">
                <a:solidFill>
                  <a:srgbClr val="FBBF24"/>
                </a:solidFill>
              </a:defRPr>
            </a:pPr>
            <a:r>
              <a:t>• Team Leader &amp; Members: </a:t>
            </a:r>
            <a:r>
              <a:rPr b="0">
                <a:solidFill>
                  <a:srgbClr val="F1F5F9"/>
                </a:solidFill>
              </a:rPr>
              <a:t>Aryan Baghel (Team Leader), Kirti, Hitesh Chauhan, Avinav Jha, Sharim Khan, Aman Sekh</a:t>
            </a:r>
          </a:p>
          <a:p>
            <a:pPr>
              <a:spcAft>
                <a:spcPts val="300"/>
              </a:spcAft>
              <a:defRPr sz="1100" b="1">
                <a:solidFill>
                  <a:srgbClr val="FBBF24"/>
                </a:solidFill>
              </a:defRPr>
            </a:pPr>
            <a:r>
              <a:t>• Executive Tagline: </a:t>
            </a:r>
            <a:r>
              <a:rPr b="0">
                <a:solidFill>
                  <a:srgbClr val="F1F5F9"/>
                </a:solidFill>
              </a:rPr>
              <a:t>"Bridging the gap between raw cybersecurity telemetry and business decision-making through actuarial rupee loss quantification, Knapsack budget optimization, and tamper-evident blockchain auditability."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SMART INDIA HACKATHON 2026 | SLIDE 2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Slide 02 | Proposed Solution &amp; Core Innovation (USP)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31B2C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spcAft>
                <a:spcPts val="1000"/>
              </a:spcAft>
              <a:defRPr sz="1500" b="1">
                <a:solidFill>
                  <a:srgbClr val="F87171"/>
                </a:solidFill>
              </a:defRPr>
            </a:pPr>
            <a:r>
              <a:t>THE PROBLEM &amp; INDUSTRY PAIN POINTS</a:t>
            </a:r>
          </a:p>
          <a:p>
            <a:pPr>
              <a:spcAft>
                <a:spcPts val="600"/>
              </a:spcAft>
              <a:defRPr sz="1100" b="1">
                <a:solidFill>
                  <a:srgbClr val="F1F5F9"/>
                </a:solidFill>
              </a:defRPr>
            </a:pPr>
            <a:r>
              <a:t>❌ Qualitative Jargon Disconnect:</a:t>
            </a:r>
            <a:br/>
            <a:r>
              <a:rPr b="0">
                <a:solidFill>
                  <a:srgbClr val="94A3B8"/>
                </a:solidFill>
              </a:rPr>
              <a:t>Tools output 'High/Med/Low' labels. Boards and CFOs cannot understand abstract CVE severity or correlate it to balance-sheet liabilities.</a:t>
            </a:r>
          </a:p>
          <a:p>
            <a:pPr>
              <a:spcAft>
                <a:spcPts val="600"/>
              </a:spcAft>
              <a:defRPr sz="1100" b="1">
                <a:solidFill>
                  <a:srgbClr val="F1F5F9"/>
                </a:solidFill>
              </a:defRPr>
            </a:pPr>
            <a:r>
              <a:t>❌ Stale Annual Audits:</a:t>
            </a:r>
            <a:br/>
            <a:r>
              <a:rPr b="0">
                <a:solidFill>
                  <a:srgbClr val="94A3B8"/>
                </a:solidFill>
              </a:rPr>
              <a:t>Traditional risk registers rely on annual manual questionnaires, missing real-time port exposures and dynamic threat actor shifts.</a:t>
            </a:r>
          </a:p>
          <a:p>
            <a:pPr>
              <a:spcAft>
                <a:spcPts val="600"/>
              </a:spcAft>
              <a:defRPr sz="1100" b="1">
                <a:solidFill>
                  <a:srgbClr val="F1F5F9"/>
                </a:solidFill>
              </a:defRPr>
            </a:pPr>
            <a:r>
              <a:t>❌ Blind Security Spending:</a:t>
            </a:r>
            <a:br/>
            <a:r>
              <a:rPr b="0">
                <a:solidFill>
                  <a:srgbClr val="94A3B8"/>
                </a:solidFill>
              </a:rPr>
              <a:t>Enterprises spend millions on random security tools without quantifiable Return on Security Investment (ROSI).</a:t>
            </a:r>
          </a:p>
          <a:p>
            <a:pPr>
              <a:spcAft>
                <a:spcPts val="600"/>
              </a:spcAft>
              <a:defRPr sz="1100" b="1">
                <a:solidFill>
                  <a:srgbClr val="F1F5F9"/>
                </a:solidFill>
              </a:defRPr>
            </a:pPr>
            <a:r>
              <a:t>❌ Mutable Audit Logs:</a:t>
            </a:r>
            <a:br/>
            <a:r>
              <a:rPr b="0">
                <a:solidFill>
                  <a:srgbClr val="94A3B8"/>
                </a:solidFill>
              </a:rPr>
              <a:t>Traditional database logs are vulnerable to insider modification, violating CERT-In 180-day unalterable log mandates.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31B2C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spcAft>
                <a:spcPts val="1000"/>
              </a:spcAft>
              <a:defRPr sz="1500" b="1">
                <a:solidFill>
                  <a:srgbClr val="34D399"/>
                </a:solidFill>
              </a:defRPr>
            </a:pPr>
            <a:r>
              <a:t>PROPOSED SOLUTION &amp; INNOVATION (USP)</a:t>
            </a:r>
          </a:p>
          <a:p>
            <a:pPr>
              <a:spcAft>
                <a:spcPts val="500"/>
              </a:spcAft>
              <a:defRPr sz="1000" b="1">
                <a:solidFill>
                  <a:srgbClr val="F1F5F9"/>
                </a:solidFill>
              </a:defRPr>
            </a:pPr>
            <a:r>
              <a:t>✔ 1. Actuarial Rupee Quantification (FAIR):</a:t>
            </a:r>
            <a:br/>
            <a:r>
              <a:rPr b="0">
                <a:solidFill>
                  <a:srgbClr val="94A3B8"/>
                </a:solidFill>
              </a:rPr>
              <a:t>Translates real-time listening socket counts and compute telemetry into prototype Expected Annual Loss (EAL) in ₹ INR.</a:t>
            </a:r>
          </a:p>
          <a:p>
            <a:pPr>
              <a:spcAft>
                <a:spcPts val="500"/>
              </a:spcAft>
              <a:defRPr sz="1000" b="1">
                <a:solidFill>
                  <a:srgbClr val="F1F5F9"/>
                </a:solidFill>
              </a:defRPr>
            </a:pPr>
            <a:r>
              <a:t>✔ 2. Pareto Knapsack Budget Optimizer:</a:t>
            </a:r>
            <a:br/>
            <a:r>
              <a:rPr b="0">
                <a:solidFill>
                  <a:srgbClr val="94A3B8"/>
                </a:solidFill>
              </a:rPr>
              <a:t>Takes explicit institutional budget (e.g. ₹1 Crore) and selects the highest-ROSI defense portfolio delivering optimal risk reduction.</a:t>
            </a:r>
          </a:p>
          <a:p>
            <a:pPr>
              <a:spcAft>
                <a:spcPts val="500"/>
              </a:spcAft>
              <a:defRPr sz="1000" b="1">
                <a:solidFill>
                  <a:srgbClr val="F1F5F9"/>
                </a:solidFill>
              </a:defRPr>
            </a:pPr>
            <a:r>
              <a:t>✔ 3. Tamper-Evident Blockchain Ledger:</a:t>
            </a:r>
            <a:br/>
            <a:r>
              <a:rPr b="0">
                <a:solidFill>
                  <a:srgbClr val="94A3B8"/>
                </a:solidFill>
              </a:rPr>
              <a:t>Anchors risk evaluations, budget plans, and quarantine logs in SHA-256 Merkle blocks, providing cryptographic proof of non-alteration.</a:t>
            </a:r>
          </a:p>
          <a:p>
            <a:pPr>
              <a:spcAft>
                <a:spcPts val="500"/>
              </a:spcAft>
              <a:defRPr sz="1000" b="1">
                <a:solidFill>
                  <a:srgbClr val="F1F5F9"/>
                </a:solidFill>
              </a:defRPr>
            </a:pPr>
            <a:r>
              <a:t>✔ 4. What-If Scenario Modeling:</a:t>
            </a:r>
            <a:br/>
            <a:r>
              <a:rPr b="0">
                <a:solidFill>
                  <a:srgbClr val="94A3B8"/>
                </a:solidFill>
              </a:rPr>
              <a:t>Enables executives to simulate proactive defenses (e.g. closing exposed ports vs patch delays) and view projected exposure reductions.</a:t>
            </a:r>
          </a:p>
          <a:p>
            <a:pPr>
              <a:spcAft>
                <a:spcPts val="500"/>
              </a:spcAft>
              <a:defRPr sz="1000" b="1">
                <a:solidFill>
                  <a:srgbClr val="F1F5F9"/>
                </a:solidFill>
              </a:defRPr>
            </a:pPr>
            <a:r>
              <a:t>✔ 5. Zero-Trust Physical Auto-Lock:</a:t>
            </a:r>
            <a:br/>
            <a:r>
              <a:rPr b="0">
                <a:solidFill>
                  <a:srgbClr val="94A3B8"/>
                </a:solidFill>
              </a:rPr>
              <a:t>Local YOLOv8 monitors operator presence, automatically locking Windows if the operator departs.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SMART INDIA HACKATHON 2026 | SLIDE 3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Slide 03 | Technical Approach, Methodology &amp;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131B2C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800"/>
              </a:spcAft>
              <a:defRPr sz="1300" b="1">
                <a:solidFill>
                  <a:srgbClr val="22D3EE"/>
                </a:solidFill>
              </a:defRPr>
            </a:pPr>
            <a:r>
              <a:t>LAYER 1: PRESENTATION &amp; SOC</a:t>
            </a:r>
          </a:p>
          <a:p>
            <a:pPr>
              <a:spcAft>
                <a:spcPts val="600"/>
              </a:spcAft>
              <a:defRPr sz="1000" b="1">
                <a:solidFill>
                  <a:srgbClr val="F1F5F9"/>
                </a:solidFill>
              </a:defRPr>
            </a:pPr>
            <a:r>
              <a:t>• Frontend Engine: </a:t>
            </a:r>
            <a:r>
              <a:rPr b="0">
                <a:solidFill>
                  <a:srgbClr val="94A3B8"/>
                </a:solidFill>
              </a:rPr>
              <a:t>React 19 + Vite 8 supercharged dashboard with 11 unified modules.</a:t>
            </a:r>
          </a:p>
          <a:p>
            <a:pPr>
              <a:spcAft>
                <a:spcPts val="600"/>
              </a:spcAft>
              <a:defRPr sz="1000" b="1">
                <a:solidFill>
                  <a:srgbClr val="F1F5F9"/>
                </a:solidFill>
              </a:defRPr>
            </a:pPr>
            <a:r>
              <a:t>• Executive Board View: </a:t>
            </a:r>
            <a:r>
              <a:rPr b="0">
                <a:solidFill>
                  <a:srgbClr val="94A3B8"/>
                </a:solidFill>
              </a:rPr>
              <a:t>Live Enterprise Risk Score, ₹ Exposure, and budget optimization curves.</a:t>
            </a:r>
          </a:p>
          <a:p>
            <a:pPr>
              <a:spcAft>
                <a:spcPts val="600"/>
              </a:spcAft>
              <a:defRPr sz="1000" b="1">
                <a:solidFill>
                  <a:srgbClr val="F1F5F9"/>
                </a:solidFill>
              </a:defRPr>
            </a:pPr>
            <a:r>
              <a:t>• Technical SOC View: </a:t>
            </a:r>
            <a:r>
              <a:rPr b="0">
                <a:solidFill>
                  <a:srgbClr val="94A3B8"/>
                </a:solidFill>
              </a:rPr>
              <a:t>Granular port analyzer, process kill triggers, and printable CISO Audit PDF.</a:t>
            </a:r>
          </a:p>
          <a:p>
            <a:pPr>
              <a:spcAft>
                <a:spcPts val="600"/>
              </a:spcAft>
              <a:defRPr sz="1000" b="1">
                <a:solidFill>
                  <a:srgbClr val="F1F5F9"/>
                </a:solidFill>
              </a:defRPr>
            </a:pPr>
            <a:r>
              <a:t>• Command Palette: </a:t>
            </a:r>
            <a:r>
              <a:rPr b="0">
                <a:solidFill>
                  <a:srgbClr val="94A3B8"/>
                </a:solidFill>
              </a:rPr>
              <a:t>Global quick-action bar (Ctrl+K) for rapid operational response.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131B2C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800"/>
              </a:spcAft>
              <a:defRPr sz="1300" b="1">
                <a:solidFill>
                  <a:srgbClr val="34D399"/>
                </a:solidFill>
              </a:defRPr>
            </a:pPr>
            <a:r>
              <a:t>LAYER 2: COMPUTATIONAL CORE</a:t>
            </a:r>
          </a:p>
          <a:p>
            <a:pPr>
              <a:spcAft>
                <a:spcPts val="600"/>
              </a:spcAft>
              <a:defRPr sz="1000" b="1">
                <a:solidFill>
                  <a:srgbClr val="F1F5F9"/>
                </a:solidFill>
              </a:defRPr>
            </a:pPr>
            <a:r>
              <a:t>• FastAPI Async Kernel: </a:t>
            </a:r>
            <a:r>
              <a:rPr b="0">
                <a:solidFill>
                  <a:srgbClr val="94A3B8"/>
                </a:solidFill>
              </a:rPr>
              <a:t>High-throughput asynchronous Python micro-services on 0.0.0.0:8000.</a:t>
            </a:r>
          </a:p>
          <a:p>
            <a:pPr>
              <a:spcAft>
                <a:spcPts val="600"/>
              </a:spcAft>
              <a:defRPr sz="1000" b="1">
                <a:solidFill>
                  <a:srgbClr val="F1F5F9"/>
                </a:solidFill>
              </a:defRPr>
            </a:pPr>
            <a:r>
              <a:t>• FAIR Exposure Engine: </a:t>
            </a:r>
            <a:r>
              <a:rPr b="0">
                <a:solidFill>
                  <a:srgbClr val="94A3B8"/>
                </a:solidFill>
              </a:rPr>
              <a:t>EAL = Threat Frequency × Vulnerability × Loss Magnitude in ₹ INR.</a:t>
            </a:r>
          </a:p>
          <a:p>
            <a:pPr>
              <a:spcAft>
                <a:spcPts val="600"/>
              </a:spcAft>
              <a:defRPr sz="1000" b="1">
                <a:solidFill>
                  <a:srgbClr val="F1F5F9"/>
                </a:solidFill>
              </a:defRPr>
            </a:pPr>
            <a:r>
              <a:t>• Knapsack Optimizer: </a:t>
            </a:r>
            <a:r>
              <a:rPr b="0">
                <a:solidFill>
                  <a:srgbClr val="94A3B8"/>
                </a:solidFill>
              </a:rPr>
              <a:t>Evaluates defense control packages to maximize ROSI under budget.</a:t>
            </a:r>
          </a:p>
          <a:p>
            <a:pPr>
              <a:spcAft>
                <a:spcPts val="600"/>
              </a:spcAft>
              <a:defRPr sz="1000" b="1">
                <a:solidFill>
                  <a:srgbClr val="F1F5F9"/>
                </a:solidFill>
              </a:defRPr>
            </a:pPr>
            <a:r>
              <a:t>• What-If Simulator: </a:t>
            </a:r>
            <a:r>
              <a:rPr b="0">
                <a:solidFill>
                  <a:srgbClr val="94A3B8"/>
                </a:solidFill>
              </a:rPr>
              <a:t>Interactive sliders for parameter tuning &amp; MITRE wargame simulations.</a:t>
            </a:r>
          </a:p>
          <a:p>
            <a:pPr>
              <a:spcAft>
                <a:spcPts val="600"/>
              </a:spcAft>
              <a:defRPr sz="1000" b="1">
                <a:solidFill>
                  <a:srgbClr val="F1F5F9"/>
                </a:solidFill>
              </a:defRPr>
            </a:pPr>
            <a:r>
              <a:t>• Credential Scanner: </a:t>
            </a:r>
            <a:r>
              <a:rPr b="0">
                <a:solidFill>
                  <a:srgbClr val="94A3B8"/>
                </a:solidFill>
              </a:rPr>
              <a:t>Regex scanner detecting unmasked Aadhaar, PAN, and leaked API tokens.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131B2C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800"/>
              </a:spcAft>
              <a:defRPr sz="1300" b="1">
                <a:solidFill>
                  <a:srgbClr val="FBBF24"/>
                </a:solidFill>
              </a:defRPr>
            </a:pPr>
            <a:r>
              <a:t>LAYER 3: TRUST &amp; AI LAYER</a:t>
            </a:r>
          </a:p>
          <a:p>
            <a:pPr>
              <a:spcAft>
                <a:spcPts val="600"/>
              </a:spcAft>
              <a:defRPr sz="1000" b="1">
                <a:solidFill>
                  <a:srgbClr val="F1F5F9"/>
                </a:solidFill>
              </a:defRPr>
            </a:pPr>
            <a:r>
              <a:t>• SHA-256 Merkle Ledger: </a:t>
            </a:r>
            <a:r>
              <a:rPr b="0">
                <a:solidFill>
                  <a:srgbClr val="94A3B8"/>
                </a:solidFill>
              </a:rPr>
              <a:t>Cryptographically chained blocks with Merkle roots &amp; Proof-of-Work.</a:t>
            </a:r>
          </a:p>
          <a:p>
            <a:pPr>
              <a:spcAft>
                <a:spcPts val="600"/>
              </a:spcAft>
              <a:defRPr sz="1000" b="1">
                <a:solidFill>
                  <a:srgbClr val="F1F5F9"/>
                </a:solidFill>
              </a:defRPr>
            </a:pPr>
            <a:r>
              <a:t>• Tamper-Evident Audit: </a:t>
            </a:r>
            <a:r>
              <a:rPr b="0">
                <a:solidFill>
                  <a:srgbClr val="94A3B8"/>
                </a:solidFill>
              </a:rPr>
              <a:t>Instant verification detecting any un-mined modifications to past logs.</a:t>
            </a:r>
          </a:p>
          <a:p>
            <a:pPr>
              <a:spcAft>
                <a:spcPts val="600"/>
              </a:spcAft>
              <a:defRPr sz="1000" b="1">
                <a:solidFill>
                  <a:srgbClr val="F1F5F9"/>
                </a:solidFill>
              </a:defRPr>
            </a:pPr>
            <a:r>
              <a:t>• SQLite 3 (WAL Mode): </a:t>
            </a:r>
            <a:r>
              <a:rPr b="0">
                <a:solidFill>
                  <a:srgbClr val="94A3B8"/>
                </a:solidFill>
              </a:rPr>
              <a:t>Crash-resilient Write-Ahead Logging local storage hub.</a:t>
            </a:r>
          </a:p>
          <a:p>
            <a:pPr>
              <a:spcAft>
                <a:spcPts val="600"/>
              </a:spcAft>
              <a:defRPr sz="1000" b="1">
                <a:solidFill>
                  <a:srgbClr val="F1F5F9"/>
                </a:solidFill>
              </a:defRPr>
            </a:pPr>
            <a:r>
              <a:t>• YOLOv8 Operator Presence: </a:t>
            </a:r>
            <a:r>
              <a:rPr b="0">
                <a:solidFill>
                  <a:srgbClr val="94A3B8"/>
                </a:solidFill>
              </a:rPr>
              <a:t>Ultralytics YOLOv8-nano tracking operator presence &amp; triggering auto-lock.</a:t>
            </a:r>
          </a:p>
          <a:p>
            <a:pPr>
              <a:spcAft>
                <a:spcPts val="600"/>
              </a:spcAft>
              <a:defRPr sz="1000" b="1">
                <a:solidFill>
                  <a:srgbClr val="F1F5F9"/>
                </a:solidFill>
              </a:defRPr>
            </a:pPr>
            <a:r>
              <a:t>• MediaPipe Touchless Mouse: </a:t>
            </a:r>
            <a:r>
              <a:rPr b="0">
                <a:solidFill>
                  <a:srgbClr val="94A3B8"/>
                </a:solidFill>
              </a:rPr>
              <a:t>Google MediaPipe 0.10 tracking 21 3D hand coordinates for gesture control.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SMART INDIA HACKATHON 2026 | SLIDE 4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Slide 04 | Feasibility, Viability &amp; Risk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31B2C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spcAft>
                <a:spcPts val="1000"/>
              </a:spcAft>
              <a:defRPr sz="1400" b="1">
                <a:solidFill>
                  <a:srgbClr val="22D3EE"/>
                </a:solidFill>
              </a:defRPr>
            </a:pPr>
            <a:r>
              <a:t>TECHNICAL FEASIBILITY &amp; VIABILITY</a:t>
            </a:r>
          </a:p>
          <a:p>
            <a:pPr>
              <a:spcAft>
                <a:spcPts val="600"/>
              </a:spcAft>
              <a:defRPr sz="1000" b="1">
                <a:solidFill>
                  <a:srgbClr val="F1F5F9"/>
                </a:solidFill>
              </a:defRPr>
            </a:pPr>
            <a:r>
              <a:t>✔ Commodity Hardware Feasibility:</a:t>
            </a:r>
            <a:br/>
            <a:r>
              <a:rPr b="0">
                <a:solidFill>
                  <a:srgbClr val="94A3B8"/>
                </a:solidFill>
              </a:rPr>
              <a:t>Designed as a lightweight local-first architecture running on standard Intel/AMD quad-core CPUs without mandatory cloud GPU servers.</a:t>
            </a:r>
          </a:p>
          <a:p>
            <a:pPr>
              <a:spcAft>
                <a:spcPts val="600"/>
              </a:spcAft>
              <a:defRPr sz="1000" b="1">
                <a:solidFill>
                  <a:srgbClr val="F1F5F9"/>
                </a:solidFill>
              </a:defRPr>
            </a:pPr>
            <a:r>
              <a:t>✔ Zero SaaS Recurring Costs:</a:t>
            </a:r>
            <a:br/>
            <a:r>
              <a:rPr b="0">
                <a:solidFill>
                  <a:srgbClr val="94A3B8"/>
                </a:solidFill>
              </a:rPr>
              <a:t>Operates without continuous external API dependencies, ideal for budget-constrained academic and public sector institutions.</a:t>
            </a:r>
          </a:p>
          <a:p>
            <a:pPr>
              <a:spcAft>
                <a:spcPts val="600"/>
              </a:spcAft>
              <a:defRPr sz="1000" b="1">
                <a:solidFill>
                  <a:srgbClr val="F1F5F9"/>
                </a:solidFill>
              </a:defRPr>
            </a:pPr>
            <a:r>
              <a:t>✔ Current Prototype Readiness:</a:t>
            </a:r>
            <a:br/>
            <a:r>
              <a:rPr b="0">
                <a:solidFill>
                  <a:srgbClr val="94A3B8"/>
                </a:solidFill>
              </a:rPr>
              <a:t>The full MVP is operational today across all 11 modules with live host telemetry, investment optimization, and blockchain verification.</a:t>
            </a:r>
          </a:p>
          <a:p>
            <a:pPr>
              <a:spcAft>
                <a:spcPts val="600"/>
              </a:spcAft>
              <a:defRPr sz="1000" b="1">
                <a:solidFill>
                  <a:srgbClr val="F1F5F9"/>
                </a:solidFill>
              </a:defRPr>
            </a:pPr>
            <a:r>
              <a:t>✔ Air-Gapped Operational Safety:</a:t>
            </a:r>
            <a:br/>
            <a:r>
              <a:rPr b="0">
                <a:solidFill>
                  <a:srgbClr val="94A3B8"/>
                </a:solidFill>
              </a:rPr>
              <a:t>Can be deployed inside closed institutional campus LANs with zero external data telemetry leakage.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31B2C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spcAft>
                <a:spcPts val="1000"/>
              </a:spcAft>
              <a:defRPr sz="1400" b="1">
                <a:solidFill>
                  <a:srgbClr val="FBBF24"/>
                </a:solidFill>
              </a:defRPr>
            </a:pPr>
            <a:r>
              <a:t>POTENTIAL RISKS &amp; MITIGATION STRATEGY</a:t>
            </a:r>
          </a:p>
          <a:p>
            <a:pPr>
              <a:spcAft>
                <a:spcPts val="600"/>
              </a:spcAft>
              <a:defRPr sz="1000" b="1">
                <a:solidFill>
                  <a:srgbClr val="F1F5F9"/>
                </a:solidFill>
              </a:defRPr>
            </a:pPr>
            <a:r>
              <a:t>🛡 Risk 1: Host Overhead from Telemetry Polling</a:t>
            </a:r>
            <a:br/>
            <a:r>
              <a:rPr b="0">
                <a:solidFill>
                  <a:srgbClr val="94A3B8"/>
                </a:solidFill>
              </a:rPr>
              <a:t>Mitigation: Implemented asynchronous non-blocking psutil polling with 3-second throttle, consuming &lt;1% CPU overhead.</a:t>
            </a:r>
          </a:p>
          <a:p>
            <a:pPr>
              <a:spcAft>
                <a:spcPts val="600"/>
              </a:spcAft>
              <a:defRPr sz="1000" b="1">
                <a:solidFill>
                  <a:srgbClr val="F1F5F9"/>
                </a:solidFill>
              </a:defRPr>
            </a:pPr>
            <a:r>
              <a:t>🛡 Risk 2: Model Accuracy &amp; Subjectivity</a:t>
            </a:r>
            <a:br/>
            <a:r>
              <a:rPr b="0">
                <a:solidFill>
                  <a:srgbClr val="94A3B8"/>
                </a:solidFill>
              </a:rPr>
              <a:t>Mitigation: Strict alignment with Open FAIR standards; all formulas, baseline rates, and weights are transparent and configurable by the CISO.</a:t>
            </a:r>
          </a:p>
          <a:p>
            <a:pPr>
              <a:spcAft>
                <a:spcPts val="600"/>
              </a:spcAft>
              <a:defRPr sz="1000" b="1">
                <a:solidFill>
                  <a:srgbClr val="F1F5F9"/>
                </a:solidFill>
              </a:defRPr>
            </a:pPr>
            <a:r>
              <a:t>🛡 Risk 3: Vision Occlusion / False Auto-Locks</a:t>
            </a:r>
            <a:br/>
            <a:r>
              <a:rPr b="0">
                <a:solidFill>
                  <a:srgbClr val="94A3B8"/>
                </a:solidFill>
              </a:rPr>
              <a:t>Mitigation: Configurable 5-second countdown grace period and active keyboard/gesture fail-safe preventing accidental lockouts.</a:t>
            </a:r>
          </a:p>
          <a:p>
            <a:pPr>
              <a:spcAft>
                <a:spcPts val="600"/>
              </a:spcAft>
              <a:defRPr sz="1000" b="1">
                <a:solidFill>
                  <a:srgbClr val="F1F5F9"/>
                </a:solidFill>
              </a:defRPr>
            </a:pPr>
            <a:r>
              <a:t>🛡 Risk 4: Enterprise Scalability</a:t>
            </a:r>
            <a:br/>
            <a:r>
              <a:rPr b="0">
                <a:solidFill>
                  <a:srgbClr val="94A3B8"/>
                </a:solidFill>
              </a:rPr>
              <a:t>Mitigation: Architecture designed with standard REST/Syslog ingress hooks to accept forwarders (Fluentbit, Wazuh) in future iterations.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SMART INDIA HACKATHON 2026 | SLIDE 5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Slide 05 | Social, Economic &amp; Institutional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31B2C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spcAft>
                <a:spcPts val="1000"/>
              </a:spcAft>
              <a:defRPr sz="1500" b="1">
                <a:solidFill>
                  <a:srgbClr val="34D399"/>
                </a:solidFill>
              </a:defRPr>
            </a:pPr>
            <a:r>
              <a:t>TARGET BENEFICIARIES</a:t>
            </a:r>
          </a:p>
          <a:p>
            <a:pPr>
              <a:spcAft>
                <a:spcPts val="600"/>
              </a:spcAft>
              <a:defRPr sz="1000" b="1">
                <a:solidFill>
                  <a:srgbClr val="F1F5F9"/>
                </a:solidFill>
              </a:defRPr>
            </a:pPr>
            <a:r>
              <a:t>🎯 AICTE &amp; Technical Higher Education:</a:t>
            </a:r>
            <a:br/>
            <a:r>
              <a:rPr b="0">
                <a:solidFill>
                  <a:srgbClr val="94A3B8"/>
                </a:solidFill>
              </a:rPr>
              <a:t>Helps engineering colleges and polytechnics assess campus cybersecurity posture and allocate grant funds efficiently.</a:t>
            </a:r>
          </a:p>
          <a:p>
            <a:pPr>
              <a:spcAft>
                <a:spcPts val="600"/>
              </a:spcAft>
              <a:defRPr sz="1000" b="1">
                <a:solidFill>
                  <a:srgbClr val="F1F5F9"/>
                </a:solidFill>
              </a:defRPr>
            </a:pPr>
            <a:r>
              <a:t>🎯 Enterprise CISOs &amp; IT Directors:</a:t>
            </a:r>
            <a:br/>
            <a:r>
              <a:rPr b="0">
                <a:solidFill>
                  <a:srgbClr val="94A3B8"/>
                </a:solidFill>
              </a:rPr>
              <a:t>Provides mathematically sound business justification for security investments to present before CFOs and Boards.</a:t>
            </a:r>
          </a:p>
          <a:p>
            <a:pPr>
              <a:spcAft>
                <a:spcPts val="600"/>
              </a:spcAft>
              <a:defRPr sz="1000" b="1">
                <a:solidFill>
                  <a:srgbClr val="F1F5F9"/>
                </a:solidFill>
              </a:defRPr>
            </a:pPr>
            <a:r>
              <a:t>🎯 BFSI &amp; Regulated Sectors:</a:t>
            </a:r>
            <a:br/>
            <a:r>
              <a:rPr b="0">
                <a:solidFill>
                  <a:srgbClr val="94A3B8"/>
                </a:solidFill>
              </a:rPr>
              <a:t>Assists compliance officers in meeting strict continuous cyber risk quantification and reporting requirements.</a:t>
            </a:r>
          </a:p>
          <a:p>
            <a:pPr>
              <a:spcAft>
                <a:spcPts val="600"/>
              </a:spcAft>
              <a:defRPr sz="1000" b="1">
                <a:solidFill>
                  <a:srgbClr val="F1F5F9"/>
                </a:solidFill>
              </a:defRPr>
            </a:pPr>
            <a:r>
              <a:t>🎯 State Cyber Police &amp; Forensic Auditors:</a:t>
            </a:r>
            <a:br/>
            <a:r>
              <a:rPr b="0">
                <a:solidFill>
                  <a:srgbClr val="94A3B8"/>
                </a:solidFill>
              </a:rPr>
              <a:t>Leverages immutable blockchain logs for indisputable post-breach digital forensic evidence.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31B2C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spcAft>
                <a:spcPts val="1000"/>
              </a:spcAft>
              <a:defRPr sz="1500" b="1">
                <a:solidFill>
                  <a:srgbClr val="22D3EE"/>
                </a:solidFill>
              </a:defRPr>
            </a:pPr>
            <a:r>
              <a:t>QUANTIFIABLE ECONOMIC &amp; OPERATIONAL VALUE</a:t>
            </a:r>
          </a:p>
          <a:p>
            <a:pPr>
              <a:spcAft>
                <a:spcPts val="600"/>
              </a:spcAft>
              <a:defRPr sz="1000" b="1">
                <a:solidFill>
                  <a:srgbClr val="F1F5F9"/>
                </a:solidFill>
              </a:defRPr>
            </a:pPr>
            <a:r>
              <a:t>📈 Optimized Security Spend:</a:t>
            </a:r>
            <a:br/>
            <a:r>
              <a:rPr b="0">
                <a:solidFill>
                  <a:srgbClr val="94A3B8"/>
                </a:solidFill>
              </a:rPr>
              <a:t>Eliminates wasteful security tool purchases by prioritizing candidate solutions yielding peak Return on Security Investment (ROSI).</a:t>
            </a:r>
          </a:p>
          <a:p>
            <a:pPr>
              <a:spcAft>
                <a:spcPts val="600"/>
              </a:spcAft>
              <a:defRPr sz="1000" b="1">
                <a:solidFill>
                  <a:srgbClr val="F1F5F9"/>
                </a:solidFill>
              </a:defRPr>
            </a:pPr>
            <a:r>
              <a:t>📈 Minimizes Costly Downtime:</a:t>
            </a:r>
            <a:br/>
            <a:r>
              <a:rPr b="0">
                <a:solidFill>
                  <a:srgbClr val="94A3B8"/>
                </a:solidFill>
              </a:rPr>
              <a:t>Correlates critical open ports with operational downtime, triggering preemptive process mitigation before breach escalation.</a:t>
            </a:r>
          </a:p>
          <a:p>
            <a:pPr>
              <a:spcAft>
                <a:spcPts val="600"/>
              </a:spcAft>
              <a:defRPr sz="1000" b="1">
                <a:solidFill>
                  <a:srgbClr val="F1F5F9"/>
                </a:solidFill>
              </a:defRPr>
            </a:pPr>
            <a:r>
              <a:t>📈 Accelerates Audit Readiness:</a:t>
            </a:r>
            <a:br/>
            <a:r>
              <a:rPr b="0">
                <a:solidFill>
                  <a:srgbClr val="94A3B8"/>
                </a:solidFill>
              </a:rPr>
              <a:t>Reduces periodic compliance audit preparation time from weeks of manual spreadsheet tracking to single-click PDF export.</a:t>
            </a:r>
          </a:p>
          <a:p>
            <a:pPr>
              <a:spcAft>
                <a:spcPts val="600"/>
              </a:spcAft>
              <a:defRPr sz="1000" b="1">
                <a:solidFill>
                  <a:srgbClr val="F1F5F9"/>
                </a:solidFill>
              </a:defRPr>
            </a:pPr>
            <a:r>
              <a:t>📈 Non-Repudiation for Regulators:</a:t>
            </a:r>
            <a:br/>
            <a:r>
              <a:rPr b="0">
                <a:solidFill>
                  <a:srgbClr val="94A3B8"/>
                </a:solidFill>
              </a:rPr>
              <a:t>Provides mathematical certainty to CERT-In and RBI/SEBI auditors that historical logs have not been tampered with.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SMART INDIA HACKATHON 2026 | SLIDE 6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Slide 06 | Standards, Regulatory Alignment &amp; References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31B2C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spcAft>
                <a:spcPts val="1000"/>
              </a:spcAft>
              <a:defRPr sz="1400" b="1">
                <a:solidFill>
                  <a:srgbClr val="FBBF24"/>
                </a:solidFill>
              </a:defRPr>
            </a:pPr>
            <a:r>
              <a:t>REGULATORY FRAMEWORK CONTROL MAPPING</a:t>
            </a:r>
          </a:p>
          <a:p>
            <a:pPr>
              <a:spcAft>
                <a:spcPts val="600"/>
              </a:spcAft>
              <a:defRPr sz="1000" b="1">
                <a:solidFill>
                  <a:srgbClr val="F1F5F9"/>
                </a:solidFill>
              </a:defRPr>
            </a:pPr>
            <a:r>
              <a:t>📜 CERT-In Directions (April 2022):</a:t>
            </a:r>
            <a:br/>
            <a:r>
              <a:rPr b="0">
                <a:solidFill>
                  <a:srgbClr val="94A3B8"/>
                </a:solidFill>
              </a:rPr>
              <a:t>Satisfies the mandatory 180-day unalterable log preservation directive via SHA-256 Merkle blockchain anchoring.</a:t>
            </a:r>
          </a:p>
          <a:p>
            <a:pPr>
              <a:spcAft>
                <a:spcPts val="600"/>
              </a:spcAft>
              <a:defRPr sz="1000" b="1">
                <a:solidFill>
                  <a:srgbClr val="F1F5F9"/>
                </a:solidFill>
              </a:defRPr>
            </a:pPr>
            <a:r>
              <a:t>📜 RBI Cyber Security Framework:</a:t>
            </a:r>
            <a:br/>
            <a:r>
              <a:rPr b="0">
                <a:solidFill>
                  <a:srgbClr val="94A3B8"/>
                </a:solidFill>
              </a:rPr>
              <a:t>Supports tiered risk threshold alerting and technical resilience disclosures for institutional financial operations.</a:t>
            </a:r>
          </a:p>
          <a:p>
            <a:pPr>
              <a:spcAft>
                <a:spcPts val="600"/>
              </a:spcAft>
              <a:defRPr sz="1000" b="1">
                <a:solidFill>
                  <a:srgbClr val="F1F5F9"/>
                </a:solidFill>
              </a:defRPr>
            </a:pPr>
            <a:r>
              <a:t>📜 SEBI Cyber Resilience Framework:</a:t>
            </a:r>
            <a:br/>
            <a:r>
              <a:rPr b="0">
                <a:solidFill>
                  <a:srgbClr val="94A3B8"/>
                </a:solidFill>
              </a:rPr>
              <a:t>Addresses board-level risk posture visibility, technical asset inventory tracking, and systemic risk governance.</a:t>
            </a:r>
          </a:p>
          <a:p>
            <a:pPr>
              <a:spcAft>
                <a:spcPts val="600"/>
              </a:spcAft>
              <a:defRPr sz="1000" b="1">
                <a:solidFill>
                  <a:srgbClr val="F1F5F9"/>
                </a:solidFill>
              </a:defRPr>
            </a:pPr>
            <a:r>
              <a:t>📜 DPDP Act 2023 Compliance Support:</a:t>
            </a:r>
            <a:br/>
            <a:r>
              <a:rPr b="0">
                <a:solidFill>
                  <a:srgbClr val="94A3B8"/>
                </a:solidFill>
              </a:rPr>
              <a:t>Integrated sensitive credential scanner detects and flags unmasked Aadhaar, PAN numbers, and private keys in scanned paths.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31B2C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spcAft>
                <a:spcPts val="1000"/>
              </a:spcAft>
              <a:defRPr sz="1400" b="1">
                <a:solidFill>
                  <a:srgbClr val="22D3EE"/>
                </a:solidFill>
              </a:defRPr>
            </a:pPr>
            <a:r>
              <a:t>STANDARDS, CITATIONS &amp; 5-MIN DEMO FLOW</a:t>
            </a:r>
          </a:p>
          <a:p>
            <a:pPr>
              <a:spcAft>
                <a:spcPts val="600"/>
              </a:spcAft>
              <a:defRPr sz="1000" b="1">
                <a:solidFill>
                  <a:srgbClr val="F1F5F9"/>
                </a:solidFill>
              </a:defRPr>
            </a:pPr>
            <a:r>
              <a:t>🌐 The Open Group FAIR Standard (ANSI/FAIR):</a:t>
            </a:r>
            <a:br/>
            <a:r>
              <a:rPr b="0">
                <a:solidFill>
                  <a:srgbClr val="94A3B8"/>
                </a:solidFill>
              </a:rPr>
              <a:t>The foundational standard for quantitative cyber risk economics and loss magnitude formulation.</a:t>
            </a:r>
          </a:p>
          <a:p>
            <a:pPr>
              <a:spcAft>
                <a:spcPts val="600"/>
              </a:spcAft>
              <a:defRPr sz="1000" b="1">
                <a:solidFill>
                  <a:srgbClr val="F1F5F9"/>
                </a:solidFill>
              </a:defRPr>
            </a:pPr>
            <a:r>
              <a:t>🌐 NIST Cybersecurity Framework 2.0 &amp; ISO 27001:</a:t>
            </a:r>
            <a:br/>
            <a:r>
              <a:rPr b="0">
                <a:solidFill>
                  <a:srgbClr val="94A3B8"/>
                </a:solidFill>
              </a:rPr>
              <a:t>Aligns control telemetry across Identify, Protect, Detect, Respond, and Recover functions.</a:t>
            </a:r>
          </a:p>
          <a:p>
            <a:pPr>
              <a:spcAft>
                <a:spcPts val="600"/>
              </a:spcAft>
              <a:defRPr sz="1000" b="1">
                <a:solidFill>
                  <a:srgbClr val="F1F5F9"/>
                </a:solidFill>
              </a:defRPr>
            </a:pPr>
            <a:r>
              <a:t>🌐 MITRE ATT&amp;CK Matrix v15:</a:t>
            </a:r>
            <a:br/>
            <a:r>
              <a:rPr b="0">
                <a:solidFill>
                  <a:srgbClr val="94A3B8"/>
                </a:solidFill>
              </a:rPr>
              <a:t>Maps simulated wargame vectors (T1110 Brute Force, T1499 DDoS, T1046 Port Scan).</a:t>
            </a:r>
          </a:p>
          <a:p>
            <a:pPr>
              <a:spcAft>
                <a:spcPts val="600"/>
              </a:spcAft>
              <a:defRPr sz="1000" b="1">
                <a:solidFill>
                  <a:srgbClr val="F1F5F9"/>
                </a:solidFill>
              </a:defRPr>
            </a:pPr>
            <a:r>
              <a:t>🌐 Live Evaluator Demo Sequence (5 Mins):</a:t>
            </a:r>
            <a:br/>
            <a:r>
              <a:rPr b="0">
                <a:solidFill>
                  <a:srgbClr val="94A3B8"/>
                </a:solidFill>
              </a:rPr>
              <a:t>Module 01 (Host Status) ➔ Module 02 (Attack Surface) ➔ Module 04 (Rupee EAL) ➔ Module 05 (What-If Simulation) ➔ Module 06 (Knapsack Optimizer) ➔ Module 10 (Live Blockchain Tamper Showdown) ➔ Executive PDF Export.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