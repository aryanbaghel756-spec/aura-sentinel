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1300" b="1"/>
            </a:pPr>
            <a:r>
              <a:t>Problem Statement ID: SIH26105</a:t>
            </a:r>
            <a:endParaRPr lang="en-US" dirty="0"/>
          </a:p>
          <a:p>
            <a:pPr>
              <a:spcAft>
                <a:spcPts val="400"/>
              </a:spcAft>
              <a:defRPr sz="1300" b="1"/>
            </a:pPr>
            <a:r>
              <a:t>Problem Statement Title: AI-Powered Continuous Cyber Risk Quantification and Investment Optimization Platform</a:t>
            </a:r>
          </a:p>
          <a:p>
            <a:pPr>
              <a:spcAft>
                <a:spcPts val="400"/>
              </a:spcAft>
              <a:defRPr sz="1300" b="1"/>
            </a:pPr>
            <a:r>
              <a:t>Theme: Blockchain &amp; Cybersecurity</a:t>
            </a:r>
          </a:p>
          <a:p>
            <a:pPr>
              <a:spcAft>
                <a:spcPts val="400"/>
              </a:spcAft>
              <a:defRPr sz="1300" b="1"/>
            </a:pPr>
            <a:r>
              <a:t>PS Category: Software</a:t>
            </a:r>
          </a:p>
          <a:p>
            <a:pPr>
              <a:spcAft>
                <a:spcPts val="400"/>
              </a:spcAft>
              <a:defRPr sz="1300" b="1"/>
            </a:pPr>
            <a:r>
              <a:t>Team ID: 180219</a:t>
            </a:r>
          </a:p>
          <a:p>
            <a:pPr>
              <a:spcAft>
                <a:spcPts val="400"/>
              </a:spcAft>
              <a:defRPr sz="1300" b="1"/>
            </a:pPr>
            <a:r>
              <a:t>Team Name: ByteForce_1</a:t>
            </a:r>
          </a:p>
          <a:p>
            <a:pPr>
              <a:spcAft>
                <a:spcPts val="400"/>
              </a:spcAft>
              <a:defRPr sz="1300" b="1"/>
            </a:pPr>
            <a:r>
              <a:t>Institute Name: Skyline Institute of Engineering and Technology, Greater Noida</a:t>
            </a:r>
          </a:p>
          <a:p>
            <a:pPr>
              <a:spcAft>
                <a:spcPts val="400"/>
              </a:spcAft>
              <a:defRPr sz="1300" b="1"/>
            </a:pPr>
            <a:r>
              <a:t>Team Members: Aryan Baghel (Leader), Kirti, Hitesh Chauhan, Avinav Jha, Sharim Khan, Aman Sekh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IDEA: AURA SENTINEL — CONTINUOUS CYBER RISK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v"/>
              <a:defRPr sz="1500" b="1"/>
            </a:pPr>
            <a:r>
              <a:t>PROPOSED SOLUTION &amp; INNOVATION (USP)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500"/>
              </a:spcAft>
              <a:defRPr sz="1100"/>
            </a:pPr>
            <a:r>
              <a:t>• The Problem: Traditional scanners produce abstract 'High/Med/Low' labels. Boards and CFOs cannot understand financial liability, leading to blind security spending and stale annual compliance registers.</a:t>
            </a:r>
          </a:p>
          <a:p>
            <a:pPr>
              <a:spcAft>
                <a:spcPts val="500"/>
              </a:spcAft>
              <a:defRPr sz="1100"/>
            </a:pPr>
            <a:r>
              <a:t>• Proposed Solution: AURA Sentinel ingests real-time technical security telemetry (listening sockets, process states, compute stress) and continuously calculates actuarial financial exposure in ₹ INR (Expected Annual Loss - EAL) using the Open FAIR model.</a:t>
            </a:r>
          </a:p>
          <a:p>
            <a:pPr>
              <a:spcAft>
                <a:spcPts val="500"/>
              </a:spcAft>
              <a:defRPr sz="1100"/>
            </a:pPr>
            <a:r>
              <a:t>• Budget Optimization: Integrates a Pareto Knapsack optimizer to recommend highest-ROSI defense portfolios under explicit institutional budget limits (e.g. ₹1 Crore).</a:t>
            </a:r>
          </a:p>
          <a:p>
            <a:pPr>
              <a:spcAft>
                <a:spcPts val="500"/>
              </a:spcAft>
              <a:defRPr sz="1100"/>
            </a:pPr>
            <a:r>
              <a:t>• Blockchain Immutability: Anchors risk evaluations, budget plans, and quarantine logs in a SHA-256 Merkle blockchain ledger, ensuring non-repudiation and satisfying CERT-In 180-day mandates.</a:t>
            </a:r>
          </a:p>
          <a:p>
            <a:pPr>
              <a:spcAft>
                <a:spcPts val="500"/>
              </a:spcAft>
              <a:defRPr sz="1100"/>
            </a:pPr>
            <a:r>
              <a:t>• Core Innovation &amp; USP: 1) Direct Actuarial Rupee Loss (EAL) quantification; 2) Mathematical Pareto ROSI optimizer; 3) Tamper-evident blockchain audit trail; 4) Zero-Trust physical presence auto-lock (YOLOv8) &amp; touchless gestures.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 b="1"/>
            </a:pPr>
            <a:r>
              <a:t>ByteForce_1</a:t>
            </a:r>
          </a:p>
          <a:p>
            <a:pPr>
              <a:defRPr sz="1000" b="1"/>
            </a:pPr>
            <a:r>
              <a:t>(ID: 180219)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  <a:defRPr sz="1500" b="1"/>
            </a:pPr>
            <a:r>
              <a:t>TECHNOLOGIES &amp; IMPLEMENTATION METHODOLOGY</a:t>
            </a:r>
          </a:p>
          <a:p>
            <a:pPr>
              <a:spcAft>
                <a:spcPts val="500"/>
              </a:spcAft>
              <a:defRPr sz="1100"/>
            </a:pPr>
            <a:r>
              <a:t>• 3-Tier Architecture: 1) Presentation Layer: React 19 + Vite SOC Dashboard with 11 operational modules;</a:t>
            </a:r>
            <a:br/>
            <a:r>
              <a:t>2) Computational Core: FastAPI Python Async Micro-Kernel on 0.0.0.0:8000;</a:t>
            </a:r>
            <a:br/>
            <a:r>
              <a:t>3) Trust &amp; AI Layer: SHA-256 Merkle Blockchain Ledger + YOLOv8 Presence Engine + SQLite 3 WAL Hub.</a:t>
            </a:r>
          </a:p>
          <a:p>
            <a:pPr>
              <a:spcAft>
                <a:spcPts val="500"/>
              </a:spcAft>
              <a:defRPr sz="1100"/>
            </a:pPr>
            <a:r>
              <a:t>• Technologies Used: Python 3.10+, FastAPI, React 19, SQLite 3 (WAL Mode), Ultralytics YOLOv8-nano, Google MediaPipe 0.10, psutil, reportlab.</a:t>
            </a:r>
          </a:p>
          <a:p>
            <a:pPr>
              <a:spcAft>
                <a:spcPts val="500"/>
              </a:spcAft>
              <a:defRPr sz="1100"/>
            </a:pPr>
            <a:r>
              <a:t>• Implementation Process Flow: 1. Host Ingestion: Collects active listening sockets, CPU/RAM utilization, and process states (psutil).</a:t>
            </a:r>
            <a:br/>
            <a:r>
              <a:t>2. Actuarial Modeling: Computes hourly operational disruption costs and Expected Annual Loss (EAL).</a:t>
            </a:r>
            <a:br/>
            <a:r>
              <a:t>3. What-If Simulation: Interactive parameter sliders and MITRE ATT&amp;CK wargame scenarios.</a:t>
            </a:r>
            <a:br/>
            <a:r>
              <a:t>4. Budget Optimization: Knapsack dynamic programming selecting optimal defense packages for maximum ROSI.</a:t>
            </a:r>
            <a:br/>
            <a:r>
              <a:t>5. Blockchain Sealing: Mines SHA-256 blocks with Merkle roots &amp; Proof-of-Work.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 b="1"/>
            </a:pPr>
            <a:r>
              <a:t>ByteForce_1</a:t>
            </a:r>
          </a:p>
          <a:p>
            <a:pPr>
              <a:defRPr sz="1000" b="1"/>
            </a:pPr>
            <a:r>
              <a:t>(ID: 180219)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FEASIBILITY, VIABILITY &amp; RISK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500" b="1"/>
            </a:pPr>
            <a:r>
              <a:t>FEASIBILITY ANALYSIS &amp; RISK STRATEGIES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500"/>
              </a:spcAft>
              <a:defRPr sz="1100"/>
            </a:pPr>
            <a:r>
              <a:t>• Technical Feasibility: Lightweight local-first architecture designed to operate on standard Intel/AMD quad-core CPUs without requiring expensive cloud GPU servers or external subscriptions.</a:t>
            </a:r>
          </a:p>
          <a:p>
            <a:pPr>
              <a:spcAft>
                <a:spcPts val="500"/>
              </a:spcAft>
              <a:defRPr sz="1100"/>
            </a:pPr>
            <a:r>
              <a:t>• Economic Viability: Zero recurring cloud SaaS fees. Ideal for budget-constrained academic, technical, and government institutions.</a:t>
            </a:r>
          </a:p>
          <a:p>
            <a:pPr>
              <a:spcAft>
                <a:spcPts val="500"/>
              </a:spcAft>
              <a:defRPr sz="1100"/>
            </a:pPr>
            <a:r>
              <a:t>• Current Readiness: Fully functional standalone MVP prototype tested across 11 modules with live telemetry, Knapsack optimizer, and blockchain verification.</a:t>
            </a:r>
          </a:p>
          <a:p>
            <a:pPr>
              <a:spcAft>
                <a:spcPts val="500"/>
              </a:spcAft>
              <a:defRPr sz="1100"/>
            </a:pPr>
            <a:r>
              <a:t>• Potential Risk 1 (Telemetry Overhead): Mitigation: Implemented asynchronous non-blocking psutil polling with 3s throttle (&lt;1% host CPU overhead).</a:t>
            </a:r>
          </a:p>
          <a:p>
            <a:pPr>
              <a:spcAft>
                <a:spcPts val="500"/>
              </a:spcAft>
              <a:defRPr sz="1100"/>
            </a:pPr>
            <a:r>
              <a:t>• Potential Risk 2 (Subjective Risk Estimates): Mitigation: Strict adherence to Open FAIR international standards; all formulas, baseline rates, and weights are transparent and configurable by the CISO.</a:t>
            </a:r>
          </a:p>
          <a:p>
            <a:pPr>
              <a:spcAft>
                <a:spcPts val="500"/>
              </a:spcAft>
              <a:defRPr sz="1100"/>
            </a:pPr>
            <a:r>
              <a:t>• Potential Risk 3 (Air-Gapped Compliance): Mitigation: Operates completely offline within institutional campus LANs with zero external data leakage.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 b="1"/>
            </a:pPr>
            <a:r>
              <a:t>ByteForce_1</a:t>
            </a:r>
          </a:p>
          <a:p>
            <a:pPr>
              <a:defRPr sz="1000" b="1"/>
            </a:pPr>
            <a:r>
              <a:t>(ID: 180219)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IMPACT, SCALABILITY &amp; QUANTIFIABLE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500" b="1"/>
            </a:pPr>
            <a:r>
              <a:t>TARGET AUDIENCE &amp; VALUE DELIVERED</a:t>
            </a:r>
          </a:p>
          <a:p>
            <a:pPr>
              <a:spcAft>
                <a:spcPts val="500"/>
              </a:spcAft>
              <a:defRPr sz="1100"/>
            </a:pPr>
            <a:r>
              <a:t>• Target Beneficiaries: 1) AICTE &amp; 10,000+ technical institutions across India;</a:t>
            </a:r>
            <a:br/>
            <a:r>
              <a:t>2) Enterprise CISOs and IT Directors requiring board-level financial risk justification;</a:t>
            </a:r>
            <a:br/>
            <a:r>
              <a:t>3) BFSI and regulated sectors needing continuous compliance posture visibility.</a:t>
            </a:r>
          </a:p>
          <a:p>
            <a:pPr>
              <a:spcAft>
                <a:spcPts val="500"/>
              </a:spcAft>
              <a:defRPr sz="1100"/>
            </a:pPr>
            <a:r>
              <a:t>• Economic Impact: Eliminates wasteful security tool procurement by mathematically identifying the optimal spend zone on the Pareto frontier, maximizing Risk Reduction per Rupee invested.</a:t>
            </a:r>
          </a:p>
          <a:p>
            <a:pPr>
              <a:spcAft>
                <a:spcPts val="500"/>
              </a:spcAft>
              <a:defRPr sz="1100"/>
            </a:pPr>
            <a:r>
              <a:t>• Operational Impact: Reduces periodic compliance audit preparation time from weeks of manual spreadsheet tracking to a single-click executive CISO PDF export.</a:t>
            </a:r>
          </a:p>
          <a:p>
            <a:pPr>
              <a:spcAft>
                <a:spcPts val="500"/>
              </a:spcAft>
              <a:defRPr sz="1100"/>
            </a:pPr>
            <a:r>
              <a:t>• Regulatory Value: Provides cryptographic non-repudiation, giving certainty to CERT-In and RBI/SEBI auditors that historical logs have not been altered after a breach incident.</a:t>
            </a:r>
          </a:p>
          <a:p>
            <a:pPr>
              <a:spcAft>
                <a:spcPts val="500"/>
              </a:spcAft>
              <a:defRPr sz="1100"/>
            </a:pPr>
            <a:r>
              <a:t>• Scalability: Modular agent architecture designed to ingest logs from enterprise forwarders (Syslog, Fluentbit, Wazuh) as campuses scale.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 b="1"/>
            </a:pPr>
            <a:r>
              <a:t>ByteForce_1</a:t>
            </a:r>
          </a:p>
          <a:p>
            <a:pPr>
              <a:defRPr sz="1000" b="1"/>
            </a:pPr>
            <a:r>
              <a:t>(ID: 180219)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RESEARCH, STANDARDS &amp; REGULATORY MAPPING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500" b="1"/>
            </a:pPr>
            <a:r>
              <a:t>FRAMEWORK MAPPING &amp; TECHNICAL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400"/>
              </a:spcAft>
              <a:defRPr sz="1100"/>
            </a:pPr>
            <a:r>
              <a:t>• CERT-In Directions (April 2022): Mandatory 180-day preservation of cybersecurity incident logs satisfied via immutable SHA-256 Merkle blockchain anchoring.</a:t>
            </a:r>
          </a:p>
          <a:p>
            <a:pPr>
              <a:spcAft>
                <a:spcPts val="400"/>
              </a:spcAft>
              <a:defRPr sz="1100"/>
            </a:pPr>
            <a:r>
              <a:t>• Digital Personal Data Protection (DPDP) Act 2023: Built-in sensitive scanner detects unmasked Aadhaar, PAN numbers, and leaked credentials.</a:t>
            </a:r>
          </a:p>
          <a:p>
            <a:pPr>
              <a:spcAft>
                <a:spcPts val="400"/>
              </a:spcAft>
              <a:defRPr sz="1100"/>
            </a:pPr>
            <a:r>
              <a:t>• RBI &amp; SEBI Cyber Resilience Frameworks: Supports continuous risk posture monitoring, sensitive port alerting, and board-level risk disclosures.</a:t>
            </a:r>
          </a:p>
          <a:p>
            <a:pPr>
              <a:spcAft>
                <a:spcPts val="400"/>
              </a:spcAft>
              <a:defRPr sz="1100"/>
            </a:pPr>
            <a:r>
              <a:t>• The Open Group FAIR Standard (ANSI/FAIR): International standard for quantitative cyber risk economics and Expected Annual Loss (EAL) formulation.</a:t>
            </a:r>
          </a:p>
          <a:p>
            <a:pPr>
              <a:spcAft>
                <a:spcPts val="400"/>
              </a:spcAft>
              <a:defRPr sz="1100"/>
            </a:pPr>
            <a:r>
              <a:t>• NIST CSF 2.0 &amp; ISO/IEC 27001 &amp; CIS Controls v8: Mapped across Identify, Protect, Detect, Respond, and Recover control functions.</a:t>
            </a:r>
          </a:p>
          <a:p>
            <a:pPr>
              <a:spcAft>
                <a:spcPts val="400"/>
              </a:spcAft>
              <a:defRPr sz="1100"/>
            </a:pPr>
            <a:r>
              <a:t>• MITRE ATT&amp;CK Matrix v15: Maps simulated wargame vectors (T1110 Brute Force, T1499 DDoS, T1046 Port Scan).</a:t>
            </a:r>
          </a:p>
          <a:p>
            <a:pPr>
              <a:spcAft>
                <a:spcPts val="400"/>
              </a:spcAft>
              <a:defRPr sz="1100"/>
            </a:pPr>
            <a:r>
              <a:t>• Live Demo Playbook (5 Mins): Host Telemetry ➔ Attack Surface ➔ Rupee EAL ➔ What-If Simulation ➔ Knapsack Optimizer ➔ Live Blockchain Tamper Showdown ➔ PDF Audit Export.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 b="1"/>
            </a:pPr>
            <a:r>
              <a:t>ByteForce_1</a:t>
            </a:r>
          </a:p>
          <a:p>
            <a:pPr>
              <a:defRPr sz="1000" b="1"/>
            </a:pPr>
            <a:r>
              <a:t>(ID: 180219)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